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71cfb5c-180b-be83-45ac-88d9aab8846a}">
          <p14:sldIdLst>
            <p14:sldId id="256"/>
            <p14:sldId id="257"/>
          </p14:sldIdLst>
        </p14:section>
        <p14:section name="Getting started" id="{057acb0a-694c-acf1-1f55-5f038069a102}">
          <p14:sldIdLst>
            <p14:sldId id="258"/>
            <p14:sldId id="259"/>
            <p14:sldId id="260"/>
          </p14:sldIdLst>
        </p14:section>
        <p14:section name="Building" id="{a667565e-d9d2-e70b-2434-4d8ccef8d9f5}">
          <p14:sldIdLst>
            <p14:sldId id="261"/>
            <p14:sldId id="262"/>
            <p14:sldId id="263"/>
            <p14:sldId id="264"/>
          </p14:sldIdLst>
        </p14:section>
        <p14:section name="Protocols" id="{323f67b4-1e59-a7cb-c71c-2f70415d8cab}">
          <p14:sldIdLst>
            <p14:sldId id="265"/>
            <p14:sldId id="266"/>
            <p14:sldId id="267"/>
          </p14:sldIdLst>
        </p14:section>
        <p14:section name="Checking" id="{78e7c471-fabb-efc3-3a00-d88bf496a7dc}">
          <p14:sldIdLst>
            <p14:sldId id="268"/>
            <p14:sldId id="269"/>
            <p14:sldId id="270"/>
          </p14:sldIdLst>
        </p14:section>
        <p14:section name="To the rig" id="{d8ba8d6c-39a7-03e2-8225-0bfdefdd9a35}">
          <p14:sldIdLst>
            <p14:sldId id="271"/>
            <p14:sldId id="272"/>
          </p14:sldIdLst>
        </p14:section>
        <p14:section name="Wrap-up" id="{d55f4dfe-8902-70ed-7662-29c7eda6ba19}">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tutorial shows how to plan electrophysiology stimuli in a web browser with the StimGen 2 planner. Nothing needs to be installed: open the address on the slide. By the end you will be able to build a family of current steps, repeated and shuffled, by clicking or by writing a few readable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protocol you run can be said in one or two sentences. StimGen 2 lets you write it almost as you would say it: sweep the amplitude, repeat three times, shuffle, one trial every five seconds. Ten lines describe thirty-nine trials. Nobody has to guess what was played, and the file is saved with every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window has two sides. On the left, the text of the stimulus, with a palette of generators above it and a status line below. On the right, the plot: it is redrawn as you type. Above the plot, a strip of segments that you can click, and a play bar to animate the stimulus. The menus at the top do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start is the Examples menu: forty-three complete stimuli, grouped from basic steps to full protocols. Choose one that resembles what you need, then change its numbers. The planner remembers your text, so you can close the tab and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is a segment: how long, then what the output does. dc means a constant level. Write three lines and the plot shows a current step. Units are part of the language: 500 ms, 1 s. If live is switched off, nothing is redrawn until you press Plot, which is handy for very long stimuli.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never have to remember a parameter name. Click a generator in the palette and a form opens under the text, with sensible starting values and units chosen from menus. The plot already shows the result, and the line that will be written is printed in green. Insert writes it into the text; Cancel leaves everything as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change a segment, click it in the strip above the plot. The same form opens with the current values, read back from the text. Change the frequency, press Apply, and only that line of text is rewritten. The text always remains the master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stimuli are often combinations: a step with noise on top, a sine under an envelope. Select the line, choose Edit, Combine, pick a generator and the operation. The planner writes the combined line for you. Repeat and markers work the same way, from the Edit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trick. Select a number in the text, for example the amplitude of a step, and choose Make, Sweep. Give the values you want. The planner turns your stimulus into a protocol: one trial per value, with the value replaced by a variable. Repetitions, order and timing are one line each, as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words of the protocol language. Sweep gives a variable its values, as a list or a range. Repeat sets the repetitions. Order says how trials are shuffled; shuffled-blocks plays every condition once before any is repeated, which protects against slow drifts. Period or gap set the timing. Noise per-condition freezes the noise across repetitions, for reliability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protocol produces many trials. Choose any trial from the list to see it alone, or show several: overlay draws them on the same axes, coloured by condition, with the selected trial in bold; stack gives each trial its own row. The number of trials shown is up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Play and a cursor runs through the stimulus at the speed you choose. After each trial the planner waits the interval, taken from the protocol's period, and moves to the next trial. It is the easiest way to explain a protocol to a student, or to check its timing before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Noise follows the rules of the specification. Without a seed, every rendering draws a new realisation, exactly as in an experiment. A seed written in the text freezes that noise, wherever it appears. The keep button copies the seed you are looking at, so the same noise stays on the screen. The status line tells you which seed was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look closer, drag across the plot to zoom in time; hold Shift to zoom the values; double-click to return to automatic. If you make a mistake, the line turns orange and the status line explains it, here a frequency written in milliseconds. A wrong stimulus can never be played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experiments drive several outputs: two cells in a pair, a camera trigger, a light source. A stimulus file lists them as channels with their units, on one time base. The Make menu converts a waveform into a stimulus and adds channels; markers label the moments you will want to find in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stimulus is right, save it. The .sg file is the protocol itself: a few lines that the command-line program sg checks and renders it, and Gecko, the separate program that drives the National Instruments board, plays it at the rig. The .sgb file keeps the samples together with the record needed to regenerate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technical point worth knowing. The planner is not a separate imitation of StimGen: it is the same C program as the command-line tool, compiled to WebAssembly so that the browser runs it directly. That is why there is nothing to install, why your stimuli never leave your computer, and why what you see is exactly what the rig plays.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one page. Keep it next to the computer for the first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planner now and try three things: load the family of steps and press Play; change the step size and watch the trials change; then make a protocol of your own and save it for the rig.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58521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474720"/>
            <a:ext cx="5669280" cy="109728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StimGen 2 planner · blog.giugliano.info/StimGen2</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5852160" cy="1737360"/>
          </a:xfrm>
          <a:prstGeom prst="rect">
            <a:avLst/>
          </a:prstGeom>
          <a:noFill/>
          <a:ln/>
        </p:spPr>
        <p:txBody>
          <a:bodyPr wrap="square" lIns="0" tIns="0" rIns="0" bIns="0" rtlCol="0" anchor="b"/>
          <a:lstStyle/>
          <a:p>
            <a:pPr algn="l" indent="0" marL="0">
              <a:buNone/>
            </a:pPr>
            <a:r>
              <a:rPr lang="en-US" sz="4400" b="1" dirty="0">
                <a:solidFill>
                  <a:schemeClr val="bg1"/>
                </a:solidFill>
              </a:rPr>
              <a:t>Plan your stimuli in the browser</a:t>
            </a:r>
            <a:endParaRPr lang="en-US" sz="4400" dirty="0"/>
          </a:p>
        </p:txBody>
      </p:sp>
      <p:sp>
        <p:nvSpPr>
          <p:cNvPr id="3" name="Text 0"/>
          <p:cNvSpPr/>
          <p:nvPr>
            <p:ph idx="101" type="body" hasCustomPrompt="1"/>
          </p:nvPr>
        </p:nvSpPr>
        <p:spPr>
          <a:xfrm>
            <a:off x="640080" y="3474720"/>
            <a:ext cx="5669280" cy="1097280"/>
          </a:xfrm>
          <a:prstGeom prst="rect">
            <a:avLst/>
          </a:prstGeom>
          <a:noFill/>
          <a:ln/>
        </p:spPr>
        <p:txBody>
          <a:bodyPr wrap="square" lIns="0" tIns="0" rIns="0" bIns="0" rtlCol="0" anchor="t"/>
          <a:lstStyle/>
          <a:p>
            <a:pPr algn="l" indent="0" marL="0">
              <a:buNone/>
            </a:pPr>
            <a:r>
              <a:rPr lang="en-US" sz="2000" dirty="0">
                <a:solidFill>
                  <a:schemeClr val="accent4"/>
                </a:solidFill>
              </a:rPr>
              <a:t>A hands-on tutorial for the StimGen 2 planner: from a first current step to shuffled, repeated protocols</a:t>
            </a:r>
            <a:endParaRPr lang="en-US" sz="2000" dirty="0"/>
          </a:p>
        </p:txBody>
      </p:sp>
      <p:sp>
        <p:nvSpPr>
          <p:cNvPr id="4" name="url card"/>
          <p:cNvSpPr/>
          <p:nvPr/>
        </p:nvSpPr>
        <p:spPr>
          <a:xfrm>
            <a:off x="640080" y="4892040"/>
            <a:ext cx="5669280" cy="685800"/>
          </a:xfrm>
          <a:prstGeom prst="roundRect">
            <a:avLst>
              <a:gd name="adj" fmla="val 16000"/>
            </a:avLst>
          </a:prstGeom>
          <a:solidFill>
            <a:schemeClr val="tx1"/>
          </a:solidFill>
          <a:ln w="12700">
            <a:solidFill>
              <a:schemeClr val="tx1"/>
            </a:solidFill>
            <a:prstDash val="solid"/>
          </a:ln>
        </p:spPr>
      </p:sp>
      <p:sp>
        <p:nvSpPr>
          <p:cNvPr id="5" name="url text"/>
          <p:cNvSpPr txBox="1"/>
          <p:nvPr/>
        </p:nvSpPr>
        <p:spPr>
          <a:xfrm>
            <a:off x="868680" y="5074920"/>
            <a:ext cx="5212080" cy="365760"/>
          </a:xfrm>
          <a:prstGeom prst="rect">
            <a:avLst/>
          </a:prstGeom>
          <a:noFill/>
          <a:ln/>
        </p:spPr>
        <p:txBody>
          <a:bodyPr wrap="square" lIns="0" tIns="0" rIns="0" bIns="0" rtlCol="0" anchor="t"/>
          <a:lstStyle/>
          <a:p>
            <a:pPr indent="0" marL="0">
              <a:spcAft>
                <a:spcPts val="200"/>
              </a:spcAft>
              <a:buNone/>
            </a:pPr>
            <a:r>
              <a:rPr lang="en-US" sz="2000" dirty="0">
                <a:solidFill>
                  <a:schemeClr val="bg1"/>
                </a:solidFill>
                <a:latin typeface="Courier New" pitchFamily="34" charset="0"/>
                <a:ea typeface="Courier New" pitchFamily="34" charset="-122"/>
                <a:cs typeface="Courier New" pitchFamily="34" charset="-120"/>
              </a:rPr>
              <a:t>blog.giugliano.info/StimGen2</a:t>
            </a:r>
            <a:endParaRPr lang="en-US" sz="2000" dirty="0"/>
          </a:p>
        </p:txBody>
      </p:sp>
      <p:sp>
        <p:nvSpPr>
          <p:cNvPr id="6" name="Text 4"/>
          <p:cNvSpPr txBox="1"/>
          <p:nvPr/>
        </p:nvSpPr>
        <p:spPr>
          <a:xfrm>
            <a:off x="640080" y="5989320"/>
            <a:ext cx="5486400" cy="320040"/>
          </a:xfrm>
          <a:prstGeom prst="rect">
            <a:avLst/>
          </a:prstGeom>
          <a:noFill/>
          <a:ln/>
        </p:spPr>
        <p:txBody>
          <a:bodyPr wrap="square" lIns="0" tIns="0" rIns="0" bIns="0" rtlCol="0" anchor="t"/>
          <a:lstStyle/>
          <a:p>
            <a:pPr indent="0" marL="0">
              <a:buNone/>
            </a:pPr>
            <a:r>
              <a:rPr lang="en-US" sz="1300" dirty="0">
                <a:solidFill>
                  <a:schemeClr val="accent6"/>
                </a:solidFill>
              </a:rPr>
              <a:t>Michele Giugliano  ·  MIT License</a:t>
            </a:r>
            <a:endParaRPr lang="en-US" sz="1300" dirty="0"/>
          </a:p>
        </p:txBody>
      </p:sp>
      <p:pic>
        <p:nvPicPr>
          <p:cNvPr id="7" name="screenshot overview" descr="The StimGen 2 planner: text editor on the left, plot on the right">    </p:cNvPr>
          <p:cNvPicPr>
            <a:picLocks noChangeAspect="1"/>
          </p:cNvPicPr>
          <p:nvPr/>
        </p:nvPicPr>
        <p:blipFill>
          <a:blip r:embed="rId1"/>
          <a:stretch>
            <a:fillRect/>
          </a:stretch>
        </p:blipFill>
        <p:spPr>
          <a:xfrm>
            <a:off x="6858000" y="2027555"/>
            <a:ext cx="4846320" cy="2894330"/>
          </a:xfrm>
          <a:prstGeom prst="rect">
            <a:avLst/>
          </a:prstGeom>
        </p:spPr>
      </p:pic>
      <p:sp>
        <p:nvSpPr>
          <p:cNvPr id="8" name="frame overview"/>
          <p:cNvSpPr/>
          <p:nvPr/>
        </p:nvSpPr>
        <p:spPr>
          <a:xfrm>
            <a:off x="6858000" y="2027555"/>
            <a:ext cx="4846320" cy="2894330"/>
          </a:xfrm>
          <a:prstGeom prst="rect">
            <a:avLst/>
          </a:prstGeom>
          <a:ln w="12700">
            <a:solidFill>
              <a:srgbClr val="EEF4F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A protocol is a sentence</a:t>
            </a:r>
            <a:endParaRPr lang="en-US" sz="3000" dirty="0"/>
          </a:p>
        </p:txBody>
      </p:sp>
      <p:sp>
        <p:nvSpPr>
          <p:cNvPr id="3" name="plain english card"/>
          <p:cNvSpPr/>
          <p:nvPr/>
        </p:nvSpPr>
        <p:spPr>
          <a:xfrm>
            <a:off x="548640" y="1371600"/>
            <a:ext cx="4937760" cy="3931920"/>
          </a:xfrm>
          <a:prstGeom prst="roundRect">
            <a:avLst>
              <a:gd name="adj" fmla="val 2791"/>
            </a:avLst>
          </a:prstGeom>
          <a:solidFill>
            <a:schemeClr val="bg2"/>
          </a:solidFill>
          <a:ln w="12700">
            <a:solidFill>
              <a:schemeClr val="bg2"/>
            </a:solidFill>
            <a:prstDash val="solid"/>
          </a:ln>
        </p:spPr>
      </p:sp>
      <p:sp>
        <p:nvSpPr>
          <p:cNvPr id="4" name="words circle"/>
          <p:cNvSpPr/>
          <p:nvPr/>
        </p:nvSpPr>
        <p:spPr>
          <a:xfrm>
            <a:off x="822960" y="1600200"/>
            <a:ext cx="640080" cy="640080"/>
          </a:xfrm>
          <a:prstGeom prst="ellipse">
            <a:avLst/>
          </a:prstGeom>
          <a:solidFill>
            <a:srgbClr val="0B7A75"/>
          </a:solidFill>
          <a:ln w="12700">
            <a:solidFill>
              <a:srgbClr val="0B7A75"/>
            </a:solidFill>
            <a:prstDash val="solid"/>
          </a:ln>
        </p:spPr>
      </p:sp>
      <p:pic>
        <p:nvPicPr>
          <p:cNvPr id="5" name="words icon" descr="words">    </p:cNvPr>
          <p:cNvPicPr>
            <a:picLocks noChangeAspect="1"/>
          </p:cNvPicPr>
          <p:nvPr/>
        </p:nvPicPr>
        <p:blipFill>
          <a:blip r:embed="rId1"/>
          <a:stretch>
            <a:fillRect/>
          </a:stretch>
        </p:blipFill>
        <p:spPr>
          <a:xfrm>
            <a:off x="982980" y="1760220"/>
            <a:ext cx="320040" cy="320040"/>
          </a:xfrm>
          <a:prstGeom prst="rect">
            <a:avLst/>
          </a:prstGeom>
        </p:spPr>
      </p:pic>
      <p:sp>
        <p:nvSpPr>
          <p:cNvPr id="6" name="Text 3"/>
          <p:cNvSpPr txBox="1"/>
          <p:nvPr/>
        </p:nvSpPr>
        <p:spPr>
          <a:xfrm>
            <a:off x="1645920" y="1691640"/>
            <a:ext cx="3657600" cy="457200"/>
          </a:xfrm>
          <a:prstGeom prst="rect">
            <a:avLst/>
          </a:prstGeom>
          <a:noFill/>
          <a:ln/>
        </p:spPr>
        <p:txBody>
          <a:bodyPr wrap="square" lIns="0" tIns="0" rIns="0" bIns="0" rtlCol="0" anchor="t"/>
          <a:lstStyle/>
          <a:p>
            <a:pPr indent="0" marL="0">
              <a:buNone/>
            </a:pPr>
            <a:r>
              <a:rPr lang="en-US" sz="1800" b="1" dirty="0">
                <a:solidFill>
                  <a:schemeClr val="tx1"/>
                </a:solidFill>
              </a:rPr>
              <a:t>What you would tell a colleague</a:t>
            </a:r>
            <a:endParaRPr lang="en-US" sz="1800" dirty="0"/>
          </a:p>
        </p:txBody>
      </p:sp>
      <p:sp>
        <p:nvSpPr>
          <p:cNvPr id="7" name="Text 4"/>
          <p:cNvSpPr txBox="1"/>
          <p:nvPr/>
        </p:nvSpPr>
        <p:spPr>
          <a:xfrm>
            <a:off x="822960" y="2377440"/>
            <a:ext cx="4389120" cy="2743200"/>
          </a:xfrm>
          <a:prstGeom prst="rect">
            <a:avLst/>
          </a:prstGeom>
          <a:noFill/>
          <a:ln/>
        </p:spPr>
        <p:txBody>
          <a:bodyPr wrap="square" lIns="0" tIns="0" rIns="0" bIns="0" rtlCol="0" anchor="t"/>
          <a:lstStyle/>
          <a:p>
            <a:pPr indent="0" marL="0">
              <a:buNone/>
            </a:pPr>
            <a:r>
              <a:rPr lang="en-US" sz="1800" i="1" dirty="0">
                <a:solidFill>
                  <a:schemeClr val="tx1"/>
                </a:solidFill>
              </a:rPr>
              <a:t>“Inject current steps from −300 to +300 pA, every 50 pA. Each step lasts 1 s, with half a second of rest before and after. Play every step 3 times, in a shuffled order, one trial every 5 seconds.”</a:t>
            </a:r>
            <a:endParaRPr lang="en-US" sz="1800" dirty="0"/>
          </a:p>
        </p:txBody>
      </p:sp>
      <p:sp>
        <p:nvSpPr>
          <p:cNvPr id="8" name="arrow"/>
          <p:cNvSpPr/>
          <p:nvPr/>
        </p:nvSpPr>
        <p:spPr>
          <a:xfrm>
            <a:off x="5623560" y="3108960"/>
            <a:ext cx="502920" cy="457200"/>
          </a:xfrm>
          <a:prstGeom prst="rightArrow">
            <a:avLst/>
          </a:prstGeom>
          <a:solidFill>
            <a:schemeClr val="accent2"/>
          </a:solidFill>
          <a:ln w="12700">
            <a:solidFill>
              <a:schemeClr val="accent2"/>
            </a:solidFill>
            <a:prstDash val="solid"/>
          </a:ln>
        </p:spPr>
      </p:sp>
      <p:sp>
        <p:nvSpPr>
          <p:cNvPr id="9" name="protocol card"/>
          <p:cNvSpPr/>
          <p:nvPr/>
        </p:nvSpPr>
        <p:spPr>
          <a:xfrm>
            <a:off x="6263640" y="1371600"/>
            <a:ext cx="5349240" cy="3931920"/>
          </a:xfrm>
          <a:prstGeom prst="roundRect">
            <a:avLst>
              <a:gd name="adj" fmla="val 2791"/>
            </a:avLst>
          </a:prstGeom>
          <a:solidFill>
            <a:schemeClr val="tx1"/>
          </a:solidFill>
          <a:ln w="12700">
            <a:solidFill>
              <a:schemeClr val="tx1"/>
            </a:solidFill>
            <a:prstDash val="solid"/>
          </a:ln>
        </p:spPr>
      </p:sp>
      <p:sp>
        <p:nvSpPr>
          <p:cNvPr id="10" name="Text 7"/>
          <p:cNvSpPr txBox="1"/>
          <p:nvPr/>
        </p:nvSpPr>
        <p:spPr>
          <a:xfrm>
            <a:off x="6492240" y="1481328"/>
            <a:ext cx="48920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steps.sg — what you write</a:t>
            </a:r>
            <a:endParaRPr lang="en-US" sz="1100" dirty="0"/>
          </a:p>
        </p:txBody>
      </p:sp>
      <p:sp>
        <p:nvSpPr>
          <p:cNvPr id="11" name="protocol text"/>
          <p:cNvSpPr txBox="1"/>
          <p:nvPr/>
        </p:nvSpPr>
        <p:spPr>
          <a:xfrm>
            <a:off x="6492240" y="1783080"/>
            <a:ext cx="4892040" cy="3383280"/>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 2 protocol</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sweep  amp = from -300pA to 300pA step 50pA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repeat 3</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order  shuffled-blocks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period 5s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stimulus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500ms dc(0)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1s    dc($amp)</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500ms dc(0)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p:txBody>
      </p:sp>
      <p:sp>
        <p:nvSpPr>
          <p:cNvPr id="12" name="Text 9"/>
          <p:cNvSpPr txBox="1"/>
          <p:nvPr/>
        </p:nvSpPr>
        <p:spPr>
          <a:xfrm>
            <a:off x="548640" y="5532120"/>
            <a:ext cx="11064240" cy="731520"/>
          </a:xfrm>
          <a:prstGeom prst="rect">
            <a:avLst/>
          </a:prstGeom>
          <a:noFill/>
          <a:ln/>
        </p:spPr>
        <p:txBody>
          <a:bodyPr wrap="square" lIns="0" tIns="0" rIns="0" bIns="0" rtlCol="0" anchor="t"/>
          <a:lstStyle/>
          <a:p>
            <a:pPr indent="0" marL="0">
              <a:buNone/>
            </a:pPr>
            <a:r>
              <a:rPr lang="en-US" sz="1600" b="1" dirty="0">
                <a:solidFill>
                  <a:schemeClr val="tx1"/>
                </a:solidFill>
              </a:rPr>
              <a:t>The same information, almost word for word. </a:t>
            </a:r>
            <a:pPr indent="0" marL="0">
              <a:buNone/>
            </a:pPr>
            <a:r>
              <a:rPr lang="en-US" sz="1600" dirty="0">
                <a:solidFill>
                  <a:schemeClr val="tx1"/>
                </a:solidFill>
              </a:rPr>
              <a:t>Ten short lines describe 39 trials, cannot be misread, and can be checked, plotted and reused. The planner helps you write them — by typing or by clicking.</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What you see when you open it</a:t>
            </a:r>
            <a:endParaRPr lang="en-US" sz="3000" dirty="0"/>
          </a:p>
        </p:txBody>
      </p:sp>
      <p:pic>
        <p:nvPicPr>
          <p:cNvPr id="3" name="screenshot overview" descr="The planner window with its parts numbered">    </p:cNvPr>
          <p:cNvPicPr>
            <a:picLocks noChangeAspect="1"/>
          </p:cNvPicPr>
          <p:nvPr/>
        </p:nvPicPr>
        <p:blipFill>
          <a:blip r:embed="rId1"/>
          <a:stretch>
            <a:fillRect/>
          </a:stretch>
        </p:blipFill>
        <p:spPr>
          <a:xfrm>
            <a:off x="548640" y="1437005"/>
            <a:ext cx="7589520" cy="4532630"/>
          </a:xfrm>
          <a:prstGeom prst="rect">
            <a:avLst/>
          </a:prstGeom>
        </p:spPr>
      </p:pic>
      <p:sp>
        <p:nvSpPr>
          <p:cNvPr id="4" name="frame overview"/>
          <p:cNvSpPr/>
          <p:nvPr/>
        </p:nvSpPr>
        <p:spPr>
          <a:xfrm>
            <a:off x="548640" y="1437005"/>
            <a:ext cx="7589520" cy="4532630"/>
          </a:xfrm>
          <a:prstGeom prst="rect">
            <a:avLst/>
          </a:prstGeom>
          <a:ln w="12700">
            <a:solidFill>
              <a:srgbClr val="EEF4F3"/>
            </a:solidFill>
            <a:prstDash val="solid"/>
          </a:ln>
        </p:spPr>
      </p:sp>
      <p:sp>
        <p:nvSpPr>
          <p:cNvPr id="5" name="callout 1"/>
          <p:cNvSpPr/>
          <p:nvPr/>
        </p:nvSpPr>
        <p:spPr>
          <a:xfrm>
            <a:off x="1493215" y="1361542"/>
            <a:ext cx="329184" cy="329184"/>
          </a:xfrm>
          <a:prstGeom prst="ellipse">
            <a:avLst/>
          </a:prstGeom>
          <a:solidFill>
            <a:schemeClr val="accent2"/>
          </a:solidFill>
          <a:ln w="19050">
            <a:solidFill>
              <a:srgbClr val="FFFFFF"/>
            </a:solidFill>
            <a:prstDash val="solid"/>
          </a:ln>
        </p:spPr>
      </p:sp>
      <p:sp>
        <p:nvSpPr>
          <p:cNvPr id="6" name="callout 1 number"/>
          <p:cNvSpPr txBox="1"/>
          <p:nvPr/>
        </p:nvSpPr>
        <p:spPr>
          <a:xfrm>
            <a:off x="1493215" y="136154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callout 2"/>
          <p:cNvSpPr/>
          <p:nvPr/>
        </p:nvSpPr>
        <p:spPr>
          <a:xfrm>
            <a:off x="384048" y="1763878"/>
            <a:ext cx="329184" cy="329184"/>
          </a:xfrm>
          <a:prstGeom prst="ellipse">
            <a:avLst/>
          </a:prstGeom>
          <a:solidFill>
            <a:schemeClr val="accent2"/>
          </a:solidFill>
          <a:ln w="19050">
            <a:solidFill>
              <a:srgbClr val="FFFFFF"/>
            </a:solidFill>
            <a:prstDash val="solid"/>
          </a:ln>
        </p:spPr>
      </p:sp>
      <p:sp>
        <p:nvSpPr>
          <p:cNvPr id="8" name="callout 2 number"/>
          <p:cNvSpPr txBox="1"/>
          <p:nvPr/>
        </p:nvSpPr>
        <p:spPr>
          <a:xfrm>
            <a:off x="384048" y="176387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callout 3"/>
          <p:cNvSpPr/>
          <p:nvPr/>
        </p:nvSpPr>
        <p:spPr>
          <a:xfrm>
            <a:off x="479146" y="2232965"/>
            <a:ext cx="329184" cy="329184"/>
          </a:xfrm>
          <a:prstGeom prst="ellipse">
            <a:avLst/>
          </a:prstGeom>
          <a:solidFill>
            <a:schemeClr val="accent2"/>
          </a:solidFill>
          <a:ln w="19050">
            <a:solidFill>
              <a:srgbClr val="FFFFFF"/>
            </a:solidFill>
            <a:prstDash val="solid"/>
          </a:ln>
        </p:spPr>
      </p:sp>
      <p:sp>
        <p:nvSpPr>
          <p:cNvPr id="10" name="callout 3 number"/>
          <p:cNvSpPr txBox="1"/>
          <p:nvPr/>
        </p:nvSpPr>
        <p:spPr>
          <a:xfrm>
            <a:off x="479146" y="2232965"/>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callout 4"/>
          <p:cNvSpPr/>
          <p:nvPr/>
        </p:nvSpPr>
        <p:spPr>
          <a:xfrm>
            <a:off x="447142" y="5380330"/>
            <a:ext cx="329184" cy="329184"/>
          </a:xfrm>
          <a:prstGeom prst="ellipse">
            <a:avLst/>
          </a:prstGeom>
          <a:solidFill>
            <a:schemeClr val="accent2"/>
          </a:solidFill>
          <a:ln w="19050">
            <a:solidFill>
              <a:srgbClr val="FFFFFF"/>
            </a:solidFill>
            <a:prstDash val="solid"/>
          </a:ln>
        </p:spPr>
      </p:sp>
      <p:sp>
        <p:nvSpPr>
          <p:cNvPr id="12" name="callout 4 number"/>
          <p:cNvSpPr txBox="1"/>
          <p:nvPr/>
        </p:nvSpPr>
        <p:spPr>
          <a:xfrm>
            <a:off x="447142" y="538033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callout 5"/>
          <p:cNvSpPr/>
          <p:nvPr/>
        </p:nvSpPr>
        <p:spPr>
          <a:xfrm>
            <a:off x="3430829" y="2022653"/>
            <a:ext cx="329184" cy="329184"/>
          </a:xfrm>
          <a:prstGeom prst="ellipse">
            <a:avLst/>
          </a:prstGeom>
          <a:solidFill>
            <a:schemeClr val="accent2"/>
          </a:solidFill>
          <a:ln w="19050">
            <a:solidFill>
              <a:srgbClr val="FFFFFF"/>
            </a:solidFill>
            <a:prstDash val="solid"/>
          </a:ln>
        </p:spPr>
      </p:sp>
      <p:sp>
        <p:nvSpPr>
          <p:cNvPr id="14" name="callout 5 number"/>
          <p:cNvSpPr txBox="1"/>
          <p:nvPr/>
        </p:nvSpPr>
        <p:spPr>
          <a:xfrm>
            <a:off x="3430829" y="2022653"/>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5" name="callout 6"/>
          <p:cNvSpPr/>
          <p:nvPr/>
        </p:nvSpPr>
        <p:spPr>
          <a:xfrm>
            <a:off x="3472891" y="2254910"/>
            <a:ext cx="329184" cy="329184"/>
          </a:xfrm>
          <a:prstGeom prst="ellipse">
            <a:avLst/>
          </a:prstGeom>
          <a:solidFill>
            <a:schemeClr val="accent2"/>
          </a:solidFill>
          <a:ln w="19050">
            <a:solidFill>
              <a:srgbClr val="FFFFFF"/>
            </a:solidFill>
            <a:prstDash val="solid"/>
          </a:ln>
        </p:spPr>
      </p:sp>
      <p:sp>
        <p:nvSpPr>
          <p:cNvPr id="16" name="callout 6 number"/>
          <p:cNvSpPr txBox="1"/>
          <p:nvPr/>
        </p:nvSpPr>
        <p:spPr>
          <a:xfrm>
            <a:off x="3472891" y="225491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7" name="callout 7"/>
          <p:cNvSpPr/>
          <p:nvPr/>
        </p:nvSpPr>
        <p:spPr>
          <a:xfrm>
            <a:off x="3366821" y="1773936"/>
            <a:ext cx="329184" cy="329184"/>
          </a:xfrm>
          <a:prstGeom prst="ellipse">
            <a:avLst/>
          </a:prstGeom>
          <a:solidFill>
            <a:schemeClr val="accent2"/>
          </a:solidFill>
          <a:ln w="19050">
            <a:solidFill>
              <a:srgbClr val="FFFFFF"/>
            </a:solidFill>
            <a:prstDash val="solid"/>
          </a:ln>
        </p:spPr>
      </p:sp>
      <p:sp>
        <p:nvSpPr>
          <p:cNvPr id="18" name="callout 7 number"/>
          <p:cNvSpPr txBox="1"/>
          <p:nvPr/>
        </p:nvSpPr>
        <p:spPr>
          <a:xfrm>
            <a:off x="3366821" y="17739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9" name="callout 8"/>
          <p:cNvSpPr/>
          <p:nvPr/>
        </p:nvSpPr>
        <p:spPr>
          <a:xfrm>
            <a:off x="843077" y="5650992"/>
            <a:ext cx="329184" cy="329184"/>
          </a:xfrm>
          <a:prstGeom prst="ellipse">
            <a:avLst/>
          </a:prstGeom>
          <a:solidFill>
            <a:schemeClr val="accent2"/>
          </a:solidFill>
          <a:ln w="19050">
            <a:solidFill>
              <a:srgbClr val="FFFFFF"/>
            </a:solidFill>
            <a:prstDash val="solid"/>
          </a:ln>
        </p:spPr>
      </p:sp>
      <p:sp>
        <p:nvSpPr>
          <p:cNvPr id="20" name="callout 8 number"/>
          <p:cNvSpPr txBox="1"/>
          <p:nvPr/>
        </p:nvSpPr>
        <p:spPr>
          <a:xfrm>
            <a:off x="843077" y="56509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21" name="legend 1"/>
          <p:cNvSpPr/>
          <p:nvPr/>
        </p:nvSpPr>
        <p:spPr>
          <a:xfrm>
            <a:off x="8412480" y="1280160"/>
            <a:ext cx="329184" cy="329184"/>
          </a:xfrm>
          <a:prstGeom prst="ellipse">
            <a:avLst/>
          </a:prstGeom>
          <a:solidFill>
            <a:schemeClr val="accent2"/>
          </a:solidFill>
          <a:ln w="12700">
            <a:solidFill>
              <a:schemeClr val="accent2"/>
            </a:solidFill>
            <a:prstDash val="solid"/>
          </a:ln>
        </p:spPr>
      </p:sp>
      <p:sp>
        <p:nvSpPr>
          <p:cNvPr id="22" name="Text 19"/>
          <p:cNvSpPr txBox="1"/>
          <p:nvPr/>
        </p:nvSpPr>
        <p:spPr>
          <a:xfrm>
            <a:off x="841248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3" name="Text 20"/>
          <p:cNvSpPr txBox="1"/>
          <p:nvPr/>
        </p:nvSpPr>
        <p:spPr>
          <a:xfrm>
            <a:off x="8869680" y="1280160"/>
            <a:ext cx="2834640" cy="557784"/>
          </a:xfrm>
          <a:prstGeom prst="rect">
            <a:avLst/>
          </a:prstGeom>
          <a:noFill/>
          <a:ln/>
        </p:spPr>
        <p:txBody>
          <a:bodyPr wrap="square" lIns="0" tIns="0" rIns="0" bIns="0" rtlCol="0" anchor="t"/>
          <a:lstStyle/>
          <a:p>
            <a:pPr indent="0" marL="0">
              <a:buNone/>
            </a:pPr>
            <a:r>
              <a:rPr lang="en-US" sz="1400" b="1" dirty="0">
                <a:solidFill>
                  <a:schemeClr val="tx1"/>
                </a:solidFill>
              </a:rPr>
              <a:t>Menus</a:t>
            </a:r>
            <a:pPr indent="0" marL="0">
              <a:buNone/>
            </a:pPr>
            <a:r>
              <a:rPr lang="en-US" sz="1400" dirty="0">
                <a:solidFill>
                  <a:schemeClr val="tx1"/>
                </a:solidFill>
              </a:rPr>
              <a:t>  file, edit, insert, examples, help</a:t>
            </a:r>
            <a:endParaRPr lang="en-US" sz="1400" dirty="0"/>
          </a:p>
        </p:txBody>
      </p:sp>
      <p:sp>
        <p:nvSpPr>
          <p:cNvPr id="24" name="legend 2"/>
          <p:cNvSpPr/>
          <p:nvPr/>
        </p:nvSpPr>
        <p:spPr>
          <a:xfrm>
            <a:off x="8412480" y="1883664"/>
            <a:ext cx="329184" cy="329184"/>
          </a:xfrm>
          <a:prstGeom prst="ellipse">
            <a:avLst/>
          </a:prstGeom>
          <a:solidFill>
            <a:schemeClr val="accent2"/>
          </a:solidFill>
          <a:ln w="12700">
            <a:solidFill>
              <a:schemeClr val="accent2"/>
            </a:solidFill>
            <a:prstDash val="solid"/>
          </a:ln>
        </p:spPr>
      </p:sp>
      <p:sp>
        <p:nvSpPr>
          <p:cNvPr id="25" name="Text 22"/>
          <p:cNvSpPr txBox="1"/>
          <p:nvPr/>
        </p:nvSpPr>
        <p:spPr>
          <a:xfrm>
            <a:off x="8412480" y="188366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6" name="Text 23"/>
          <p:cNvSpPr txBox="1"/>
          <p:nvPr/>
        </p:nvSpPr>
        <p:spPr>
          <a:xfrm>
            <a:off x="8869680" y="1883664"/>
            <a:ext cx="2834640" cy="557784"/>
          </a:xfrm>
          <a:prstGeom prst="rect">
            <a:avLst/>
          </a:prstGeom>
          <a:noFill/>
          <a:ln/>
        </p:spPr>
        <p:txBody>
          <a:bodyPr wrap="square" lIns="0" tIns="0" rIns="0" bIns="0" rtlCol="0" anchor="t"/>
          <a:lstStyle/>
          <a:p>
            <a:pPr indent="0" marL="0">
              <a:buNone/>
            </a:pPr>
            <a:r>
              <a:rPr lang="en-US" sz="1400" b="1" dirty="0">
                <a:solidFill>
                  <a:schemeClr val="tx1"/>
                </a:solidFill>
              </a:rPr>
              <a:t>Palette</a:t>
            </a:r>
            <a:pPr indent="0" marL="0">
              <a:buNone/>
            </a:pPr>
            <a:r>
              <a:rPr lang="en-US" sz="1400" dirty="0">
                <a:solidFill>
                  <a:schemeClr val="tx1"/>
                </a:solidFill>
              </a:rPr>
              <a:t>  a button per generator</a:t>
            </a:r>
            <a:endParaRPr lang="en-US" sz="1400" dirty="0"/>
          </a:p>
        </p:txBody>
      </p:sp>
      <p:sp>
        <p:nvSpPr>
          <p:cNvPr id="27" name="legend 3"/>
          <p:cNvSpPr/>
          <p:nvPr/>
        </p:nvSpPr>
        <p:spPr>
          <a:xfrm>
            <a:off x="8412480" y="2487168"/>
            <a:ext cx="329184" cy="329184"/>
          </a:xfrm>
          <a:prstGeom prst="ellipse">
            <a:avLst/>
          </a:prstGeom>
          <a:solidFill>
            <a:schemeClr val="accent2"/>
          </a:solidFill>
          <a:ln w="12700">
            <a:solidFill>
              <a:schemeClr val="accent2"/>
            </a:solidFill>
            <a:prstDash val="solid"/>
          </a:ln>
        </p:spPr>
      </p:sp>
      <p:sp>
        <p:nvSpPr>
          <p:cNvPr id="28" name="Text 25"/>
          <p:cNvSpPr txBox="1"/>
          <p:nvPr/>
        </p:nvSpPr>
        <p:spPr>
          <a:xfrm>
            <a:off x="8412480" y="24871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9" name="Text 26"/>
          <p:cNvSpPr txBox="1"/>
          <p:nvPr/>
        </p:nvSpPr>
        <p:spPr>
          <a:xfrm>
            <a:off x="8869680" y="2487168"/>
            <a:ext cx="2834640" cy="557784"/>
          </a:xfrm>
          <a:prstGeom prst="rect">
            <a:avLst/>
          </a:prstGeom>
          <a:noFill/>
          <a:ln/>
        </p:spPr>
        <p:txBody>
          <a:bodyPr wrap="square" lIns="0" tIns="0" rIns="0" bIns="0" rtlCol="0" anchor="t"/>
          <a:lstStyle/>
          <a:p>
            <a:pPr indent="0" marL="0">
              <a:buNone/>
            </a:pPr>
            <a:r>
              <a:rPr lang="en-US" sz="1400" b="1" dirty="0">
                <a:solidFill>
                  <a:schemeClr val="tx1"/>
                </a:solidFill>
              </a:rPr>
              <a:t>Text</a:t>
            </a:r>
            <a:pPr indent="0" marL="0">
              <a:buNone/>
            </a:pPr>
            <a:r>
              <a:rPr lang="en-US" sz="1400" dirty="0">
                <a:solidFill>
                  <a:schemeClr val="tx1"/>
                </a:solidFill>
              </a:rPr>
              <a:t>  the description itself</a:t>
            </a:r>
            <a:endParaRPr lang="en-US" sz="1400" dirty="0"/>
          </a:p>
        </p:txBody>
      </p:sp>
      <p:sp>
        <p:nvSpPr>
          <p:cNvPr id="30" name="legend 4"/>
          <p:cNvSpPr/>
          <p:nvPr/>
        </p:nvSpPr>
        <p:spPr>
          <a:xfrm>
            <a:off x="8412480" y="3090672"/>
            <a:ext cx="329184" cy="329184"/>
          </a:xfrm>
          <a:prstGeom prst="ellipse">
            <a:avLst/>
          </a:prstGeom>
          <a:solidFill>
            <a:schemeClr val="accent2"/>
          </a:solidFill>
          <a:ln w="12700">
            <a:solidFill>
              <a:schemeClr val="accent2"/>
            </a:solidFill>
            <a:prstDash val="solid"/>
          </a:ln>
        </p:spPr>
      </p:sp>
      <p:sp>
        <p:nvSpPr>
          <p:cNvPr id="31" name="Text 28"/>
          <p:cNvSpPr txBox="1"/>
          <p:nvPr/>
        </p:nvSpPr>
        <p:spPr>
          <a:xfrm>
            <a:off x="8412480" y="30906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2" name="Text 29"/>
          <p:cNvSpPr txBox="1"/>
          <p:nvPr/>
        </p:nvSpPr>
        <p:spPr>
          <a:xfrm>
            <a:off x="8869680" y="3090672"/>
            <a:ext cx="2834640" cy="557784"/>
          </a:xfrm>
          <a:prstGeom prst="rect">
            <a:avLst/>
          </a:prstGeom>
          <a:noFill/>
          <a:ln/>
        </p:spPr>
        <p:txBody>
          <a:bodyPr wrap="square" lIns="0" tIns="0" rIns="0" bIns="0" rtlCol="0" anchor="t"/>
          <a:lstStyle/>
          <a:p>
            <a:pPr indent="0" marL="0">
              <a:buNone/>
            </a:pPr>
            <a:r>
              <a:rPr lang="en-US" sz="1400" b="1" dirty="0">
                <a:solidFill>
                  <a:schemeClr val="tx1"/>
                </a:solidFill>
              </a:rPr>
              <a:t>Status</a:t>
            </a:r>
            <a:pPr indent="0" marL="0">
              <a:buNone/>
            </a:pPr>
            <a:r>
              <a:rPr lang="en-US" sz="1400" dirty="0">
                <a:solidFill>
                  <a:schemeClr val="tx1"/>
                </a:solidFill>
              </a:rPr>
              <a:t>  ok, warnings, errors</a:t>
            </a:r>
            <a:endParaRPr lang="en-US" sz="1400" dirty="0"/>
          </a:p>
        </p:txBody>
      </p:sp>
      <p:sp>
        <p:nvSpPr>
          <p:cNvPr id="33" name="legend 5"/>
          <p:cNvSpPr/>
          <p:nvPr/>
        </p:nvSpPr>
        <p:spPr>
          <a:xfrm>
            <a:off x="8412480" y="3694176"/>
            <a:ext cx="329184" cy="329184"/>
          </a:xfrm>
          <a:prstGeom prst="ellipse">
            <a:avLst/>
          </a:prstGeom>
          <a:solidFill>
            <a:schemeClr val="accent2"/>
          </a:solidFill>
          <a:ln w="12700">
            <a:solidFill>
              <a:schemeClr val="accent2"/>
            </a:solidFill>
            <a:prstDash val="solid"/>
          </a:ln>
        </p:spPr>
      </p:sp>
      <p:sp>
        <p:nvSpPr>
          <p:cNvPr id="34" name="Text 31"/>
          <p:cNvSpPr txBox="1"/>
          <p:nvPr/>
        </p:nvSpPr>
        <p:spPr>
          <a:xfrm>
            <a:off x="8412480" y="369417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5" name="Text 32"/>
          <p:cNvSpPr txBox="1"/>
          <p:nvPr/>
        </p:nvSpPr>
        <p:spPr>
          <a:xfrm>
            <a:off x="8869680" y="3694176"/>
            <a:ext cx="2834640" cy="557784"/>
          </a:xfrm>
          <a:prstGeom prst="rect">
            <a:avLst/>
          </a:prstGeom>
          <a:noFill/>
          <a:ln/>
        </p:spPr>
        <p:txBody>
          <a:bodyPr wrap="square" lIns="0" tIns="0" rIns="0" bIns="0" rtlCol="0" anchor="t"/>
          <a:lstStyle/>
          <a:p>
            <a:pPr indent="0" marL="0">
              <a:buNone/>
            </a:pPr>
            <a:r>
              <a:rPr lang="en-US" sz="1400" b="1" dirty="0">
                <a:solidFill>
                  <a:schemeClr val="tx1"/>
                </a:solidFill>
              </a:rPr>
              <a:t>Segments</a:t>
            </a:r>
            <a:pPr indent="0" marL="0">
              <a:buNone/>
            </a:pPr>
            <a:r>
              <a:rPr lang="en-US" sz="1400" dirty="0">
                <a:solidFill>
                  <a:schemeClr val="tx1"/>
                </a:solidFill>
              </a:rPr>
              <a:t>  click one to edit it</a:t>
            </a:r>
            <a:endParaRPr lang="en-US" sz="1400" dirty="0"/>
          </a:p>
        </p:txBody>
      </p:sp>
      <p:sp>
        <p:nvSpPr>
          <p:cNvPr id="36" name="legend 6"/>
          <p:cNvSpPr/>
          <p:nvPr/>
        </p:nvSpPr>
        <p:spPr>
          <a:xfrm>
            <a:off x="8412480" y="4297680"/>
            <a:ext cx="329184" cy="329184"/>
          </a:xfrm>
          <a:prstGeom prst="ellipse">
            <a:avLst/>
          </a:prstGeom>
          <a:solidFill>
            <a:schemeClr val="accent2"/>
          </a:solidFill>
          <a:ln w="12700">
            <a:solidFill>
              <a:schemeClr val="accent2"/>
            </a:solidFill>
            <a:prstDash val="solid"/>
          </a:ln>
        </p:spPr>
      </p:sp>
      <p:sp>
        <p:nvSpPr>
          <p:cNvPr id="37" name="Text 34"/>
          <p:cNvSpPr txBox="1"/>
          <p:nvPr/>
        </p:nvSpPr>
        <p:spPr>
          <a:xfrm>
            <a:off x="8412480" y="42976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8" name="Text 35"/>
          <p:cNvSpPr txBox="1"/>
          <p:nvPr/>
        </p:nvSpPr>
        <p:spPr>
          <a:xfrm>
            <a:off x="8869680" y="4297680"/>
            <a:ext cx="2834640" cy="557784"/>
          </a:xfrm>
          <a:prstGeom prst="rect">
            <a:avLst/>
          </a:prstGeom>
          <a:noFill/>
          <a:ln/>
        </p:spPr>
        <p:txBody>
          <a:bodyPr wrap="square" lIns="0" tIns="0" rIns="0" bIns="0" rtlCol="0" anchor="t"/>
          <a:lstStyle/>
          <a:p>
            <a:pPr indent="0" marL="0">
              <a:buNone/>
            </a:pPr>
            <a:r>
              <a:rPr lang="en-US" sz="1400" b="1" dirty="0">
                <a:solidFill>
                  <a:schemeClr val="tx1"/>
                </a:solidFill>
              </a:rPr>
              <a:t>Plot</a:t>
            </a:r>
            <a:pPr indent="0" marL="0">
              <a:buNone/>
            </a:pPr>
            <a:r>
              <a:rPr lang="en-US" sz="1400" dirty="0">
                <a:solidFill>
                  <a:schemeClr val="tx1"/>
                </a:solidFill>
              </a:rPr>
              <a:t>  updates as you type</a:t>
            </a:r>
            <a:endParaRPr lang="en-US" sz="1400" dirty="0"/>
          </a:p>
        </p:txBody>
      </p:sp>
      <p:sp>
        <p:nvSpPr>
          <p:cNvPr id="39" name="legend 7"/>
          <p:cNvSpPr/>
          <p:nvPr/>
        </p:nvSpPr>
        <p:spPr>
          <a:xfrm>
            <a:off x="8412480" y="4901184"/>
            <a:ext cx="329184" cy="329184"/>
          </a:xfrm>
          <a:prstGeom prst="ellipse">
            <a:avLst/>
          </a:prstGeom>
          <a:solidFill>
            <a:schemeClr val="accent2"/>
          </a:solidFill>
          <a:ln w="12700">
            <a:solidFill>
              <a:schemeClr val="accent2"/>
            </a:solidFill>
            <a:prstDash val="solid"/>
          </a:ln>
        </p:spPr>
      </p:sp>
      <p:sp>
        <p:nvSpPr>
          <p:cNvPr id="40" name="Text 37"/>
          <p:cNvSpPr txBox="1"/>
          <p:nvPr/>
        </p:nvSpPr>
        <p:spPr>
          <a:xfrm>
            <a:off x="8412480" y="490118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1" name="Text 38"/>
          <p:cNvSpPr txBox="1"/>
          <p:nvPr/>
        </p:nvSpPr>
        <p:spPr>
          <a:xfrm>
            <a:off x="8869680" y="4901184"/>
            <a:ext cx="2834640" cy="557784"/>
          </a:xfrm>
          <a:prstGeom prst="rect">
            <a:avLst/>
          </a:prstGeom>
          <a:noFill/>
          <a:ln/>
        </p:spPr>
        <p:txBody>
          <a:bodyPr wrap="square" lIns="0" tIns="0" rIns="0" bIns="0" rtlCol="0" anchor="t"/>
          <a:lstStyle/>
          <a:p>
            <a:pPr indent="0" marL="0">
              <a:buNone/>
            </a:pPr>
            <a:r>
              <a:rPr lang="en-US" sz="1400" b="1" dirty="0">
                <a:solidFill>
                  <a:schemeClr val="tx1"/>
                </a:solidFill>
              </a:rPr>
              <a:t>Play</a:t>
            </a:r>
            <a:pPr indent="0" marL="0">
              <a:buNone/>
            </a:pPr>
            <a:r>
              <a:rPr lang="en-US" sz="1400" dirty="0">
                <a:solidFill>
                  <a:schemeClr val="tx1"/>
                </a:solidFill>
              </a:rPr>
              <a:t>  animate the stimulus</a:t>
            </a:r>
            <a:endParaRPr lang="en-US" sz="1400" dirty="0"/>
          </a:p>
        </p:txBody>
      </p:sp>
      <p:sp>
        <p:nvSpPr>
          <p:cNvPr id="42" name="legend 8"/>
          <p:cNvSpPr/>
          <p:nvPr/>
        </p:nvSpPr>
        <p:spPr>
          <a:xfrm>
            <a:off x="8412480" y="5504688"/>
            <a:ext cx="329184" cy="329184"/>
          </a:xfrm>
          <a:prstGeom prst="ellipse">
            <a:avLst/>
          </a:prstGeom>
          <a:solidFill>
            <a:schemeClr val="accent2"/>
          </a:solidFill>
          <a:ln w="12700">
            <a:solidFill>
              <a:schemeClr val="accent2"/>
            </a:solidFill>
            <a:prstDash val="solid"/>
          </a:ln>
        </p:spPr>
      </p:sp>
      <p:sp>
        <p:nvSpPr>
          <p:cNvPr id="43" name="Text 40"/>
          <p:cNvSpPr txBox="1"/>
          <p:nvPr/>
        </p:nvSpPr>
        <p:spPr>
          <a:xfrm>
            <a:off x="8412480" y="55046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4" name="Text 41"/>
          <p:cNvSpPr txBox="1"/>
          <p:nvPr/>
        </p:nvSpPr>
        <p:spPr>
          <a:xfrm>
            <a:off x="8869680" y="5504688"/>
            <a:ext cx="2834640" cy="557784"/>
          </a:xfrm>
          <a:prstGeom prst="rect">
            <a:avLst/>
          </a:prstGeom>
          <a:noFill/>
          <a:ln/>
        </p:spPr>
        <p:txBody>
          <a:bodyPr wrap="square" lIns="0" tIns="0" rIns="0" bIns="0" rtlCol="0" anchor="t"/>
          <a:lstStyle/>
          <a:p>
            <a:pPr indent="0" marL="0">
              <a:buNone/>
            </a:pPr>
            <a:r>
              <a:rPr lang="en-US" sz="1400" b="1" dirty="0">
                <a:solidFill>
                  <a:schemeClr val="tx1"/>
                </a:solidFill>
              </a:rPr>
              <a:t>Save</a:t>
            </a:r>
            <a:pPr indent="0" marL="0">
              <a:buNone/>
            </a:pPr>
            <a:r>
              <a:rPr lang="en-US" sz="1400" dirty="0">
                <a:solidFill>
                  <a:schemeClr val="tx1"/>
                </a:solidFill>
              </a:rPr>
              <a:t>  the .sg text, the .sgb samples</a:t>
            </a:r>
            <a:endParaRPr lang="en-US" sz="1400" dirty="0"/>
          </a:p>
        </p:txBody>
      </p:sp>
      <p:sp>
        <p:nvSpPr>
          <p:cNvPr id="4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Start from an example</a:t>
            </a:r>
            <a:endParaRPr lang="en-US" sz="3000" dirty="0"/>
          </a:p>
        </p:txBody>
      </p:sp>
      <p:pic>
        <p:nvPicPr>
          <p:cNvPr id="3" name="screenshot examples-menu" descr="The Examples menu">    </p:cNvPr>
          <p:cNvPicPr>
            <a:picLocks noChangeAspect="1"/>
          </p:cNvPicPr>
          <p:nvPr/>
        </p:nvPicPr>
        <p:blipFill>
          <a:blip r:embed="rId1"/>
          <a:srcRect l="0" r="37500" t="0" b="11628"/>
          <a:stretch/>
        </p:blipFill>
        <p:spPr>
          <a:xfrm>
            <a:off x="1045544" y="1188720"/>
            <a:ext cx="5955632" cy="5029200"/>
          </a:xfrm>
          <a:prstGeom prst="rect">
            <a:avLst/>
          </a:prstGeom>
        </p:spPr>
      </p:pic>
      <p:sp>
        <p:nvSpPr>
          <p:cNvPr id="4" name="frame examples-menu"/>
          <p:cNvSpPr/>
          <p:nvPr/>
        </p:nvSpPr>
        <p:spPr>
          <a:xfrm>
            <a:off x="1045544" y="1188720"/>
            <a:ext cx="5955632" cy="5029200"/>
          </a:xfrm>
          <a:prstGeom prst="rect">
            <a:avLst/>
          </a:prstGeom>
          <a:ln w="12700">
            <a:solidFill>
              <a:srgbClr val="EEF4F3"/>
            </a:solidFill>
            <a:prstDash val="solid"/>
          </a:ln>
        </p:spPr>
      </p:sp>
      <p:sp>
        <p:nvSpPr>
          <p:cNvPr id="5" name="examples circle"/>
          <p:cNvSpPr/>
          <p:nvPr/>
        </p:nvSpPr>
        <p:spPr>
          <a:xfrm>
            <a:off x="7863840" y="1371600"/>
            <a:ext cx="685800" cy="685800"/>
          </a:xfrm>
          <a:prstGeom prst="ellipse">
            <a:avLst/>
          </a:prstGeom>
          <a:solidFill>
            <a:srgbClr val="0B7A75"/>
          </a:solidFill>
          <a:ln w="12700">
            <a:solidFill>
              <a:srgbClr val="0B7A75"/>
            </a:solidFill>
            <a:prstDash val="solid"/>
          </a:ln>
        </p:spPr>
      </p:sp>
      <p:pic>
        <p:nvPicPr>
          <p:cNvPr id="6" name="examples icon" descr="examples">    </p:cNvPr>
          <p:cNvPicPr>
            <a:picLocks noChangeAspect="1"/>
          </p:cNvPicPr>
          <p:nvPr/>
        </p:nvPicPr>
        <p:blipFill>
          <a:blip r:embed="rId2"/>
          <a:stretch>
            <a:fillRect/>
          </a:stretch>
        </p:blipFill>
        <p:spPr>
          <a:xfrm>
            <a:off x="8035290" y="1543050"/>
            <a:ext cx="342900" cy="342900"/>
          </a:xfrm>
          <a:prstGeom prst="rect">
            <a:avLst/>
          </a:prstGeom>
        </p:spPr>
      </p:pic>
      <p:sp>
        <p:nvSpPr>
          <p:cNvPr id="7" name="Text 3"/>
          <p:cNvSpPr txBox="1"/>
          <p:nvPr/>
        </p:nvSpPr>
        <p:spPr>
          <a:xfrm>
            <a:off x="8732520" y="1481328"/>
            <a:ext cx="29260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43 ready-made stimuli</a:t>
            </a:r>
            <a:endParaRPr lang="en-US" sz="2000" dirty="0"/>
          </a:p>
        </p:txBody>
      </p:sp>
      <p:sp>
        <p:nvSpPr>
          <p:cNvPr id="8" name="Text 4"/>
          <p:cNvSpPr txBox="1"/>
          <p:nvPr/>
        </p:nvSpPr>
        <p:spPr>
          <a:xfrm>
            <a:off x="7863840" y="2286000"/>
            <a:ext cx="3749040" cy="310896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Basics</a:t>
            </a:r>
            <a:endParaRPr lang="en-US" sz="1500" dirty="0"/>
          </a:p>
          <a:p>
            <a:pPr indent="0" marL="0">
              <a:spcAft>
                <a:spcPts val="400"/>
              </a:spcAft>
              <a:buNone/>
            </a:pPr>
            <a:r>
              <a:rPr lang="en-US" sz="1500" dirty="0">
                <a:solidFill>
                  <a:schemeClr val="tx1"/>
                </a:solidFill>
              </a:rPr>
              <a:t>steps, rheobase ramp, sag, membrane time constant</a:t>
            </a:r>
            <a:endParaRPr lang="en-US" sz="1500" dirty="0"/>
          </a:p>
          <a:p>
            <a:pPr indent="0" marL="0">
              <a:spcAft>
                <a:spcPts val="400"/>
              </a:spcAft>
              <a:buNone/>
            </a:pPr>
            <a:r>
              <a:rPr lang="en-US" sz="1500" b="1" dirty="0">
                <a:solidFill>
                  <a:schemeClr val="tx1"/>
                </a:solidFill>
              </a:rPr>
              <a:t>Waves · Synaptic · Noise</a:t>
            </a:r>
            <a:endParaRPr lang="en-US" sz="1500" dirty="0"/>
          </a:p>
          <a:p>
            <a:pPr indent="0" marL="0">
              <a:spcAft>
                <a:spcPts val="400"/>
              </a:spcAft>
              <a:buNone/>
            </a:pPr>
            <a:r>
              <a:rPr lang="en-US" sz="1500" dirty="0">
                <a:solidFill>
                  <a:schemeClr val="tx1"/>
                </a:solidFill>
              </a:rPr>
              <a:t>ZAP chirps, EPSC trains, Poisson barrages, frozen noise</a:t>
            </a:r>
            <a:endParaRPr lang="en-US" sz="1500" dirty="0"/>
          </a:p>
          <a:p>
            <a:pPr indent="0" marL="0">
              <a:spcAft>
                <a:spcPts val="400"/>
              </a:spcAft>
              <a:buNone/>
            </a:pPr>
            <a:r>
              <a:rPr lang="en-US" sz="1500" b="1" dirty="0">
                <a:solidFill>
                  <a:schemeClr val="tx1"/>
                </a:solidFill>
              </a:rPr>
              <a:t>Stimuli</a:t>
            </a:r>
            <a:endParaRPr lang="en-US" sz="1500" dirty="0"/>
          </a:p>
          <a:p>
            <a:pPr indent="0" marL="0">
              <a:spcAft>
                <a:spcPts val="400"/>
              </a:spcAft>
              <a:buNone/>
            </a:pPr>
            <a:r>
              <a:rPr lang="en-US" sz="1500" dirty="0">
                <a:solidFill>
                  <a:schemeClr val="tx1"/>
                </a:solidFill>
              </a:rPr>
              <a:t>two cells, voltage clamp, dynamic clamp, optogenetics</a:t>
            </a:r>
            <a:endParaRPr lang="en-US" sz="1500" dirty="0"/>
          </a:p>
          <a:p>
            <a:pPr indent="0" marL="0">
              <a:spcAft>
                <a:spcPts val="400"/>
              </a:spcAft>
              <a:buNone/>
            </a:pPr>
            <a:r>
              <a:rPr lang="en-US" sz="1500" b="1" dirty="0">
                <a:solidFill>
                  <a:schemeClr val="tx1"/>
                </a:solidFill>
              </a:rPr>
              <a:t>Protocols</a:t>
            </a:r>
            <a:endParaRPr lang="en-US" sz="1500" dirty="0"/>
          </a:p>
          <a:p>
            <a:pPr indent="0" marL="0">
              <a:spcAft>
                <a:spcPts val="400"/>
              </a:spcAft>
              <a:buNone/>
            </a:pPr>
            <a:r>
              <a:rPr lang="en-US" sz="1500" dirty="0">
                <a:solidFill>
                  <a:schemeClr val="tx1"/>
                </a:solidFill>
              </a:rPr>
              <a:t>f–I curve, reliability, paired-pulse ratio, I–V</a:t>
            </a:r>
            <a:endParaRPr lang="en-US" sz="1500" dirty="0"/>
          </a:p>
        </p:txBody>
      </p:sp>
      <p:sp>
        <p:nvSpPr>
          <p:cNvPr id="9" name="Text 5"/>
          <p:cNvSpPr txBox="1"/>
          <p:nvPr/>
        </p:nvSpPr>
        <p:spPr>
          <a:xfrm>
            <a:off x="7863840" y="5486400"/>
            <a:ext cx="3749040" cy="731520"/>
          </a:xfrm>
          <a:prstGeom prst="rect">
            <a:avLst/>
          </a:prstGeom>
          <a:noFill/>
          <a:ln/>
        </p:spPr>
        <p:txBody>
          <a:bodyPr wrap="square" lIns="0" tIns="0" rIns="0" bIns="0" rtlCol="0" anchor="t"/>
          <a:lstStyle/>
          <a:p>
            <a:pPr indent="0" marL="0">
              <a:buNone/>
            </a:pPr>
            <a:r>
              <a:rPr lang="en-US" sz="1500" i="1" dirty="0">
                <a:solidFill>
                  <a:schemeClr val="accent2"/>
                </a:solidFill>
              </a:rPr>
              <a:t>Pick one, change a number, watch the plot. Your text is kept in the browser.</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Type, and the plot follows</a:t>
            </a:r>
            <a:endParaRPr lang="en-US" sz="3000" dirty="0"/>
          </a:p>
        </p:txBody>
      </p:sp>
      <p:sp>
        <p:nvSpPr>
          <p:cNvPr id="3" name="step card"/>
          <p:cNvSpPr/>
          <p:nvPr/>
        </p:nvSpPr>
        <p:spPr>
          <a:xfrm>
            <a:off x="548640" y="1280160"/>
            <a:ext cx="4846320" cy="1600200"/>
          </a:xfrm>
          <a:prstGeom prst="roundRect">
            <a:avLst>
              <a:gd name="adj" fmla="val 6857"/>
            </a:avLst>
          </a:prstGeom>
          <a:solidFill>
            <a:schemeClr val="tx1"/>
          </a:solidFill>
          <a:ln w="12700">
            <a:solidFill>
              <a:schemeClr val="tx1"/>
            </a:solidFill>
            <a:prstDash val="solid"/>
          </a:ln>
        </p:spPr>
      </p:sp>
      <p:sp>
        <p:nvSpPr>
          <p:cNvPr id="4" name="Text 2"/>
          <p:cNvSpPr txBox="1"/>
          <p:nvPr/>
        </p:nvSpPr>
        <p:spPr>
          <a:xfrm>
            <a:off x="777240" y="1389888"/>
            <a:ext cx="438912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three lines = a current step</a:t>
            </a:r>
            <a:endParaRPr lang="en-US" sz="1100" dirty="0"/>
          </a:p>
        </p:txBody>
      </p:sp>
      <p:sp>
        <p:nvSpPr>
          <p:cNvPr id="5" name="step text"/>
          <p:cNvSpPr txBox="1"/>
          <p:nvPr/>
        </p:nvSpPr>
        <p:spPr>
          <a:xfrm>
            <a:off x="777240" y="1691640"/>
            <a:ext cx="4389120" cy="1051560"/>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500ms  dc(0)      </a:t>
            </a:r>
            <a:pPr indent="0" marL="0">
              <a:spcAft>
                <a:spcPts val="200"/>
              </a:spcAft>
              <a:buNone/>
            </a:pPr>
            <a:r>
              <a:rPr lang="en-US" sz="1700" dirty="0">
                <a:solidFill>
                  <a:schemeClr val="accent4"/>
                </a:solidFill>
                <a:latin typeface="Courier New" pitchFamily="34" charset="0"/>
                <a:ea typeface="Courier New" pitchFamily="34" charset="-122"/>
                <a:cs typeface="Courier New" pitchFamily="34" charset="-120"/>
              </a:rPr>
              <a:t># rest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1s     dc(300)    </a:t>
            </a:r>
            <a:pPr indent="0" marL="0">
              <a:spcAft>
                <a:spcPts val="200"/>
              </a:spcAft>
              <a:buNone/>
            </a:pPr>
            <a:r>
              <a:rPr lang="en-US" sz="1700" dirty="0">
                <a:solidFill>
                  <a:schemeClr val="accent4"/>
                </a:solidFill>
                <a:latin typeface="Courier New" pitchFamily="34" charset="0"/>
                <a:ea typeface="Courier New" pitchFamily="34" charset="-122"/>
                <a:cs typeface="Courier New" pitchFamily="34" charset="-120"/>
              </a:rPr>
              <a:t># 300 pA</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500ms  dc(0)      </a:t>
            </a:r>
            <a:pPr indent="0" marL="0">
              <a:spcAft>
                <a:spcPts val="200"/>
              </a:spcAft>
              <a:buNone/>
            </a:pPr>
            <a:r>
              <a:rPr lang="en-US" sz="1700" dirty="0">
                <a:solidFill>
                  <a:schemeClr val="accent4"/>
                </a:solidFill>
                <a:latin typeface="Courier New" pitchFamily="34" charset="0"/>
                <a:ea typeface="Courier New" pitchFamily="34" charset="-122"/>
                <a:cs typeface="Courier New" pitchFamily="34" charset="-120"/>
              </a:rPr>
              <a:t># rest</a:t>
            </a:r>
            <a:endParaRPr lang="en-US" sz="1700" dirty="0"/>
          </a:p>
        </p:txBody>
      </p:sp>
      <p:sp>
        <p:nvSpPr>
          <p:cNvPr id="6" name="Text 4"/>
          <p:cNvSpPr txBox="1"/>
          <p:nvPr/>
        </p:nvSpPr>
        <p:spPr>
          <a:xfrm>
            <a:off x="548640" y="3154680"/>
            <a:ext cx="1188720" cy="457200"/>
          </a:xfrm>
          <a:prstGeom prst="rect">
            <a:avLst/>
          </a:prstGeom>
          <a:noFill/>
          <a:ln/>
        </p:spPr>
        <p:txBody>
          <a:bodyPr wrap="square" lIns="0" tIns="0" rIns="0" bIns="0" rtlCol="0" anchor="t"/>
          <a:lstStyle/>
          <a:p>
            <a:pPr indent="0" marL="0">
              <a:buNone/>
            </a:pPr>
            <a:r>
              <a:rPr lang="en-US" sz="1800" b="1" dirty="0">
                <a:solidFill>
                  <a:schemeClr val="accent2"/>
                </a:solidFill>
                <a:latin typeface="Courier New" pitchFamily="34" charset="0"/>
                <a:ea typeface="Courier New" pitchFamily="34" charset="-122"/>
                <a:cs typeface="Courier New" pitchFamily="34" charset="-120"/>
              </a:rPr>
              <a:t>500ms</a:t>
            </a:r>
            <a:endParaRPr lang="en-US" sz="1800" dirty="0"/>
          </a:p>
        </p:txBody>
      </p:sp>
      <p:sp>
        <p:nvSpPr>
          <p:cNvPr id="7" name="Text 5"/>
          <p:cNvSpPr txBox="1"/>
          <p:nvPr/>
        </p:nvSpPr>
        <p:spPr>
          <a:xfrm>
            <a:off x="1783080" y="3154680"/>
            <a:ext cx="1280160" cy="457200"/>
          </a:xfrm>
          <a:prstGeom prst="rect">
            <a:avLst/>
          </a:prstGeom>
          <a:noFill/>
          <a:ln/>
        </p:spPr>
        <p:txBody>
          <a:bodyPr wrap="square" lIns="0" tIns="0" rIns="0" bIns="0" rtlCol="0" anchor="t"/>
          <a:lstStyle/>
          <a:p>
            <a:pPr indent="0" marL="0">
              <a:buNone/>
            </a:pPr>
            <a:r>
              <a:rPr lang="en-US" sz="1700" b="1" dirty="0">
                <a:solidFill>
                  <a:schemeClr val="tx1"/>
                </a:solidFill>
              </a:rPr>
              <a:t>how long</a:t>
            </a:r>
            <a:endParaRPr lang="en-US" sz="1700" dirty="0"/>
          </a:p>
        </p:txBody>
      </p:sp>
      <p:sp>
        <p:nvSpPr>
          <p:cNvPr id="8" name="Text 6"/>
          <p:cNvSpPr txBox="1"/>
          <p:nvPr/>
        </p:nvSpPr>
        <p:spPr>
          <a:xfrm>
            <a:off x="3063240" y="3154680"/>
            <a:ext cx="2377440" cy="731520"/>
          </a:xfrm>
          <a:prstGeom prst="rect">
            <a:avLst/>
          </a:prstGeom>
          <a:noFill/>
          <a:ln/>
        </p:spPr>
        <p:txBody>
          <a:bodyPr wrap="square" lIns="0" tIns="0" rIns="0" bIns="0" rtlCol="0" anchor="t"/>
          <a:lstStyle/>
          <a:p>
            <a:pPr indent="0" marL="0">
              <a:buNone/>
            </a:pPr>
            <a:r>
              <a:rPr lang="en-US" sz="1400" dirty="0">
                <a:solidFill>
                  <a:schemeClr val="accent6"/>
                </a:solidFill>
              </a:rPr>
              <a:t>always with a unit: ms, s, min</a:t>
            </a:r>
            <a:endParaRPr lang="en-US" sz="1400" dirty="0"/>
          </a:p>
        </p:txBody>
      </p:sp>
      <p:sp>
        <p:nvSpPr>
          <p:cNvPr id="9" name="Text 7"/>
          <p:cNvSpPr txBox="1"/>
          <p:nvPr/>
        </p:nvSpPr>
        <p:spPr>
          <a:xfrm>
            <a:off x="548640" y="4023360"/>
            <a:ext cx="1188720" cy="457200"/>
          </a:xfrm>
          <a:prstGeom prst="rect">
            <a:avLst/>
          </a:prstGeom>
          <a:noFill/>
          <a:ln/>
        </p:spPr>
        <p:txBody>
          <a:bodyPr wrap="square" lIns="0" tIns="0" rIns="0" bIns="0" rtlCol="0" anchor="t"/>
          <a:lstStyle/>
          <a:p>
            <a:pPr indent="0" marL="0">
              <a:buNone/>
            </a:pPr>
            <a:r>
              <a:rPr lang="en-US" sz="1800" b="1" dirty="0">
                <a:solidFill>
                  <a:schemeClr val="accent2"/>
                </a:solidFill>
                <a:latin typeface="Courier New" pitchFamily="34" charset="0"/>
                <a:ea typeface="Courier New" pitchFamily="34" charset="-122"/>
                <a:cs typeface="Courier New" pitchFamily="34" charset="-120"/>
              </a:rPr>
              <a:t>dc</a:t>
            </a:r>
            <a:endParaRPr lang="en-US" sz="1800" dirty="0"/>
          </a:p>
        </p:txBody>
      </p:sp>
      <p:sp>
        <p:nvSpPr>
          <p:cNvPr id="10" name="Text 8"/>
          <p:cNvSpPr txBox="1"/>
          <p:nvPr/>
        </p:nvSpPr>
        <p:spPr>
          <a:xfrm>
            <a:off x="1783080" y="4023360"/>
            <a:ext cx="1280160" cy="457200"/>
          </a:xfrm>
          <a:prstGeom prst="rect">
            <a:avLst/>
          </a:prstGeom>
          <a:noFill/>
          <a:ln/>
        </p:spPr>
        <p:txBody>
          <a:bodyPr wrap="square" lIns="0" tIns="0" rIns="0" bIns="0" rtlCol="0" anchor="t"/>
          <a:lstStyle/>
          <a:p>
            <a:pPr indent="0" marL="0">
              <a:buNone/>
            </a:pPr>
            <a:r>
              <a:rPr lang="en-US" sz="1700" b="1" dirty="0">
                <a:solidFill>
                  <a:schemeClr val="tx1"/>
                </a:solidFill>
              </a:rPr>
              <a:t>what</a:t>
            </a:r>
            <a:endParaRPr lang="en-US" sz="1700" dirty="0"/>
          </a:p>
        </p:txBody>
      </p:sp>
      <p:sp>
        <p:nvSpPr>
          <p:cNvPr id="11" name="Text 9"/>
          <p:cNvSpPr txBox="1"/>
          <p:nvPr/>
        </p:nvSpPr>
        <p:spPr>
          <a:xfrm>
            <a:off x="3063240" y="4023360"/>
            <a:ext cx="2377440" cy="731520"/>
          </a:xfrm>
          <a:prstGeom prst="rect">
            <a:avLst/>
          </a:prstGeom>
          <a:noFill/>
          <a:ln/>
        </p:spPr>
        <p:txBody>
          <a:bodyPr wrap="square" lIns="0" tIns="0" rIns="0" bIns="0" rtlCol="0" anchor="t"/>
          <a:lstStyle/>
          <a:p>
            <a:pPr indent="0" marL="0">
              <a:buNone/>
            </a:pPr>
            <a:r>
              <a:rPr lang="en-US" sz="1400" dirty="0">
                <a:solidFill>
                  <a:schemeClr val="accent6"/>
                </a:solidFill>
              </a:rPr>
              <a:t>a generator: dc, ramp, sine, pulses, ou…</a:t>
            </a:r>
            <a:endParaRPr lang="en-US" sz="1400" dirty="0"/>
          </a:p>
        </p:txBody>
      </p:sp>
      <p:sp>
        <p:nvSpPr>
          <p:cNvPr id="12" name="Text 10"/>
          <p:cNvSpPr txBox="1"/>
          <p:nvPr/>
        </p:nvSpPr>
        <p:spPr>
          <a:xfrm>
            <a:off x="548640" y="4892040"/>
            <a:ext cx="1188720" cy="457200"/>
          </a:xfrm>
          <a:prstGeom prst="rect">
            <a:avLst/>
          </a:prstGeom>
          <a:noFill/>
          <a:ln/>
        </p:spPr>
        <p:txBody>
          <a:bodyPr wrap="square" lIns="0" tIns="0" rIns="0" bIns="0" rtlCol="0" anchor="t"/>
          <a:lstStyle/>
          <a:p>
            <a:pPr indent="0" marL="0">
              <a:buNone/>
            </a:pPr>
            <a:r>
              <a:rPr lang="en-US" sz="1800" b="1" dirty="0">
                <a:solidFill>
                  <a:schemeClr val="accent2"/>
                </a:solidFill>
                <a:latin typeface="Courier New" pitchFamily="34" charset="0"/>
                <a:ea typeface="Courier New" pitchFamily="34" charset="-122"/>
                <a:cs typeface="Courier New" pitchFamily="34" charset="-120"/>
              </a:rPr>
              <a:t>(300)</a:t>
            </a:r>
            <a:endParaRPr lang="en-US" sz="1800" dirty="0"/>
          </a:p>
        </p:txBody>
      </p:sp>
      <p:sp>
        <p:nvSpPr>
          <p:cNvPr id="13" name="Text 11"/>
          <p:cNvSpPr txBox="1"/>
          <p:nvPr/>
        </p:nvSpPr>
        <p:spPr>
          <a:xfrm>
            <a:off x="1783080" y="4892040"/>
            <a:ext cx="1280160" cy="457200"/>
          </a:xfrm>
          <a:prstGeom prst="rect">
            <a:avLst/>
          </a:prstGeom>
          <a:noFill/>
          <a:ln/>
        </p:spPr>
        <p:txBody>
          <a:bodyPr wrap="square" lIns="0" tIns="0" rIns="0" bIns="0" rtlCol="0" anchor="t"/>
          <a:lstStyle/>
          <a:p>
            <a:pPr indent="0" marL="0">
              <a:buNone/>
            </a:pPr>
            <a:r>
              <a:rPr lang="en-US" sz="1700" b="1" dirty="0">
                <a:solidFill>
                  <a:schemeClr val="tx1"/>
                </a:solidFill>
              </a:rPr>
              <a:t>how much</a:t>
            </a:r>
            <a:endParaRPr lang="en-US" sz="1700" dirty="0"/>
          </a:p>
        </p:txBody>
      </p:sp>
      <p:sp>
        <p:nvSpPr>
          <p:cNvPr id="14" name="Text 12"/>
          <p:cNvSpPr txBox="1"/>
          <p:nvPr/>
        </p:nvSpPr>
        <p:spPr>
          <a:xfrm>
            <a:off x="3063240" y="4892040"/>
            <a:ext cx="2377440" cy="731520"/>
          </a:xfrm>
          <a:prstGeom prst="rect">
            <a:avLst/>
          </a:prstGeom>
          <a:noFill/>
          <a:ln/>
        </p:spPr>
        <p:txBody>
          <a:bodyPr wrap="square" lIns="0" tIns="0" rIns="0" bIns="0" rtlCol="0" anchor="t"/>
          <a:lstStyle/>
          <a:p>
            <a:pPr indent="0" marL="0">
              <a:buNone/>
            </a:pPr>
            <a:r>
              <a:rPr lang="en-US" sz="1400" dirty="0">
                <a:solidFill>
                  <a:schemeClr val="accent6"/>
                </a:solidFill>
              </a:rPr>
              <a:t>parameters, by position or by name</a:t>
            </a:r>
            <a:endParaRPr lang="en-US" sz="1400" dirty="0"/>
          </a:p>
        </p:txBody>
      </p:sp>
      <p:sp>
        <p:nvSpPr>
          <p:cNvPr id="15" name="Text 13"/>
          <p:cNvSpPr txBox="1"/>
          <p:nvPr/>
        </p:nvSpPr>
        <p:spPr>
          <a:xfrm>
            <a:off x="548640" y="5806440"/>
            <a:ext cx="4846320" cy="548640"/>
          </a:xfrm>
          <a:prstGeom prst="rect">
            <a:avLst/>
          </a:prstGeom>
          <a:noFill/>
          <a:ln/>
        </p:spPr>
        <p:txBody>
          <a:bodyPr wrap="square" lIns="0" tIns="0" rIns="0" bIns="0" rtlCol="0" anchor="t"/>
          <a:lstStyle/>
          <a:p>
            <a:pPr indent="0" marL="0">
              <a:buNone/>
            </a:pPr>
            <a:r>
              <a:rPr lang="en-US" sz="1400" b="1" dirty="0">
                <a:solidFill>
                  <a:schemeClr val="tx1"/>
                </a:solidFill>
              </a:rPr>
              <a:t>live</a:t>
            </a:r>
            <a:pPr indent="0" marL="0">
              <a:buNone/>
            </a:pPr>
            <a:r>
              <a:rPr lang="en-US" sz="1400" dirty="0">
                <a:solidFill>
                  <a:schemeClr val="tx1"/>
                </a:solidFill>
              </a:rPr>
              <a:t> on: the plot follows every key. Off: press </a:t>
            </a:r>
            <a:pPr indent="0" marL="0">
              <a:buNone/>
            </a:pPr>
            <a:r>
              <a:rPr lang="en-US" sz="1400" b="1" dirty="0">
                <a:solidFill>
                  <a:schemeClr val="tx1"/>
                </a:solidFill>
              </a:rPr>
              <a:t>Plot ⟳</a:t>
            </a:r>
            <a:pPr indent="0" marL="0">
              <a:buNone/>
            </a:pPr>
            <a:r>
              <a:rPr lang="en-US" sz="1400" dirty="0">
                <a:solidFill>
                  <a:schemeClr val="tx1"/>
                </a:solidFill>
              </a:rPr>
              <a:t> (⌘/Ctrl+Enter) when you are ready.</a:t>
            </a:r>
            <a:endParaRPr lang="en-US" sz="1400" dirty="0"/>
          </a:p>
        </p:txBody>
      </p:sp>
      <p:pic>
        <p:nvPicPr>
          <p:cNvPr id="16" name="screenshot overview" descr="A step typed in the editor and its plot">    </p:cNvPr>
          <p:cNvPicPr>
            <a:picLocks noChangeAspect="1"/>
          </p:cNvPicPr>
          <p:nvPr/>
        </p:nvPicPr>
        <p:blipFill>
          <a:blip r:embed="rId1"/>
          <a:srcRect l="38889" r="0" t="18605" b="0"/>
          <a:stretch/>
        </p:blipFill>
        <p:spPr>
          <a:xfrm>
            <a:off x="5669280" y="1339388"/>
            <a:ext cx="5943600" cy="4727864"/>
          </a:xfrm>
          <a:prstGeom prst="rect">
            <a:avLst/>
          </a:prstGeom>
        </p:spPr>
      </p:pic>
      <p:sp>
        <p:nvSpPr>
          <p:cNvPr id="17" name="frame overview"/>
          <p:cNvSpPr/>
          <p:nvPr/>
        </p:nvSpPr>
        <p:spPr>
          <a:xfrm>
            <a:off x="5669280" y="1339388"/>
            <a:ext cx="5943600" cy="4727864"/>
          </a:xfrm>
          <a:prstGeom prst="rect">
            <a:avLst/>
          </a:prstGeom>
          <a:ln w="12700">
            <a:solidFill>
              <a:srgbClr val="EEF4F3"/>
            </a:solidFill>
            <a:prstDash val="solid"/>
          </a:ln>
        </p:spPr>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Build a segment without typing</a:t>
            </a:r>
            <a:endParaRPr lang="en-US" sz="3000" dirty="0"/>
          </a:p>
        </p:txBody>
      </p:sp>
      <p:pic>
        <p:nvPicPr>
          <p:cNvPr id="3" name="screenshot builder" descr="The segment builder with its preview">    </p:cNvPr>
          <p:cNvPicPr>
            <a:picLocks noChangeAspect="1"/>
          </p:cNvPicPr>
          <p:nvPr/>
        </p:nvPicPr>
        <p:blipFill>
          <a:blip r:embed="rId1"/>
          <a:stretch>
            <a:fillRect/>
          </a:stretch>
        </p:blipFill>
        <p:spPr>
          <a:xfrm>
            <a:off x="548640" y="1437005"/>
            <a:ext cx="7589520" cy="4532630"/>
          </a:xfrm>
          <a:prstGeom prst="rect">
            <a:avLst/>
          </a:prstGeom>
        </p:spPr>
      </p:pic>
      <p:sp>
        <p:nvSpPr>
          <p:cNvPr id="4" name="frame builder"/>
          <p:cNvSpPr/>
          <p:nvPr/>
        </p:nvSpPr>
        <p:spPr>
          <a:xfrm>
            <a:off x="548640" y="1437005"/>
            <a:ext cx="7589520" cy="4532630"/>
          </a:xfrm>
          <a:prstGeom prst="rect">
            <a:avLst/>
          </a:prstGeom>
          <a:ln w="12700">
            <a:solidFill>
              <a:srgbClr val="EEF4F3"/>
            </a:solidFill>
            <a:prstDash val="solid"/>
          </a:ln>
        </p:spPr>
      </p:sp>
      <p:sp>
        <p:nvSpPr>
          <p:cNvPr id="5" name="callout 1"/>
          <p:cNvSpPr/>
          <p:nvPr/>
        </p:nvSpPr>
        <p:spPr>
          <a:xfrm>
            <a:off x="204826" y="1922069"/>
            <a:ext cx="329184" cy="329184"/>
          </a:xfrm>
          <a:prstGeom prst="ellipse">
            <a:avLst/>
          </a:prstGeom>
          <a:solidFill>
            <a:schemeClr val="accent2"/>
          </a:solidFill>
          <a:ln w="19050">
            <a:solidFill>
              <a:srgbClr val="FFFFFF"/>
            </a:solidFill>
            <a:prstDash val="solid"/>
          </a:ln>
        </p:spPr>
      </p:sp>
      <p:sp>
        <p:nvSpPr>
          <p:cNvPr id="6" name="callout 1 number"/>
          <p:cNvSpPr txBox="1"/>
          <p:nvPr/>
        </p:nvSpPr>
        <p:spPr>
          <a:xfrm>
            <a:off x="204826" y="1922069"/>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callout 2"/>
          <p:cNvSpPr/>
          <p:nvPr/>
        </p:nvSpPr>
        <p:spPr>
          <a:xfrm>
            <a:off x="2281428" y="4050792"/>
            <a:ext cx="329184" cy="329184"/>
          </a:xfrm>
          <a:prstGeom prst="ellipse">
            <a:avLst/>
          </a:prstGeom>
          <a:solidFill>
            <a:schemeClr val="accent2"/>
          </a:solidFill>
          <a:ln w="19050">
            <a:solidFill>
              <a:srgbClr val="FFFFFF"/>
            </a:solidFill>
            <a:prstDash val="solid"/>
          </a:ln>
        </p:spPr>
      </p:sp>
      <p:sp>
        <p:nvSpPr>
          <p:cNvPr id="8" name="callout 2 number"/>
          <p:cNvSpPr txBox="1"/>
          <p:nvPr/>
        </p:nvSpPr>
        <p:spPr>
          <a:xfrm>
            <a:off x="2281428" y="40507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callout 3"/>
          <p:cNvSpPr/>
          <p:nvPr/>
        </p:nvSpPr>
        <p:spPr>
          <a:xfrm>
            <a:off x="1965046" y="5036515"/>
            <a:ext cx="329184" cy="329184"/>
          </a:xfrm>
          <a:prstGeom prst="ellipse">
            <a:avLst/>
          </a:prstGeom>
          <a:solidFill>
            <a:schemeClr val="accent2"/>
          </a:solidFill>
          <a:ln w="19050">
            <a:solidFill>
              <a:srgbClr val="FFFFFF"/>
            </a:solidFill>
            <a:prstDash val="solid"/>
          </a:ln>
        </p:spPr>
      </p:sp>
      <p:sp>
        <p:nvSpPr>
          <p:cNvPr id="10" name="callout 3 number"/>
          <p:cNvSpPr txBox="1"/>
          <p:nvPr/>
        </p:nvSpPr>
        <p:spPr>
          <a:xfrm>
            <a:off x="1965046" y="5036515"/>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callout 4"/>
          <p:cNvSpPr/>
          <p:nvPr/>
        </p:nvSpPr>
        <p:spPr>
          <a:xfrm>
            <a:off x="1369771" y="5253228"/>
            <a:ext cx="329184" cy="329184"/>
          </a:xfrm>
          <a:prstGeom prst="ellipse">
            <a:avLst/>
          </a:prstGeom>
          <a:solidFill>
            <a:schemeClr val="accent2"/>
          </a:solidFill>
          <a:ln w="19050">
            <a:solidFill>
              <a:srgbClr val="FFFFFF"/>
            </a:solidFill>
            <a:prstDash val="solid"/>
          </a:ln>
        </p:spPr>
      </p:sp>
      <p:sp>
        <p:nvSpPr>
          <p:cNvPr id="12" name="callout 4 number"/>
          <p:cNvSpPr txBox="1"/>
          <p:nvPr/>
        </p:nvSpPr>
        <p:spPr>
          <a:xfrm>
            <a:off x="1369771" y="52532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callout 5"/>
          <p:cNvSpPr/>
          <p:nvPr/>
        </p:nvSpPr>
        <p:spPr>
          <a:xfrm>
            <a:off x="3683203" y="2465222"/>
            <a:ext cx="329184" cy="329184"/>
          </a:xfrm>
          <a:prstGeom prst="ellipse">
            <a:avLst/>
          </a:prstGeom>
          <a:solidFill>
            <a:schemeClr val="accent2"/>
          </a:solidFill>
          <a:ln w="19050">
            <a:solidFill>
              <a:srgbClr val="FFFFFF"/>
            </a:solidFill>
            <a:prstDash val="solid"/>
          </a:ln>
        </p:spPr>
      </p:sp>
      <p:sp>
        <p:nvSpPr>
          <p:cNvPr id="14" name="callout 5 number"/>
          <p:cNvSpPr txBox="1"/>
          <p:nvPr/>
        </p:nvSpPr>
        <p:spPr>
          <a:xfrm>
            <a:off x="3683203" y="246522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5" name="legend 1"/>
          <p:cNvSpPr/>
          <p:nvPr/>
        </p:nvSpPr>
        <p:spPr>
          <a:xfrm>
            <a:off x="8412480" y="1280160"/>
            <a:ext cx="329184" cy="329184"/>
          </a:xfrm>
          <a:prstGeom prst="ellipse">
            <a:avLst/>
          </a:prstGeom>
          <a:solidFill>
            <a:schemeClr val="accent2"/>
          </a:solidFill>
          <a:ln w="12700">
            <a:solidFill>
              <a:schemeClr val="accent2"/>
            </a:solidFill>
            <a:prstDash val="solid"/>
          </a:ln>
        </p:spPr>
      </p:sp>
      <p:sp>
        <p:nvSpPr>
          <p:cNvPr id="16" name="Text 13"/>
          <p:cNvSpPr txBox="1"/>
          <p:nvPr/>
        </p:nvSpPr>
        <p:spPr>
          <a:xfrm>
            <a:off x="841248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7" name="Text 14"/>
          <p:cNvSpPr txBox="1"/>
          <p:nvPr/>
        </p:nvSpPr>
        <p:spPr>
          <a:xfrm>
            <a:off x="8869680" y="1280160"/>
            <a:ext cx="2834640" cy="868680"/>
          </a:xfrm>
          <a:prstGeom prst="rect">
            <a:avLst/>
          </a:prstGeom>
          <a:noFill/>
          <a:ln/>
        </p:spPr>
        <p:txBody>
          <a:bodyPr wrap="square" lIns="0" tIns="0" rIns="0" bIns="0" rtlCol="0" anchor="t"/>
          <a:lstStyle/>
          <a:p>
            <a:pPr indent="0" marL="0">
              <a:buNone/>
            </a:pPr>
            <a:r>
              <a:rPr lang="en-US" sz="1500" b="1" dirty="0">
                <a:solidFill>
                  <a:schemeClr val="tx1"/>
                </a:solidFill>
              </a:rPr>
              <a:t>Click a generator</a:t>
            </a:r>
            <a:pPr indent="0" marL="0">
              <a:buNone/>
            </a:pPr>
            <a:r>
              <a:rPr lang="en-US" sz="1500" dirty="0">
                <a:solidFill>
                  <a:schemeClr val="tx1"/>
                </a:solidFill>
              </a:rPr>
              <a:t>  here: sine</a:t>
            </a:r>
            <a:endParaRPr lang="en-US" sz="1500" dirty="0"/>
          </a:p>
        </p:txBody>
      </p:sp>
      <p:sp>
        <p:nvSpPr>
          <p:cNvPr id="18" name="legend 2"/>
          <p:cNvSpPr/>
          <p:nvPr/>
        </p:nvSpPr>
        <p:spPr>
          <a:xfrm>
            <a:off x="8412480" y="2194560"/>
            <a:ext cx="329184" cy="329184"/>
          </a:xfrm>
          <a:prstGeom prst="ellipse">
            <a:avLst/>
          </a:prstGeom>
          <a:solidFill>
            <a:schemeClr val="accent2"/>
          </a:solidFill>
          <a:ln w="12700">
            <a:solidFill>
              <a:schemeClr val="accent2"/>
            </a:solidFill>
            <a:prstDash val="solid"/>
          </a:ln>
        </p:spPr>
      </p:sp>
      <p:sp>
        <p:nvSpPr>
          <p:cNvPr id="19" name="Text 16"/>
          <p:cNvSpPr txBox="1"/>
          <p:nvPr/>
        </p:nvSpPr>
        <p:spPr>
          <a:xfrm>
            <a:off x="8412480" y="21945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0" name="Text 17"/>
          <p:cNvSpPr txBox="1"/>
          <p:nvPr/>
        </p:nvSpPr>
        <p:spPr>
          <a:xfrm>
            <a:off x="8869680" y="2194560"/>
            <a:ext cx="2834640" cy="868680"/>
          </a:xfrm>
          <a:prstGeom prst="rect">
            <a:avLst/>
          </a:prstGeom>
          <a:noFill/>
          <a:ln/>
        </p:spPr>
        <p:txBody>
          <a:bodyPr wrap="square" lIns="0" tIns="0" rIns="0" bIns="0" rtlCol="0" anchor="t"/>
          <a:lstStyle/>
          <a:p>
            <a:pPr indent="0" marL="0">
              <a:buNone/>
            </a:pPr>
            <a:r>
              <a:rPr lang="en-US" sz="1500" b="1" dirty="0">
                <a:solidFill>
                  <a:schemeClr val="tx1"/>
                </a:solidFill>
              </a:rPr>
              <a:t>Fill in the form</a:t>
            </a:r>
            <a:pPr indent="0" marL="0">
              <a:buNone/>
            </a:pPr>
            <a:r>
              <a:rPr lang="en-US" sz="1500" dirty="0">
                <a:solidFill>
                  <a:schemeClr val="tx1"/>
                </a:solidFill>
              </a:rPr>
              <a:t>  units from the menus; extras under “more options”</a:t>
            </a:r>
            <a:endParaRPr lang="en-US" sz="1500" dirty="0"/>
          </a:p>
        </p:txBody>
      </p:sp>
      <p:sp>
        <p:nvSpPr>
          <p:cNvPr id="21" name="legend 3"/>
          <p:cNvSpPr/>
          <p:nvPr/>
        </p:nvSpPr>
        <p:spPr>
          <a:xfrm>
            <a:off x="8412480" y="3108960"/>
            <a:ext cx="329184" cy="329184"/>
          </a:xfrm>
          <a:prstGeom prst="ellipse">
            <a:avLst/>
          </a:prstGeom>
          <a:solidFill>
            <a:schemeClr val="accent2"/>
          </a:solidFill>
          <a:ln w="12700">
            <a:solidFill>
              <a:schemeClr val="accent2"/>
            </a:solidFill>
            <a:prstDash val="solid"/>
          </a:ln>
        </p:spPr>
      </p:sp>
      <p:sp>
        <p:nvSpPr>
          <p:cNvPr id="22" name="Text 19"/>
          <p:cNvSpPr txBox="1"/>
          <p:nvPr/>
        </p:nvSpPr>
        <p:spPr>
          <a:xfrm>
            <a:off x="8412480" y="31089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Text 20"/>
          <p:cNvSpPr txBox="1"/>
          <p:nvPr/>
        </p:nvSpPr>
        <p:spPr>
          <a:xfrm>
            <a:off x="8869680" y="3108960"/>
            <a:ext cx="2834640" cy="868680"/>
          </a:xfrm>
          <a:prstGeom prst="rect">
            <a:avLst/>
          </a:prstGeom>
          <a:noFill/>
          <a:ln/>
        </p:spPr>
        <p:txBody>
          <a:bodyPr wrap="square" lIns="0" tIns="0" rIns="0" bIns="0" rtlCol="0" anchor="t"/>
          <a:lstStyle/>
          <a:p>
            <a:pPr indent="0" marL="0">
              <a:buNone/>
            </a:pPr>
            <a:r>
              <a:rPr lang="en-US" sz="1500" b="1" dirty="0">
                <a:solidFill>
                  <a:schemeClr val="tx1"/>
                </a:solidFill>
              </a:rPr>
              <a:t>Read the line</a:t>
            </a:r>
            <a:pPr indent="0" marL="0">
              <a:buNone/>
            </a:pPr>
            <a:r>
              <a:rPr lang="en-US" sz="1500" dirty="0">
                <a:solidFill>
                  <a:schemeClr val="tx1"/>
                </a:solidFill>
              </a:rPr>
              <a:t>  this is what will be written</a:t>
            </a:r>
            <a:endParaRPr lang="en-US" sz="1500" dirty="0"/>
          </a:p>
        </p:txBody>
      </p:sp>
      <p:sp>
        <p:nvSpPr>
          <p:cNvPr id="24" name="legend 4"/>
          <p:cNvSpPr/>
          <p:nvPr/>
        </p:nvSpPr>
        <p:spPr>
          <a:xfrm>
            <a:off x="8412480" y="4023360"/>
            <a:ext cx="329184" cy="329184"/>
          </a:xfrm>
          <a:prstGeom prst="ellipse">
            <a:avLst/>
          </a:prstGeom>
          <a:solidFill>
            <a:schemeClr val="accent2"/>
          </a:solidFill>
          <a:ln w="12700">
            <a:solidFill>
              <a:schemeClr val="accent2"/>
            </a:solidFill>
            <a:prstDash val="solid"/>
          </a:ln>
        </p:spPr>
      </p:sp>
      <p:sp>
        <p:nvSpPr>
          <p:cNvPr id="25" name="Text 22"/>
          <p:cNvSpPr txBox="1"/>
          <p:nvPr/>
        </p:nvSpPr>
        <p:spPr>
          <a:xfrm>
            <a:off x="8412480" y="40233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8869680" y="4023360"/>
            <a:ext cx="2834640" cy="868680"/>
          </a:xfrm>
          <a:prstGeom prst="rect">
            <a:avLst/>
          </a:prstGeom>
          <a:noFill/>
          <a:ln/>
        </p:spPr>
        <p:txBody>
          <a:bodyPr wrap="square" lIns="0" tIns="0" rIns="0" bIns="0" rtlCol="0" anchor="t"/>
          <a:lstStyle/>
          <a:p>
            <a:pPr indent="0" marL="0">
              <a:buNone/>
            </a:pPr>
            <a:r>
              <a:rPr lang="en-US" sz="1500" b="1" dirty="0">
                <a:solidFill>
                  <a:schemeClr val="tx1"/>
                </a:solidFill>
              </a:rPr>
              <a:t>Insert</a:t>
            </a:r>
            <a:pPr indent="0" marL="0">
              <a:buNone/>
            </a:pPr>
            <a:r>
              <a:rPr lang="en-US" sz="1500" dirty="0">
                <a:solidFill>
                  <a:schemeClr val="tx1"/>
                </a:solidFill>
              </a:rPr>
              <a:t>  or Cancel (Esc)</a:t>
            </a:r>
            <a:endParaRPr lang="en-US" sz="1500" dirty="0"/>
          </a:p>
        </p:txBody>
      </p:sp>
      <p:sp>
        <p:nvSpPr>
          <p:cNvPr id="27" name="legend 5"/>
          <p:cNvSpPr/>
          <p:nvPr/>
        </p:nvSpPr>
        <p:spPr>
          <a:xfrm>
            <a:off x="8412480" y="4937760"/>
            <a:ext cx="329184" cy="329184"/>
          </a:xfrm>
          <a:prstGeom prst="ellipse">
            <a:avLst/>
          </a:prstGeom>
          <a:solidFill>
            <a:schemeClr val="accent2"/>
          </a:solidFill>
          <a:ln w="12700">
            <a:solidFill>
              <a:schemeClr val="accent2"/>
            </a:solidFill>
            <a:prstDash val="solid"/>
          </a:ln>
        </p:spPr>
      </p:sp>
      <p:sp>
        <p:nvSpPr>
          <p:cNvPr id="28" name="Text 25"/>
          <p:cNvSpPr txBox="1"/>
          <p:nvPr/>
        </p:nvSpPr>
        <p:spPr>
          <a:xfrm>
            <a:off x="8412480" y="49377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9" name="Text 26"/>
          <p:cNvSpPr txBox="1"/>
          <p:nvPr/>
        </p:nvSpPr>
        <p:spPr>
          <a:xfrm>
            <a:off x="8869680" y="4937760"/>
            <a:ext cx="2834640" cy="868680"/>
          </a:xfrm>
          <a:prstGeom prst="rect">
            <a:avLst/>
          </a:prstGeom>
          <a:noFill/>
          <a:ln/>
        </p:spPr>
        <p:txBody>
          <a:bodyPr wrap="square" lIns="0" tIns="0" rIns="0" bIns="0" rtlCol="0" anchor="t"/>
          <a:lstStyle/>
          <a:p>
            <a:pPr indent="0" marL="0">
              <a:buNone/>
            </a:pPr>
            <a:r>
              <a:rPr lang="en-US" sz="1500" b="1" dirty="0">
                <a:solidFill>
                  <a:schemeClr val="tx1"/>
                </a:solidFill>
              </a:rPr>
              <a:t>See it first</a:t>
            </a:r>
            <a:pPr indent="0" marL="0">
              <a:buNone/>
            </a:pPr>
            <a:r>
              <a:rPr lang="en-US" sz="1500" dirty="0">
                <a:solidFill>
                  <a:schemeClr val="tx1"/>
                </a:solidFill>
              </a:rPr>
              <a:t>  the plot previews the new segment</a:t>
            </a:r>
            <a:endParaRPr lang="en-US" sz="1500" dirty="0"/>
          </a:p>
        </p:txBody>
      </p:sp>
      <p:sp>
        <p:nvSpPr>
          <p:cNvPr id="30"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Change a segment: just click it</a:t>
            </a:r>
            <a:endParaRPr lang="en-US" sz="3000" dirty="0"/>
          </a:p>
        </p:txBody>
      </p:sp>
      <p:pic>
        <p:nvPicPr>
          <p:cNvPr id="3" name="screenshot timeline-edit" descr="Editing a segment chosen on the timeline">    </p:cNvPr>
          <p:cNvPicPr>
            <a:picLocks noChangeAspect="1"/>
          </p:cNvPicPr>
          <p:nvPr/>
        </p:nvPicPr>
        <p:blipFill>
          <a:blip r:embed="rId1"/>
          <a:stretch>
            <a:fillRect/>
          </a:stretch>
        </p:blipFill>
        <p:spPr>
          <a:xfrm>
            <a:off x="548640" y="1437005"/>
            <a:ext cx="7589520" cy="4532630"/>
          </a:xfrm>
          <a:prstGeom prst="rect">
            <a:avLst/>
          </a:prstGeom>
        </p:spPr>
      </p:pic>
      <p:sp>
        <p:nvSpPr>
          <p:cNvPr id="4" name="frame timeline-edit"/>
          <p:cNvSpPr/>
          <p:nvPr/>
        </p:nvSpPr>
        <p:spPr>
          <a:xfrm>
            <a:off x="548640" y="1437005"/>
            <a:ext cx="7589520" cy="4532630"/>
          </a:xfrm>
          <a:prstGeom prst="rect">
            <a:avLst/>
          </a:prstGeom>
          <a:ln w="12700">
            <a:solidFill>
              <a:srgbClr val="EEF4F3"/>
            </a:solidFill>
            <a:prstDash val="solid"/>
          </a:ln>
        </p:spPr>
      </p:sp>
      <p:sp>
        <p:nvSpPr>
          <p:cNvPr id="5" name="callout 1"/>
          <p:cNvSpPr/>
          <p:nvPr/>
        </p:nvSpPr>
        <p:spPr>
          <a:xfrm>
            <a:off x="5907938" y="2012594"/>
            <a:ext cx="329184" cy="329184"/>
          </a:xfrm>
          <a:prstGeom prst="ellipse">
            <a:avLst/>
          </a:prstGeom>
          <a:solidFill>
            <a:schemeClr val="accent2"/>
          </a:solidFill>
          <a:ln w="19050">
            <a:solidFill>
              <a:srgbClr val="FFFFFF"/>
            </a:solidFill>
            <a:prstDash val="solid"/>
          </a:ln>
        </p:spPr>
      </p:sp>
      <p:sp>
        <p:nvSpPr>
          <p:cNvPr id="6" name="callout 1 number"/>
          <p:cNvSpPr txBox="1"/>
          <p:nvPr/>
        </p:nvSpPr>
        <p:spPr>
          <a:xfrm>
            <a:off x="5907938" y="201259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callout 2"/>
          <p:cNvSpPr/>
          <p:nvPr/>
        </p:nvSpPr>
        <p:spPr>
          <a:xfrm>
            <a:off x="510235" y="4076395"/>
            <a:ext cx="329184" cy="329184"/>
          </a:xfrm>
          <a:prstGeom prst="ellipse">
            <a:avLst/>
          </a:prstGeom>
          <a:solidFill>
            <a:schemeClr val="accent2"/>
          </a:solidFill>
          <a:ln w="19050">
            <a:solidFill>
              <a:srgbClr val="FFFFFF"/>
            </a:solidFill>
            <a:prstDash val="solid"/>
          </a:ln>
        </p:spPr>
      </p:sp>
      <p:sp>
        <p:nvSpPr>
          <p:cNvPr id="8" name="callout 2 number"/>
          <p:cNvSpPr txBox="1"/>
          <p:nvPr/>
        </p:nvSpPr>
        <p:spPr>
          <a:xfrm>
            <a:off x="510235" y="4076395"/>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callout 3"/>
          <p:cNvSpPr/>
          <p:nvPr/>
        </p:nvSpPr>
        <p:spPr>
          <a:xfrm>
            <a:off x="447142" y="2296058"/>
            <a:ext cx="329184" cy="329184"/>
          </a:xfrm>
          <a:prstGeom prst="ellipse">
            <a:avLst/>
          </a:prstGeom>
          <a:solidFill>
            <a:schemeClr val="accent2"/>
          </a:solidFill>
          <a:ln w="19050">
            <a:solidFill>
              <a:srgbClr val="FFFFFF"/>
            </a:solidFill>
            <a:prstDash val="solid"/>
          </a:ln>
        </p:spPr>
      </p:sp>
      <p:sp>
        <p:nvSpPr>
          <p:cNvPr id="10" name="callout 3 number"/>
          <p:cNvSpPr txBox="1"/>
          <p:nvPr/>
        </p:nvSpPr>
        <p:spPr>
          <a:xfrm>
            <a:off x="447142" y="229605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legend 1"/>
          <p:cNvSpPr/>
          <p:nvPr/>
        </p:nvSpPr>
        <p:spPr>
          <a:xfrm>
            <a:off x="8412480" y="1280160"/>
            <a:ext cx="329184" cy="329184"/>
          </a:xfrm>
          <a:prstGeom prst="ellipse">
            <a:avLst/>
          </a:prstGeom>
          <a:solidFill>
            <a:schemeClr val="accent2"/>
          </a:solidFill>
          <a:ln w="12700">
            <a:solidFill>
              <a:schemeClr val="accent2"/>
            </a:solidFill>
            <a:prstDash val="solid"/>
          </a:ln>
        </p:spPr>
      </p:sp>
      <p:sp>
        <p:nvSpPr>
          <p:cNvPr id="12" name="Text 9"/>
          <p:cNvSpPr txBox="1"/>
          <p:nvPr/>
        </p:nvSpPr>
        <p:spPr>
          <a:xfrm>
            <a:off x="841248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3" name="Text 10"/>
          <p:cNvSpPr txBox="1"/>
          <p:nvPr/>
        </p:nvSpPr>
        <p:spPr>
          <a:xfrm>
            <a:off x="8869680" y="1280160"/>
            <a:ext cx="2834640" cy="868680"/>
          </a:xfrm>
          <a:prstGeom prst="rect">
            <a:avLst/>
          </a:prstGeom>
          <a:noFill/>
          <a:ln/>
        </p:spPr>
        <p:txBody>
          <a:bodyPr wrap="square" lIns="0" tIns="0" rIns="0" bIns="0" rtlCol="0" anchor="t"/>
          <a:lstStyle/>
          <a:p>
            <a:pPr indent="0" marL="0">
              <a:buNone/>
            </a:pPr>
            <a:r>
              <a:rPr lang="en-US" sz="1500" b="1" dirty="0">
                <a:solidFill>
                  <a:schemeClr val="tx1"/>
                </a:solidFill>
              </a:rPr>
              <a:t>Click a segment</a:t>
            </a:r>
            <a:pPr indent="0" marL="0">
              <a:buNone/>
            </a:pPr>
            <a:r>
              <a:rPr lang="en-US" sz="1500" dirty="0">
                <a:solidFill>
                  <a:schemeClr val="tx1"/>
                </a:solidFill>
              </a:rPr>
              <a:t>  in the strip above the plot</a:t>
            </a:r>
            <a:endParaRPr lang="en-US" sz="1500" dirty="0"/>
          </a:p>
        </p:txBody>
      </p:sp>
      <p:sp>
        <p:nvSpPr>
          <p:cNvPr id="14" name="legend 2"/>
          <p:cNvSpPr/>
          <p:nvPr/>
        </p:nvSpPr>
        <p:spPr>
          <a:xfrm>
            <a:off x="8412480" y="2194560"/>
            <a:ext cx="329184" cy="329184"/>
          </a:xfrm>
          <a:prstGeom prst="ellipse">
            <a:avLst/>
          </a:prstGeom>
          <a:solidFill>
            <a:schemeClr val="accent2"/>
          </a:solidFill>
          <a:ln w="12700">
            <a:solidFill>
              <a:schemeClr val="accent2"/>
            </a:solidFill>
            <a:prstDash val="solid"/>
          </a:ln>
        </p:spPr>
      </p:sp>
      <p:sp>
        <p:nvSpPr>
          <p:cNvPr id="15" name="Text 12"/>
          <p:cNvSpPr txBox="1"/>
          <p:nvPr/>
        </p:nvSpPr>
        <p:spPr>
          <a:xfrm>
            <a:off x="8412480" y="21945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Text 13"/>
          <p:cNvSpPr txBox="1"/>
          <p:nvPr/>
        </p:nvSpPr>
        <p:spPr>
          <a:xfrm>
            <a:off x="8869680" y="2194560"/>
            <a:ext cx="2834640" cy="868680"/>
          </a:xfrm>
          <a:prstGeom prst="rect">
            <a:avLst/>
          </a:prstGeom>
          <a:noFill/>
          <a:ln/>
        </p:spPr>
        <p:txBody>
          <a:bodyPr wrap="square" lIns="0" tIns="0" rIns="0" bIns="0" rtlCol="0" anchor="t"/>
          <a:lstStyle/>
          <a:p>
            <a:pPr indent="0" marL="0">
              <a:buNone/>
            </a:pPr>
            <a:r>
              <a:rPr lang="en-US" sz="1500" b="1" dirty="0">
                <a:solidFill>
                  <a:schemeClr val="tx1"/>
                </a:solidFill>
              </a:rPr>
              <a:t>Edit its values</a:t>
            </a:r>
            <a:pPr indent="0" marL="0">
              <a:buNone/>
            </a:pPr>
            <a:r>
              <a:rPr lang="en-US" sz="1500" dirty="0">
                <a:solidFill>
                  <a:schemeClr val="tx1"/>
                </a:solidFill>
              </a:rPr>
              <a:t>  the same form, already filled in</a:t>
            </a:r>
            <a:endParaRPr lang="en-US" sz="1500" dirty="0"/>
          </a:p>
        </p:txBody>
      </p:sp>
      <p:sp>
        <p:nvSpPr>
          <p:cNvPr id="17" name="legend 3"/>
          <p:cNvSpPr/>
          <p:nvPr/>
        </p:nvSpPr>
        <p:spPr>
          <a:xfrm>
            <a:off x="8412480" y="3108960"/>
            <a:ext cx="329184" cy="329184"/>
          </a:xfrm>
          <a:prstGeom prst="ellipse">
            <a:avLst/>
          </a:prstGeom>
          <a:solidFill>
            <a:schemeClr val="accent2"/>
          </a:solidFill>
          <a:ln w="12700">
            <a:solidFill>
              <a:schemeClr val="accent2"/>
            </a:solidFill>
            <a:prstDash val="solid"/>
          </a:ln>
        </p:spPr>
      </p:sp>
      <p:sp>
        <p:nvSpPr>
          <p:cNvPr id="18" name="Text 15"/>
          <p:cNvSpPr txBox="1"/>
          <p:nvPr/>
        </p:nvSpPr>
        <p:spPr>
          <a:xfrm>
            <a:off x="8412480" y="31089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 16"/>
          <p:cNvSpPr txBox="1"/>
          <p:nvPr/>
        </p:nvSpPr>
        <p:spPr>
          <a:xfrm>
            <a:off x="8869680" y="3108960"/>
            <a:ext cx="2834640" cy="868680"/>
          </a:xfrm>
          <a:prstGeom prst="rect">
            <a:avLst/>
          </a:prstGeom>
          <a:noFill/>
          <a:ln/>
        </p:spPr>
        <p:txBody>
          <a:bodyPr wrap="square" lIns="0" tIns="0" rIns="0" bIns="0" rtlCol="0" anchor="t"/>
          <a:lstStyle/>
          <a:p>
            <a:pPr indent="0" marL="0">
              <a:buNone/>
            </a:pPr>
            <a:r>
              <a:rPr lang="en-US" sz="1500" b="1" dirty="0">
                <a:solidFill>
                  <a:schemeClr val="tx1"/>
                </a:solidFill>
              </a:rPr>
              <a:t>Apply</a:t>
            </a:r>
            <a:pPr indent="0" marL="0">
              <a:buNone/>
            </a:pPr>
            <a:r>
              <a:rPr lang="en-US" sz="1500" dirty="0">
                <a:solidFill>
                  <a:schemeClr val="tx1"/>
                </a:solidFill>
              </a:rPr>
              <a:t>  only that line changes</a:t>
            </a:r>
            <a:endParaRPr lang="en-US" sz="1500" dirty="0"/>
          </a:p>
        </p:txBody>
      </p:sp>
      <p:sp>
        <p:nvSpPr>
          <p:cNvPr id="20" name="Text 17"/>
          <p:cNvSpPr txBox="1"/>
          <p:nvPr/>
        </p:nvSpPr>
        <p:spPr>
          <a:xfrm>
            <a:off x="8412480" y="4297680"/>
            <a:ext cx="3291840" cy="1097280"/>
          </a:xfrm>
          <a:prstGeom prst="rect">
            <a:avLst/>
          </a:prstGeom>
          <a:noFill/>
          <a:ln/>
        </p:spPr>
        <p:txBody>
          <a:bodyPr wrap="square" lIns="0" tIns="0" rIns="0" bIns="0" rtlCol="0" anchor="t"/>
          <a:lstStyle/>
          <a:p>
            <a:pPr indent="0" marL="0">
              <a:buNone/>
            </a:pPr>
            <a:r>
              <a:rPr lang="en-US" sz="1400" i="1" dirty="0">
                <a:solidFill>
                  <a:schemeClr val="accent6"/>
                </a:solidFill>
              </a:rPr>
              <a:t>Or put the cursor on a line and choose Edit → Edit the segment at the cursor.</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Combine: a step with noise on top</a:t>
            </a:r>
            <a:endParaRPr lang="en-US" sz="3000" dirty="0"/>
          </a:p>
        </p:txBody>
      </p:sp>
      <p:sp>
        <p:nvSpPr>
          <p:cNvPr id="3" name="before card"/>
          <p:cNvSpPr/>
          <p:nvPr/>
        </p:nvSpPr>
        <p:spPr>
          <a:xfrm>
            <a:off x="548640" y="1280160"/>
            <a:ext cx="4480560" cy="1371600"/>
          </a:xfrm>
          <a:prstGeom prst="roundRect">
            <a:avLst>
              <a:gd name="adj" fmla="val 8000"/>
            </a:avLst>
          </a:prstGeom>
          <a:solidFill>
            <a:schemeClr val="tx1"/>
          </a:solidFill>
          <a:ln w="12700">
            <a:solidFill>
              <a:schemeClr val="tx1"/>
            </a:solidFill>
            <a:prstDash val="solid"/>
          </a:ln>
        </p:spPr>
      </p:sp>
      <p:sp>
        <p:nvSpPr>
          <p:cNvPr id="4" name="Text 2"/>
          <p:cNvSpPr txBox="1"/>
          <p:nvPr/>
        </p:nvSpPr>
        <p:spPr>
          <a:xfrm>
            <a:off x="777240" y="1389888"/>
            <a:ext cx="402336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before: select line 2</a:t>
            </a:r>
            <a:endParaRPr lang="en-US" sz="1100" dirty="0"/>
          </a:p>
        </p:txBody>
      </p:sp>
      <p:sp>
        <p:nvSpPr>
          <p:cNvPr id="5" name="before text"/>
          <p:cNvSpPr txBox="1"/>
          <p:nvPr/>
        </p:nvSpPr>
        <p:spPr>
          <a:xfrm>
            <a:off x="777240" y="1691640"/>
            <a:ext cx="4023360" cy="822960"/>
          </a:xfrm>
          <a:prstGeom prst="rect">
            <a:avLst/>
          </a:prstGeom>
          <a:noFill/>
          <a:ln/>
        </p:spPr>
        <p:txBody>
          <a:bodyPr wrap="square" lIns="0" tIns="0" rIns="0" bIns="0" rtlCol="0" anchor="t"/>
          <a:lstStyle/>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1s  dc(0)</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3s  dc(100)</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1s  dc(0)</a:t>
            </a:r>
            <a:endParaRPr lang="en-US" sz="1600" dirty="0"/>
          </a:p>
        </p:txBody>
      </p:sp>
      <p:sp>
        <p:nvSpPr>
          <p:cNvPr id="6" name="Text 4"/>
          <p:cNvSpPr txBox="1"/>
          <p:nvPr/>
        </p:nvSpPr>
        <p:spPr>
          <a:xfrm>
            <a:off x="548640" y="2788920"/>
            <a:ext cx="4480560" cy="640080"/>
          </a:xfrm>
          <a:prstGeom prst="rect">
            <a:avLst/>
          </a:prstGeom>
          <a:noFill/>
          <a:ln/>
        </p:spPr>
        <p:txBody>
          <a:bodyPr wrap="square" lIns="0" tIns="0" rIns="0" bIns="0" rtlCol="0" anchor="t"/>
          <a:lstStyle/>
          <a:p>
            <a:pPr indent="0" marL="0">
              <a:buNone/>
            </a:pPr>
            <a:r>
              <a:rPr lang="en-US" sz="1400" b="1" dirty="0">
                <a:solidFill>
                  <a:schemeClr val="accent2"/>
                </a:solidFill>
              </a:rPr>
              <a:t>Edit → Combine the selection with a generator → ou, operation + add</a:t>
            </a:r>
            <a:endParaRPr lang="en-US" sz="1400" dirty="0"/>
          </a:p>
        </p:txBody>
      </p:sp>
      <p:sp>
        <p:nvSpPr>
          <p:cNvPr id="7" name="after card"/>
          <p:cNvSpPr/>
          <p:nvPr/>
        </p:nvSpPr>
        <p:spPr>
          <a:xfrm>
            <a:off x="548640" y="3429000"/>
            <a:ext cx="4480560" cy="1463040"/>
          </a:xfrm>
          <a:prstGeom prst="roundRect">
            <a:avLst>
              <a:gd name="adj" fmla="val 7500"/>
            </a:avLst>
          </a:prstGeom>
          <a:solidFill>
            <a:schemeClr val="tx1"/>
          </a:solidFill>
          <a:ln w="12700">
            <a:solidFill>
              <a:schemeClr val="tx1"/>
            </a:solidFill>
            <a:prstDash val="solid"/>
          </a:ln>
        </p:spPr>
      </p:sp>
      <p:sp>
        <p:nvSpPr>
          <p:cNvPr id="8" name="Text 6"/>
          <p:cNvSpPr txBox="1"/>
          <p:nvPr/>
        </p:nvSpPr>
        <p:spPr>
          <a:xfrm>
            <a:off x="777240" y="3538728"/>
            <a:ext cx="402336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after</a:t>
            </a:r>
            <a:endParaRPr lang="en-US" sz="1100" dirty="0"/>
          </a:p>
        </p:txBody>
      </p:sp>
      <p:sp>
        <p:nvSpPr>
          <p:cNvPr id="9" name="after text"/>
          <p:cNvSpPr txBox="1"/>
          <p:nvPr/>
        </p:nvSpPr>
        <p:spPr>
          <a:xfrm>
            <a:off x="777240" y="3840480"/>
            <a:ext cx="4023360" cy="914400"/>
          </a:xfrm>
          <a:prstGeom prst="rect">
            <a:avLst/>
          </a:prstGeom>
          <a:noFill/>
          <a:ln/>
        </p:spPr>
        <p:txBody>
          <a:bodyPr wrap="square" lIns="0" tIns="0" rIns="0" bIns="0" rtlCol="0" anchor="t"/>
          <a:lstStyle/>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1s  dc(0)</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3s  (dc(100)) + ou(mean=0,</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        sd=20, tau=5ms)</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1s  dc(0)</a:t>
            </a:r>
            <a:endParaRPr lang="en-US" sz="1600" dirty="0"/>
          </a:p>
        </p:txBody>
      </p:sp>
      <p:sp>
        <p:nvSpPr>
          <p:cNvPr id="10" name="Text 8"/>
          <p:cNvSpPr txBox="1"/>
          <p:nvPr/>
        </p:nvSpPr>
        <p:spPr>
          <a:xfrm>
            <a:off x="548640" y="5120640"/>
            <a:ext cx="4480560" cy="914400"/>
          </a:xfrm>
          <a:prstGeom prst="rect">
            <a:avLst/>
          </a:prstGeom>
          <a:noFill/>
          <a:ln/>
        </p:spPr>
        <p:txBody>
          <a:bodyPr wrap="square" lIns="0" tIns="0" rIns="0" bIns="0" rtlCol="0" anchor="t"/>
          <a:lstStyle/>
          <a:p>
            <a:pPr indent="0" marL="0">
              <a:buNone/>
            </a:pPr>
            <a:r>
              <a:rPr lang="en-US" sz="1400" dirty="0">
                <a:solidFill>
                  <a:schemeClr val="tx1"/>
                </a:solidFill>
              </a:rPr>
              <a:t>The same way: multiply by an envelope, Edit → Repeat lines N times, add a marker for the analysis.</a:t>
            </a:r>
            <a:endParaRPr lang="en-US" sz="1400" dirty="0"/>
          </a:p>
        </p:txBody>
      </p:sp>
      <p:pic>
        <p:nvPicPr>
          <p:cNvPr id="11" name="screenshot combine-done" descr="A step with noise added">    </p:cNvPr>
          <p:cNvPicPr>
            <a:picLocks noChangeAspect="1"/>
          </p:cNvPicPr>
          <p:nvPr/>
        </p:nvPicPr>
        <p:blipFill>
          <a:blip r:embed="rId1"/>
          <a:srcRect l="38889" r="0" t="18605" b="0"/>
          <a:stretch/>
        </p:blipFill>
        <p:spPr>
          <a:xfrm>
            <a:off x="5325727" y="1234440"/>
            <a:ext cx="6264946" cy="4983480"/>
          </a:xfrm>
          <a:prstGeom prst="rect">
            <a:avLst/>
          </a:prstGeom>
        </p:spPr>
      </p:pic>
      <p:sp>
        <p:nvSpPr>
          <p:cNvPr id="12" name="frame combine-done"/>
          <p:cNvSpPr/>
          <p:nvPr/>
        </p:nvSpPr>
        <p:spPr>
          <a:xfrm>
            <a:off x="5325727" y="1234440"/>
            <a:ext cx="6264946" cy="4983480"/>
          </a:xfrm>
          <a:prstGeom prst="rect">
            <a:avLst/>
          </a:prstGeom>
          <a:ln w="12700">
            <a:solidFill>
              <a:srgbClr val="EEF4F3"/>
            </a:solidFill>
            <a:prstDash val="solid"/>
          </a:ln>
        </p:spPr>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From one step to a whole protocol</a:t>
            </a:r>
            <a:endParaRPr lang="en-US" sz="3000" dirty="0"/>
          </a:p>
        </p:txBody>
      </p:sp>
      <p:sp>
        <p:nvSpPr>
          <p:cNvPr id="3" name="step 1"/>
          <p:cNvSpPr/>
          <p:nvPr/>
        </p:nvSpPr>
        <p:spPr>
          <a:xfrm>
            <a:off x="548640" y="1234440"/>
            <a:ext cx="411480" cy="411480"/>
          </a:xfrm>
          <a:prstGeom prst="ellipse">
            <a:avLst/>
          </a:prstGeom>
          <a:solidFill>
            <a:schemeClr val="accent2"/>
          </a:solidFill>
          <a:ln w="12700">
            <a:solidFill>
              <a:schemeClr val="accent2"/>
            </a:solidFill>
            <a:prstDash val="solid"/>
          </a:ln>
        </p:spPr>
      </p:sp>
      <p:sp>
        <p:nvSpPr>
          <p:cNvPr id="4" name="Text 2"/>
          <p:cNvSpPr txBox="1"/>
          <p:nvPr/>
        </p:nvSpPr>
        <p:spPr>
          <a:xfrm>
            <a:off x="548640" y="12344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097280" y="1280160"/>
            <a:ext cx="3108960" cy="411480"/>
          </a:xfrm>
          <a:prstGeom prst="rect">
            <a:avLst/>
          </a:prstGeom>
          <a:noFill/>
          <a:ln/>
        </p:spPr>
        <p:txBody>
          <a:bodyPr wrap="square" lIns="0" tIns="0" rIns="0" bIns="0" rtlCol="0" anchor="t"/>
          <a:lstStyle/>
          <a:p>
            <a:pPr indent="0" marL="0">
              <a:buNone/>
            </a:pPr>
            <a:r>
              <a:rPr lang="en-US" sz="1600" b="1" dirty="0">
                <a:solidFill>
                  <a:schemeClr val="tx1"/>
                </a:solidFill>
              </a:rPr>
              <a:t>Select a value</a:t>
            </a:r>
            <a:pPr indent="0" marL="0">
              <a:buNone/>
            </a:pPr>
            <a:r>
              <a:rPr lang="en-US" sz="1600" dirty="0">
                <a:solidFill>
                  <a:schemeClr val="tx1"/>
                </a:solidFill>
              </a:rPr>
              <a:t>  in the text: 300pA</a:t>
            </a:r>
            <a:endParaRPr lang="en-US" sz="1600" dirty="0"/>
          </a:p>
        </p:txBody>
      </p:sp>
      <p:sp>
        <p:nvSpPr>
          <p:cNvPr id="6" name="step 2"/>
          <p:cNvSpPr/>
          <p:nvPr/>
        </p:nvSpPr>
        <p:spPr>
          <a:xfrm>
            <a:off x="4343400" y="1234440"/>
            <a:ext cx="411480" cy="411480"/>
          </a:xfrm>
          <a:prstGeom prst="ellipse">
            <a:avLst/>
          </a:prstGeom>
          <a:solidFill>
            <a:schemeClr val="accent2"/>
          </a:solidFill>
          <a:ln w="12700">
            <a:solidFill>
              <a:schemeClr val="accent2"/>
            </a:solidFill>
            <a:prstDash val="solid"/>
          </a:ln>
        </p:spPr>
      </p:sp>
      <p:sp>
        <p:nvSpPr>
          <p:cNvPr id="7" name="Text 5"/>
          <p:cNvSpPr txBox="1"/>
          <p:nvPr/>
        </p:nvSpPr>
        <p:spPr>
          <a:xfrm>
            <a:off x="4343400" y="12344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Text 6"/>
          <p:cNvSpPr txBox="1"/>
          <p:nvPr/>
        </p:nvSpPr>
        <p:spPr>
          <a:xfrm>
            <a:off x="4892040" y="1280160"/>
            <a:ext cx="3108960" cy="411480"/>
          </a:xfrm>
          <a:prstGeom prst="rect">
            <a:avLst/>
          </a:prstGeom>
          <a:noFill/>
          <a:ln/>
        </p:spPr>
        <p:txBody>
          <a:bodyPr wrap="square" lIns="0" tIns="0" rIns="0" bIns="0" rtlCol="0" anchor="t"/>
          <a:lstStyle/>
          <a:p>
            <a:pPr indent="0" marL="0">
              <a:buNone/>
            </a:pPr>
            <a:r>
              <a:rPr lang="en-US" sz="1600" b="1" dirty="0">
                <a:solidFill>
                  <a:schemeClr val="tx1"/>
                </a:solidFill>
              </a:rPr>
              <a:t>Make → Sweep</a:t>
            </a:r>
            <a:pPr indent="0" marL="0">
              <a:buNone/>
            </a:pPr>
            <a:r>
              <a:rPr lang="en-US" sz="1600" dirty="0">
                <a:solidFill>
                  <a:schemeClr val="tx1"/>
                </a:solidFill>
              </a:rPr>
              <a:t>  give the values</a:t>
            </a:r>
            <a:endParaRPr lang="en-US" sz="1600" dirty="0"/>
          </a:p>
        </p:txBody>
      </p:sp>
      <p:sp>
        <p:nvSpPr>
          <p:cNvPr id="9" name="step 3"/>
          <p:cNvSpPr/>
          <p:nvPr/>
        </p:nvSpPr>
        <p:spPr>
          <a:xfrm>
            <a:off x="8138160" y="1234440"/>
            <a:ext cx="411480" cy="411480"/>
          </a:xfrm>
          <a:prstGeom prst="ellipse">
            <a:avLst/>
          </a:prstGeom>
          <a:solidFill>
            <a:schemeClr val="accent2"/>
          </a:solidFill>
          <a:ln w="12700">
            <a:solidFill>
              <a:schemeClr val="accent2"/>
            </a:solidFill>
            <a:prstDash val="solid"/>
          </a:ln>
        </p:spPr>
      </p:sp>
      <p:sp>
        <p:nvSpPr>
          <p:cNvPr id="10" name="Text 8"/>
          <p:cNvSpPr txBox="1"/>
          <p:nvPr/>
        </p:nvSpPr>
        <p:spPr>
          <a:xfrm>
            <a:off x="8138160" y="12344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1" name="Text 9"/>
          <p:cNvSpPr txBox="1"/>
          <p:nvPr/>
        </p:nvSpPr>
        <p:spPr>
          <a:xfrm>
            <a:off x="8686800" y="1280160"/>
            <a:ext cx="3108960" cy="411480"/>
          </a:xfrm>
          <a:prstGeom prst="rect">
            <a:avLst/>
          </a:prstGeom>
          <a:noFill/>
          <a:ln/>
        </p:spPr>
        <p:txBody>
          <a:bodyPr wrap="square" lIns="0" tIns="0" rIns="0" bIns="0" rtlCol="0" anchor="t"/>
          <a:lstStyle/>
          <a:p>
            <a:pPr indent="0" marL="0">
              <a:buNone/>
            </a:pPr>
            <a:r>
              <a:rPr lang="en-US" sz="1600" b="1" dirty="0">
                <a:solidFill>
                  <a:schemeClr val="tx1"/>
                </a:solidFill>
              </a:rPr>
              <a:t>Done</a:t>
            </a:r>
            <a:pPr indent="0" marL="0">
              <a:buNone/>
            </a:pPr>
            <a:r>
              <a:rPr lang="en-US" sz="1600" dirty="0">
                <a:solidFill>
                  <a:schemeClr val="tx1"/>
                </a:solidFill>
              </a:rPr>
              <a:t>  a protocol, one trial per value</a:t>
            </a:r>
            <a:endParaRPr lang="en-US" sz="1600" dirty="0"/>
          </a:p>
        </p:txBody>
      </p:sp>
      <p:pic>
        <p:nvPicPr>
          <p:cNvPr id="12" name="screenshot sweep-dialog" descr="The sweep dialog">    </p:cNvPr>
          <p:cNvPicPr>
            <a:picLocks noChangeAspect="1"/>
          </p:cNvPicPr>
          <p:nvPr/>
        </p:nvPicPr>
        <p:blipFill>
          <a:blip r:embed="rId1"/>
          <a:srcRect l="13889" r="26389" t="18605" b="23256"/>
          <a:stretch/>
        </p:blipFill>
        <p:spPr>
          <a:xfrm>
            <a:off x="548640" y="2451336"/>
            <a:ext cx="5486400" cy="3189767"/>
          </a:xfrm>
          <a:prstGeom prst="rect">
            <a:avLst/>
          </a:prstGeom>
        </p:spPr>
      </p:pic>
      <p:sp>
        <p:nvSpPr>
          <p:cNvPr id="13" name="frame sweep-dialog"/>
          <p:cNvSpPr/>
          <p:nvPr/>
        </p:nvSpPr>
        <p:spPr>
          <a:xfrm>
            <a:off x="548640" y="2451336"/>
            <a:ext cx="5486400" cy="3189767"/>
          </a:xfrm>
          <a:prstGeom prst="rect">
            <a:avLst/>
          </a:prstGeom>
          <a:ln w="12700">
            <a:solidFill>
              <a:srgbClr val="EEF4F3"/>
            </a:solidFill>
            <a:prstDash val="solid"/>
          </a:ln>
        </p:spPr>
      </p:sp>
      <p:pic>
        <p:nvPicPr>
          <p:cNvPr id="14" name="screenshot sweep-done" descr="The resulting protocol with its trials">    </p:cNvPr>
          <p:cNvPicPr>
            <a:picLocks noChangeAspect="1"/>
          </p:cNvPicPr>
          <p:nvPr/>
        </p:nvPicPr>
        <p:blipFill>
          <a:blip r:embed="rId2"/>
          <a:stretch>
            <a:fillRect/>
          </a:stretch>
        </p:blipFill>
        <p:spPr>
          <a:xfrm>
            <a:off x="6172200" y="2421573"/>
            <a:ext cx="5440680" cy="3249295"/>
          </a:xfrm>
          <a:prstGeom prst="rect">
            <a:avLst/>
          </a:prstGeom>
        </p:spPr>
      </p:pic>
      <p:sp>
        <p:nvSpPr>
          <p:cNvPr id="15" name="frame sweep-done"/>
          <p:cNvSpPr/>
          <p:nvPr/>
        </p:nvSpPr>
        <p:spPr>
          <a:xfrm>
            <a:off x="6172200" y="2421573"/>
            <a:ext cx="5440680" cy="3249295"/>
          </a:xfrm>
          <a:prstGeom prst="rect">
            <a:avLst/>
          </a:prstGeom>
          <a:ln w="12700">
            <a:solidFill>
              <a:srgbClr val="EEF4F3"/>
            </a:solidFill>
            <a:prstDash val="solid"/>
          </a:ln>
        </p:spPr>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The protocol language reads like English</a:t>
            </a:r>
            <a:endParaRPr lang="en-US" sz="3000" dirty="0"/>
          </a:p>
        </p:txBody>
      </p:sp>
      <p:graphicFrame>
        <p:nvGraphicFramePr>
          <p:cNvPr id="11" name="language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5669280"/>
                <a:gridCol w="5394960"/>
              </a:tblGrid>
              <a:tr h="47548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you write</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r>
              <a:tr h="47548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sweep amp = from -300pA to 300pA step 50pA</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amplitudes −300 … +300 pA, every 50 pA</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sweep f = [5Hz, 10Hz, 20Hz]</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these three frequencies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repeat 3</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play every condition 3 times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order shuffled-blocks</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random order; every condition once before any repeats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period 5s     ·     gap 2s</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one trial every 5 s  ·  2 s of pause between trials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noise per-condition</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repetitions get the same noise (frozen noise)</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let charge = amp * dur</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 quantity computed from other variables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dc($amp)</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$amp is replaced by the value of each trial</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bl>
          </a:graphicData>
        </a:graphic>
      </p:graphicFrame>
      <p:sp>
        <p:nvSpPr>
          <p:cNvPr id="4" name="Text 1"/>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400" i="1" dirty="0">
                <a:solidFill>
                  <a:schemeClr val="accent6"/>
                </a:solidFill>
              </a:rPr>
              <a:t>Several sweeps combine into every combination. Help → protocol lists everything.</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See all the trials, or one at a time</a:t>
            </a:r>
            <a:endParaRPr lang="en-US" sz="3000" dirty="0"/>
          </a:p>
        </p:txBody>
      </p:sp>
      <p:pic>
        <p:nvPicPr>
          <p:cNvPr id="3" name="screenshot protocol-overlay" descr="Eight trials overlaid">    </p:cNvPr>
          <p:cNvPicPr>
            <a:picLocks noChangeAspect="1"/>
          </p:cNvPicPr>
          <p:nvPr/>
        </p:nvPicPr>
        <p:blipFill>
          <a:blip r:embed="rId1"/>
          <a:srcRect l="38889" r="0" t="6977" b="0"/>
          <a:stretch/>
        </p:blipFill>
        <p:spPr>
          <a:xfrm>
            <a:off x="978408" y="1188720"/>
            <a:ext cx="4626864" cy="4206240"/>
          </a:xfrm>
          <a:prstGeom prst="rect">
            <a:avLst/>
          </a:prstGeom>
        </p:spPr>
      </p:pic>
      <p:sp>
        <p:nvSpPr>
          <p:cNvPr id="4" name="frame protocol-overlay"/>
          <p:cNvSpPr/>
          <p:nvPr/>
        </p:nvSpPr>
        <p:spPr>
          <a:xfrm>
            <a:off x="978408" y="1188720"/>
            <a:ext cx="4626864" cy="4206240"/>
          </a:xfrm>
          <a:prstGeom prst="rect">
            <a:avLst/>
          </a:prstGeom>
          <a:ln w="12700">
            <a:solidFill>
              <a:srgbClr val="EEF4F3"/>
            </a:solidFill>
            <a:prstDash val="solid"/>
          </a:ln>
        </p:spPr>
      </p:sp>
      <p:sp>
        <p:nvSpPr>
          <p:cNvPr id="5" name="callout 1"/>
          <p:cNvSpPr/>
          <p:nvPr/>
        </p:nvSpPr>
        <p:spPr>
          <a:xfrm>
            <a:off x="1116482" y="1025042"/>
            <a:ext cx="329184" cy="329184"/>
          </a:xfrm>
          <a:prstGeom prst="ellipse">
            <a:avLst/>
          </a:prstGeom>
          <a:solidFill>
            <a:schemeClr val="accent2"/>
          </a:solidFill>
          <a:ln w="19050">
            <a:solidFill>
              <a:srgbClr val="FFFFFF"/>
            </a:solidFill>
            <a:prstDash val="solid"/>
          </a:ln>
        </p:spPr>
      </p:sp>
      <p:sp>
        <p:nvSpPr>
          <p:cNvPr id="6" name="callout 1 number"/>
          <p:cNvSpPr txBox="1"/>
          <p:nvPr/>
        </p:nvSpPr>
        <p:spPr>
          <a:xfrm>
            <a:off x="1116482" y="102504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callout 2"/>
          <p:cNvSpPr/>
          <p:nvPr/>
        </p:nvSpPr>
        <p:spPr>
          <a:xfrm>
            <a:off x="2748686" y="1025042"/>
            <a:ext cx="329184" cy="329184"/>
          </a:xfrm>
          <a:prstGeom prst="ellipse">
            <a:avLst/>
          </a:prstGeom>
          <a:solidFill>
            <a:schemeClr val="accent2"/>
          </a:solidFill>
          <a:ln w="19050">
            <a:solidFill>
              <a:srgbClr val="FFFFFF"/>
            </a:solidFill>
            <a:prstDash val="solid"/>
          </a:ln>
        </p:spPr>
      </p:sp>
      <p:sp>
        <p:nvSpPr>
          <p:cNvPr id="8" name="callout 2 number"/>
          <p:cNvSpPr txBox="1"/>
          <p:nvPr/>
        </p:nvSpPr>
        <p:spPr>
          <a:xfrm>
            <a:off x="2748686" y="102504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callout 3"/>
          <p:cNvSpPr/>
          <p:nvPr/>
        </p:nvSpPr>
        <p:spPr>
          <a:xfrm>
            <a:off x="3384194" y="1024128"/>
            <a:ext cx="329184" cy="329184"/>
          </a:xfrm>
          <a:prstGeom prst="ellipse">
            <a:avLst/>
          </a:prstGeom>
          <a:solidFill>
            <a:schemeClr val="accent2"/>
          </a:solidFill>
          <a:ln w="19050">
            <a:solidFill>
              <a:srgbClr val="FFFFFF"/>
            </a:solidFill>
            <a:prstDash val="solid"/>
          </a:ln>
        </p:spPr>
      </p:sp>
      <p:sp>
        <p:nvSpPr>
          <p:cNvPr id="10" name="callout 3 number"/>
          <p:cNvSpPr txBox="1"/>
          <p:nvPr/>
        </p:nvSpPr>
        <p:spPr>
          <a:xfrm>
            <a:off x="3384194" y="10241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pic>
        <p:nvPicPr>
          <p:cNvPr id="11" name="screenshot protocol-stack" descr="Five trials stacked">    </p:cNvPr>
          <p:cNvPicPr>
            <a:picLocks noChangeAspect="1"/>
          </p:cNvPicPr>
          <p:nvPr/>
        </p:nvPicPr>
        <p:blipFill>
          <a:blip r:embed="rId2"/>
          <a:srcRect l="38889" r="0" t="6977" b="0"/>
          <a:stretch/>
        </p:blipFill>
        <p:spPr>
          <a:xfrm>
            <a:off x="6579108" y="1188720"/>
            <a:ext cx="4626864" cy="4206240"/>
          </a:xfrm>
          <a:prstGeom prst="rect">
            <a:avLst/>
          </a:prstGeom>
        </p:spPr>
      </p:pic>
      <p:sp>
        <p:nvSpPr>
          <p:cNvPr id="12" name="frame protocol-stack"/>
          <p:cNvSpPr/>
          <p:nvPr/>
        </p:nvSpPr>
        <p:spPr>
          <a:xfrm>
            <a:off x="6579108" y="1188720"/>
            <a:ext cx="4626864" cy="4206240"/>
          </a:xfrm>
          <a:prstGeom prst="rect">
            <a:avLst/>
          </a:prstGeom>
          <a:ln w="12700">
            <a:solidFill>
              <a:srgbClr val="EEF4F3"/>
            </a:solidFill>
            <a:prstDash val="solid"/>
          </a:ln>
        </p:spPr>
      </p:sp>
      <p:sp>
        <p:nvSpPr>
          <p:cNvPr id="13" name="legend 1"/>
          <p:cNvSpPr/>
          <p:nvPr/>
        </p:nvSpPr>
        <p:spPr>
          <a:xfrm>
            <a:off x="548640" y="5577840"/>
            <a:ext cx="329184" cy="329184"/>
          </a:xfrm>
          <a:prstGeom prst="ellipse">
            <a:avLst/>
          </a:prstGeom>
          <a:solidFill>
            <a:schemeClr val="accent2"/>
          </a:solidFill>
          <a:ln w="12700">
            <a:solidFill>
              <a:schemeClr val="accent2"/>
            </a:solidFill>
            <a:prstDash val="solid"/>
          </a:ln>
        </p:spPr>
      </p:sp>
      <p:sp>
        <p:nvSpPr>
          <p:cNvPr id="14" name="Text 10"/>
          <p:cNvSpPr txBox="1"/>
          <p:nvPr/>
        </p:nvSpPr>
        <p:spPr>
          <a:xfrm>
            <a:off x="548640" y="557784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5" name="Text 11"/>
          <p:cNvSpPr txBox="1"/>
          <p:nvPr/>
        </p:nvSpPr>
        <p:spPr>
          <a:xfrm>
            <a:off x="1005840" y="5577840"/>
            <a:ext cx="3154680" cy="502920"/>
          </a:xfrm>
          <a:prstGeom prst="rect">
            <a:avLst/>
          </a:prstGeom>
          <a:noFill/>
          <a:ln/>
        </p:spPr>
        <p:txBody>
          <a:bodyPr wrap="square" lIns="0" tIns="0" rIns="0" bIns="0" rtlCol="0" anchor="t"/>
          <a:lstStyle/>
          <a:p>
            <a:pPr indent="0" marL="0">
              <a:buNone/>
            </a:pPr>
            <a:r>
              <a:rPr lang="en-US" sz="1400" b="1" dirty="0">
                <a:solidFill>
                  <a:schemeClr val="tx1"/>
                </a:solidFill>
              </a:rPr>
              <a:t>Trial</a:t>
            </a:r>
            <a:pPr indent="0" marL="0">
              <a:buNone/>
            </a:pPr>
            <a:r>
              <a:rPr lang="en-US" sz="1400" dirty="0">
                <a:solidFill>
                  <a:schemeClr val="tx1"/>
                </a:solidFill>
              </a:rPr>
              <a:t>  pick any trial from the list</a:t>
            </a:r>
            <a:endParaRPr lang="en-US" sz="1400" dirty="0"/>
          </a:p>
        </p:txBody>
      </p:sp>
      <p:sp>
        <p:nvSpPr>
          <p:cNvPr id="16" name="legend 2"/>
          <p:cNvSpPr/>
          <p:nvPr/>
        </p:nvSpPr>
        <p:spPr>
          <a:xfrm>
            <a:off x="4251960" y="5577840"/>
            <a:ext cx="329184" cy="329184"/>
          </a:xfrm>
          <a:prstGeom prst="ellipse">
            <a:avLst/>
          </a:prstGeom>
          <a:solidFill>
            <a:schemeClr val="accent2"/>
          </a:solidFill>
          <a:ln w="12700">
            <a:solidFill>
              <a:schemeClr val="accent2"/>
            </a:solidFill>
            <a:prstDash val="solid"/>
          </a:ln>
        </p:spPr>
      </p:sp>
      <p:sp>
        <p:nvSpPr>
          <p:cNvPr id="17" name="Text 13"/>
          <p:cNvSpPr txBox="1"/>
          <p:nvPr/>
        </p:nvSpPr>
        <p:spPr>
          <a:xfrm>
            <a:off x="4251960" y="557784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Text 14"/>
          <p:cNvSpPr txBox="1"/>
          <p:nvPr/>
        </p:nvSpPr>
        <p:spPr>
          <a:xfrm>
            <a:off x="4709160" y="5577840"/>
            <a:ext cx="3154680" cy="502920"/>
          </a:xfrm>
          <a:prstGeom prst="rect">
            <a:avLst/>
          </a:prstGeom>
          <a:noFill/>
          <a:ln/>
        </p:spPr>
        <p:txBody>
          <a:bodyPr wrap="square" lIns="0" tIns="0" rIns="0" bIns="0" rtlCol="0" anchor="t"/>
          <a:lstStyle/>
          <a:p>
            <a:pPr indent="0" marL="0">
              <a:buNone/>
            </a:pPr>
            <a:r>
              <a:rPr lang="en-US" sz="1400" b="1" dirty="0">
                <a:solidFill>
                  <a:schemeClr val="tx1"/>
                </a:solidFill>
              </a:rPr>
              <a:t>Show</a:t>
            </a:r>
            <a:pPr indent="0" marL="0">
              <a:buNone/>
            </a:pPr>
            <a:r>
              <a:rPr lang="en-US" sz="1400" dirty="0">
                <a:solidFill>
                  <a:schemeClr val="tx1"/>
                </a:solidFill>
              </a:rPr>
              <a:t>  this trial · overlay · stack</a:t>
            </a:r>
            <a:endParaRPr lang="en-US" sz="1400" dirty="0"/>
          </a:p>
        </p:txBody>
      </p:sp>
      <p:sp>
        <p:nvSpPr>
          <p:cNvPr id="19" name="legend 3"/>
          <p:cNvSpPr/>
          <p:nvPr/>
        </p:nvSpPr>
        <p:spPr>
          <a:xfrm>
            <a:off x="7955280" y="5577840"/>
            <a:ext cx="329184" cy="329184"/>
          </a:xfrm>
          <a:prstGeom prst="ellipse">
            <a:avLst/>
          </a:prstGeom>
          <a:solidFill>
            <a:schemeClr val="accent2"/>
          </a:solidFill>
          <a:ln w="12700">
            <a:solidFill>
              <a:schemeClr val="accent2"/>
            </a:solidFill>
            <a:prstDash val="solid"/>
          </a:ln>
        </p:spPr>
      </p:sp>
      <p:sp>
        <p:nvSpPr>
          <p:cNvPr id="20" name="Text 16"/>
          <p:cNvSpPr txBox="1"/>
          <p:nvPr/>
        </p:nvSpPr>
        <p:spPr>
          <a:xfrm>
            <a:off x="7955280" y="557784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ext 17"/>
          <p:cNvSpPr txBox="1"/>
          <p:nvPr/>
        </p:nvSpPr>
        <p:spPr>
          <a:xfrm>
            <a:off x="8412480" y="5577840"/>
            <a:ext cx="3154680" cy="502920"/>
          </a:xfrm>
          <a:prstGeom prst="rect">
            <a:avLst/>
          </a:prstGeom>
          <a:noFill/>
          <a:ln/>
        </p:spPr>
        <p:txBody>
          <a:bodyPr wrap="square" lIns="0" tIns="0" rIns="0" bIns="0" rtlCol="0" anchor="t"/>
          <a:lstStyle/>
          <a:p>
            <a:pPr indent="0" marL="0">
              <a:buNone/>
            </a:pPr>
            <a:r>
              <a:rPr lang="en-US" sz="1400" b="1" dirty="0">
                <a:solidFill>
                  <a:schemeClr val="tx1"/>
                </a:solidFill>
              </a:rPr>
              <a:t>Trials</a:t>
            </a:r>
            <a:pPr indent="0" marL="0">
              <a:buNone/>
            </a:pPr>
            <a:r>
              <a:rPr lang="en-US" sz="1400" dirty="0">
                <a:solidFill>
                  <a:schemeClr val="tx1"/>
                </a:solidFill>
              </a:rPr>
              <a:t>  how many, from the selected one</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Watch it play</a:t>
            </a:r>
            <a:endParaRPr lang="en-US" sz="3000" dirty="0"/>
          </a:p>
        </p:txBody>
      </p:sp>
      <p:pic>
        <p:nvPicPr>
          <p:cNvPr id="3" name="screenshot animate" descr="The animation of a paired-pulse protocol">    </p:cNvPr>
          <p:cNvPicPr>
            <a:picLocks noChangeAspect="1"/>
          </p:cNvPicPr>
          <p:nvPr/>
        </p:nvPicPr>
        <p:blipFill>
          <a:blip r:embed="rId1"/>
          <a:stretch>
            <a:fillRect/>
          </a:stretch>
        </p:blipFill>
        <p:spPr>
          <a:xfrm>
            <a:off x="548640" y="1437005"/>
            <a:ext cx="7589520" cy="4532630"/>
          </a:xfrm>
          <a:prstGeom prst="rect">
            <a:avLst/>
          </a:prstGeom>
        </p:spPr>
      </p:pic>
      <p:sp>
        <p:nvSpPr>
          <p:cNvPr id="4" name="frame animate"/>
          <p:cNvSpPr/>
          <p:nvPr/>
        </p:nvSpPr>
        <p:spPr>
          <a:xfrm>
            <a:off x="548640" y="1437005"/>
            <a:ext cx="7589520" cy="4532630"/>
          </a:xfrm>
          <a:prstGeom prst="rect">
            <a:avLst/>
          </a:prstGeom>
          <a:ln w="12700">
            <a:solidFill>
              <a:srgbClr val="EEF4F3"/>
            </a:solidFill>
            <a:prstDash val="solid"/>
          </a:ln>
        </p:spPr>
      </p:sp>
      <p:sp>
        <p:nvSpPr>
          <p:cNvPr id="5" name="callout 1"/>
          <p:cNvSpPr/>
          <p:nvPr/>
        </p:nvSpPr>
        <p:spPr>
          <a:xfrm>
            <a:off x="3451860" y="2100377"/>
            <a:ext cx="329184" cy="329184"/>
          </a:xfrm>
          <a:prstGeom prst="ellipse">
            <a:avLst/>
          </a:prstGeom>
          <a:solidFill>
            <a:schemeClr val="accent2"/>
          </a:solidFill>
          <a:ln w="19050">
            <a:solidFill>
              <a:srgbClr val="FFFFFF"/>
            </a:solidFill>
            <a:prstDash val="solid"/>
          </a:ln>
        </p:spPr>
      </p:sp>
      <p:sp>
        <p:nvSpPr>
          <p:cNvPr id="6" name="callout 1 number"/>
          <p:cNvSpPr txBox="1"/>
          <p:nvPr/>
        </p:nvSpPr>
        <p:spPr>
          <a:xfrm>
            <a:off x="3451860" y="2100377"/>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callout 2"/>
          <p:cNvSpPr/>
          <p:nvPr/>
        </p:nvSpPr>
        <p:spPr>
          <a:xfrm>
            <a:off x="4058107" y="2101291"/>
            <a:ext cx="329184" cy="329184"/>
          </a:xfrm>
          <a:prstGeom prst="ellipse">
            <a:avLst/>
          </a:prstGeom>
          <a:solidFill>
            <a:schemeClr val="accent2"/>
          </a:solidFill>
          <a:ln w="19050">
            <a:solidFill>
              <a:srgbClr val="FFFFFF"/>
            </a:solidFill>
            <a:prstDash val="solid"/>
          </a:ln>
        </p:spPr>
      </p:sp>
      <p:sp>
        <p:nvSpPr>
          <p:cNvPr id="8" name="callout 2 number"/>
          <p:cNvSpPr txBox="1"/>
          <p:nvPr/>
        </p:nvSpPr>
        <p:spPr>
          <a:xfrm>
            <a:off x="4058107" y="2101291"/>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callout 3"/>
          <p:cNvSpPr/>
          <p:nvPr/>
        </p:nvSpPr>
        <p:spPr>
          <a:xfrm>
            <a:off x="4636008" y="2100377"/>
            <a:ext cx="329184" cy="329184"/>
          </a:xfrm>
          <a:prstGeom prst="ellipse">
            <a:avLst/>
          </a:prstGeom>
          <a:solidFill>
            <a:schemeClr val="accent2"/>
          </a:solidFill>
          <a:ln w="19050">
            <a:solidFill>
              <a:srgbClr val="FFFFFF"/>
            </a:solidFill>
            <a:prstDash val="solid"/>
          </a:ln>
        </p:spPr>
      </p:sp>
      <p:sp>
        <p:nvSpPr>
          <p:cNvPr id="10" name="callout 3 number"/>
          <p:cNvSpPr txBox="1"/>
          <p:nvPr/>
        </p:nvSpPr>
        <p:spPr>
          <a:xfrm>
            <a:off x="4636008" y="2100377"/>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callout 4"/>
          <p:cNvSpPr/>
          <p:nvPr/>
        </p:nvSpPr>
        <p:spPr>
          <a:xfrm>
            <a:off x="5843930" y="2560320"/>
            <a:ext cx="329184" cy="329184"/>
          </a:xfrm>
          <a:prstGeom prst="ellipse">
            <a:avLst/>
          </a:prstGeom>
          <a:solidFill>
            <a:schemeClr val="accent2"/>
          </a:solidFill>
          <a:ln w="19050">
            <a:solidFill>
              <a:srgbClr val="FFFFFF"/>
            </a:solidFill>
            <a:prstDash val="solid"/>
          </a:ln>
        </p:spPr>
      </p:sp>
      <p:sp>
        <p:nvSpPr>
          <p:cNvPr id="12" name="callout 4 number"/>
          <p:cNvSpPr txBox="1"/>
          <p:nvPr/>
        </p:nvSpPr>
        <p:spPr>
          <a:xfrm>
            <a:off x="5843930" y="256032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legend 1"/>
          <p:cNvSpPr/>
          <p:nvPr/>
        </p:nvSpPr>
        <p:spPr>
          <a:xfrm>
            <a:off x="8412480" y="1280160"/>
            <a:ext cx="329184" cy="329184"/>
          </a:xfrm>
          <a:prstGeom prst="ellipse">
            <a:avLst/>
          </a:prstGeom>
          <a:solidFill>
            <a:schemeClr val="accent2"/>
          </a:solidFill>
          <a:ln w="12700">
            <a:solidFill>
              <a:schemeClr val="accent2"/>
            </a:solidFill>
            <a:prstDash val="solid"/>
          </a:ln>
        </p:spPr>
      </p:sp>
      <p:sp>
        <p:nvSpPr>
          <p:cNvPr id="14" name="Text 11"/>
          <p:cNvSpPr txBox="1"/>
          <p:nvPr/>
        </p:nvSpPr>
        <p:spPr>
          <a:xfrm>
            <a:off x="841248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5" name="Text 12"/>
          <p:cNvSpPr txBox="1"/>
          <p:nvPr/>
        </p:nvSpPr>
        <p:spPr>
          <a:xfrm>
            <a:off x="8869680" y="1280160"/>
            <a:ext cx="2834640" cy="914400"/>
          </a:xfrm>
          <a:prstGeom prst="rect">
            <a:avLst/>
          </a:prstGeom>
          <a:noFill/>
          <a:ln/>
        </p:spPr>
        <p:txBody>
          <a:bodyPr wrap="square" lIns="0" tIns="0" rIns="0" bIns="0" rtlCol="0" anchor="t"/>
          <a:lstStyle/>
          <a:p>
            <a:pPr indent="0" marL="0">
              <a:buNone/>
            </a:pPr>
            <a:r>
              <a:rPr lang="en-US" sz="1500" b="1" dirty="0">
                <a:solidFill>
                  <a:schemeClr val="tx1"/>
                </a:solidFill>
              </a:rPr>
              <a:t>Play / Pause</a:t>
            </a:r>
            <a:pPr indent="0" marL="0">
              <a:buNone/>
            </a:pPr>
            <a:r>
              <a:rPr lang="en-US" sz="1500" dirty="0">
                <a:solidFill>
                  <a:schemeClr val="tx1"/>
                </a:solidFill>
              </a:rPr>
              <a:t>  a cursor runs through the stimulus</a:t>
            </a:r>
            <a:endParaRPr lang="en-US" sz="1500" dirty="0"/>
          </a:p>
        </p:txBody>
      </p:sp>
      <p:sp>
        <p:nvSpPr>
          <p:cNvPr id="16" name="legend 2"/>
          <p:cNvSpPr/>
          <p:nvPr/>
        </p:nvSpPr>
        <p:spPr>
          <a:xfrm>
            <a:off x="8412480" y="2240280"/>
            <a:ext cx="329184" cy="329184"/>
          </a:xfrm>
          <a:prstGeom prst="ellipse">
            <a:avLst/>
          </a:prstGeom>
          <a:solidFill>
            <a:schemeClr val="accent2"/>
          </a:solidFill>
          <a:ln w="12700">
            <a:solidFill>
              <a:schemeClr val="accent2"/>
            </a:solidFill>
            <a:prstDash val="solid"/>
          </a:ln>
        </p:spPr>
      </p:sp>
      <p:sp>
        <p:nvSpPr>
          <p:cNvPr id="17" name="Text 14"/>
          <p:cNvSpPr txBox="1"/>
          <p:nvPr/>
        </p:nvSpPr>
        <p:spPr>
          <a:xfrm>
            <a:off x="8412480" y="22402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Text 15"/>
          <p:cNvSpPr txBox="1"/>
          <p:nvPr/>
        </p:nvSpPr>
        <p:spPr>
          <a:xfrm>
            <a:off x="8869680" y="2240280"/>
            <a:ext cx="2834640" cy="914400"/>
          </a:xfrm>
          <a:prstGeom prst="rect">
            <a:avLst/>
          </a:prstGeom>
          <a:noFill/>
          <a:ln/>
        </p:spPr>
        <p:txBody>
          <a:bodyPr wrap="square" lIns="0" tIns="0" rIns="0" bIns="0" rtlCol="0" anchor="t"/>
          <a:lstStyle/>
          <a:p>
            <a:pPr indent="0" marL="0">
              <a:buNone/>
            </a:pPr>
            <a:r>
              <a:rPr lang="en-US" sz="1500" b="1" dirty="0">
                <a:solidFill>
                  <a:schemeClr val="tx1"/>
                </a:solidFill>
              </a:rPr>
              <a:t>Speed</a:t>
            </a:r>
            <a:pPr indent="0" marL="0">
              <a:buNone/>
            </a:pPr>
            <a:r>
              <a:rPr lang="en-US" sz="1500" dirty="0">
                <a:solidFill>
                  <a:schemeClr val="tx1"/>
                </a:solidFill>
              </a:rPr>
              <a:t>  ¼× to 20×; 1× is real time</a:t>
            </a:r>
            <a:endParaRPr lang="en-US" sz="1500" dirty="0"/>
          </a:p>
        </p:txBody>
      </p:sp>
      <p:sp>
        <p:nvSpPr>
          <p:cNvPr id="19" name="legend 3"/>
          <p:cNvSpPr/>
          <p:nvPr/>
        </p:nvSpPr>
        <p:spPr>
          <a:xfrm>
            <a:off x="8412480" y="3200400"/>
            <a:ext cx="329184" cy="329184"/>
          </a:xfrm>
          <a:prstGeom prst="ellipse">
            <a:avLst/>
          </a:prstGeom>
          <a:solidFill>
            <a:schemeClr val="accent2"/>
          </a:solidFill>
          <a:ln w="12700">
            <a:solidFill>
              <a:schemeClr val="accent2"/>
            </a:solidFill>
            <a:prstDash val="solid"/>
          </a:ln>
        </p:spPr>
      </p:sp>
      <p:sp>
        <p:nvSpPr>
          <p:cNvPr id="20" name="Text 17"/>
          <p:cNvSpPr txBox="1"/>
          <p:nvPr/>
        </p:nvSpPr>
        <p:spPr>
          <a:xfrm>
            <a:off x="8412480" y="32004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ext 18"/>
          <p:cNvSpPr txBox="1"/>
          <p:nvPr/>
        </p:nvSpPr>
        <p:spPr>
          <a:xfrm>
            <a:off x="8869680" y="3200400"/>
            <a:ext cx="2834640" cy="914400"/>
          </a:xfrm>
          <a:prstGeom prst="rect">
            <a:avLst/>
          </a:prstGeom>
          <a:noFill/>
          <a:ln/>
        </p:spPr>
        <p:txBody>
          <a:bodyPr wrap="square" lIns="0" tIns="0" rIns="0" bIns="0" rtlCol="0" anchor="t"/>
          <a:lstStyle/>
          <a:p>
            <a:pPr indent="0" marL="0">
              <a:buNone/>
            </a:pPr>
            <a:r>
              <a:rPr lang="en-US" sz="1500" b="1" dirty="0">
                <a:solidFill>
                  <a:schemeClr val="tx1"/>
                </a:solidFill>
              </a:rPr>
              <a:t>Interval</a:t>
            </a:r>
            <a:pPr indent="0" marL="0">
              <a:buNone/>
            </a:pPr>
            <a:r>
              <a:rPr lang="en-US" sz="1500" dirty="0">
                <a:solidFill>
                  <a:schemeClr val="tx1"/>
                </a:solidFill>
              </a:rPr>
              <a:t>  time between trials, taken from the protocol</a:t>
            </a:r>
            <a:endParaRPr lang="en-US" sz="1500" dirty="0"/>
          </a:p>
        </p:txBody>
      </p:sp>
      <p:sp>
        <p:nvSpPr>
          <p:cNvPr id="22" name="legend 4"/>
          <p:cNvSpPr/>
          <p:nvPr/>
        </p:nvSpPr>
        <p:spPr>
          <a:xfrm>
            <a:off x="8412480" y="4160520"/>
            <a:ext cx="329184" cy="329184"/>
          </a:xfrm>
          <a:prstGeom prst="ellipse">
            <a:avLst/>
          </a:prstGeom>
          <a:solidFill>
            <a:schemeClr val="accent2"/>
          </a:solidFill>
          <a:ln w="12700">
            <a:solidFill>
              <a:schemeClr val="accent2"/>
            </a:solidFill>
            <a:prstDash val="solid"/>
          </a:ln>
        </p:spPr>
      </p:sp>
      <p:sp>
        <p:nvSpPr>
          <p:cNvPr id="23" name="Text 20"/>
          <p:cNvSpPr txBox="1"/>
          <p:nvPr/>
        </p:nvSpPr>
        <p:spPr>
          <a:xfrm>
            <a:off x="8412480" y="416052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21"/>
          <p:cNvSpPr txBox="1"/>
          <p:nvPr/>
        </p:nvSpPr>
        <p:spPr>
          <a:xfrm>
            <a:off x="8869680" y="4160520"/>
            <a:ext cx="2834640" cy="914400"/>
          </a:xfrm>
          <a:prstGeom prst="rect">
            <a:avLst/>
          </a:prstGeom>
          <a:noFill/>
          <a:ln/>
        </p:spPr>
        <p:txBody>
          <a:bodyPr wrap="square" lIns="0" tIns="0" rIns="0" bIns="0" rtlCol="0" anchor="t"/>
          <a:lstStyle/>
          <a:p>
            <a:pPr indent="0" marL="0">
              <a:buNone/>
            </a:pPr>
            <a:r>
              <a:rPr lang="en-US" sz="1500" b="1" dirty="0">
                <a:solidFill>
                  <a:schemeClr val="tx1"/>
                </a:solidFill>
              </a:rPr>
              <a:t>Trial after trial</a:t>
            </a:r>
            <a:pPr indent="0" marL="0">
              <a:buNone/>
            </a:pPr>
            <a:r>
              <a:rPr lang="en-US" sz="1500" dirty="0">
                <a:solidFill>
                  <a:schemeClr val="tx1"/>
                </a:solidFill>
              </a:rPr>
              <a:t>  highlighted in turn; loop if you like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Noise: new every time, or frozen</a:t>
            </a:r>
            <a:endParaRPr lang="en-US" sz="3000" dirty="0"/>
          </a:p>
        </p:txBody>
      </p:sp>
      <p:pic>
        <p:nvPicPr>
          <p:cNvPr id="3" name="screenshot noise-seed" descr="Fresh and frozen noise">    </p:cNvPr>
          <p:cNvPicPr>
            <a:picLocks noChangeAspect="1"/>
          </p:cNvPicPr>
          <p:nvPr/>
        </p:nvPicPr>
        <p:blipFill>
          <a:blip r:embed="rId1"/>
          <a:stretch>
            <a:fillRect/>
          </a:stretch>
        </p:blipFill>
        <p:spPr>
          <a:xfrm>
            <a:off x="548640" y="1628140"/>
            <a:ext cx="6949440" cy="4150360"/>
          </a:xfrm>
          <a:prstGeom prst="rect">
            <a:avLst/>
          </a:prstGeom>
        </p:spPr>
      </p:pic>
      <p:sp>
        <p:nvSpPr>
          <p:cNvPr id="4" name="frame noise-seed"/>
          <p:cNvSpPr/>
          <p:nvPr/>
        </p:nvSpPr>
        <p:spPr>
          <a:xfrm>
            <a:off x="548640" y="1628140"/>
            <a:ext cx="6949440" cy="4150360"/>
          </a:xfrm>
          <a:prstGeom prst="rect">
            <a:avLst/>
          </a:prstGeom>
          <a:ln w="12700">
            <a:solidFill>
              <a:srgbClr val="EEF4F3"/>
            </a:solidFill>
            <a:prstDash val="solid"/>
          </a:ln>
        </p:spPr>
      </p:sp>
      <p:sp>
        <p:nvSpPr>
          <p:cNvPr id="5" name="callout 1"/>
          <p:cNvSpPr/>
          <p:nvPr/>
        </p:nvSpPr>
        <p:spPr>
          <a:xfrm>
            <a:off x="1196035" y="1743761"/>
            <a:ext cx="329184" cy="329184"/>
          </a:xfrm>
          <a:prstGeom prst="ellipse">
            <a:avLst/>
          </a:prstGeom>
          <a:solidFill>
            <a:schemeClr val="accent2"/>
          </a:solidFill>
          <a:ln w="19050">
            <a:solidFill>
              <a:srgbClr val="FFFFFF"/>
            </a:solidFill>
            <a:prstDash val="solid"/>
          </a:ln>
        </p:spPr>
      </p:sp>
      <p:sp>
        <p:nvSpPr>
          <p:cNvPr id="6" name="callout 1 number"/>
          <p:cNvSpPr txBox="1"/>
          <p:nvPr/>
        </p:nvSpPr>
        <p:spPr>
          <a:xfrm>
            <a:off x="1196035" y="1743761"/>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callout 2"/>
          <p:cNvSpPr/>
          <p:nvPr/>
        </p:nvSpPr>
        <p:spPr>
          <a:xfrm>
            <a:off x="1632204" y="1751990"/>
            <a:ext cx="329184" cy="329184"/>
          </a:xfrm>
          <a:prstGeom prst="ellipse">
            <a:avLst/>
          </a:prstGeom>
          <a:solidFill>
            <a:schemeClr val="accent2"/>
          </a:solidFill>
          <a:ln w="19050">
            <a:solidFill>
              <a:srgbClr val="FFFFFF"/>
            </a:solidFill>
            <a:prstDash val="solid"/>
          </a:ln>
        </p:spPr>
      </p:sp>
      <p:sp>
        <p:nvSpPr>
          <p:cNvPr id="8" name="callout 2 number"/>
          <p:cNvSpPr txBox="1"/>
          <p:nvPr/>
        </p:nvSpPr>
        <p:spPr>
          <a:xfrm>
            <a:off x="1632204" y="175199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callout 3"/>
          <p:cNvSpPr/>
          <p:nvPr/>
        </p:nvSpPr>
        <p:spPr>
          <a:xfrm>
            <a:off x="441655" y="5215738"/>
            <a:ext cx="329184" cy="329184"/>
          </a:xfrm>
          <a:prstGeom prst="ellipse">
            <a:avLst/>
          </a:prstGeom>
          <a:solidFill>
            <a:schemeClr val="accent2"/>
          </a:solidFill>
          <a:ln w="19050">
            <a:solidFill>
              <a:srgbClr val="FFFFFF"/>
            </a:solidFill>
            <a:prstDash val="solid"/>
          </a:ln>
        </p:spPr>
      </p:sp>
      <p:sp>
        <p:nvSpPr>
          <p:cNvPr id="10" name="callout 3 number"/>
          <p:cNvSpPr txBox="1"/>
          <p:nvPr/>
        </p:nvSpPr>
        <p:spPr>
          <a:xfrm>
            <a:off x="441655" y="521573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noise 1 circle"/>
          <p:cNvSpPr/>
          <p:nvPr/>
        </p:nvSpPr>
        <p:spPr>
          <a:xfrm>
            <a:off x="7863840" y="1371600"/>
            <a:ext cx="640080" cy="640080"/>
          </a:xfrm>
          <a:prstGeom prst="ellipse">
            <a:avLst/>
          </a:prstGeom>
          <a:solidFill>
            <a:srgbClr val="0B7A75"/>
          </a:solidFill>
          <a:ln w="12700">
            <a:solidFill>
              <a:srgbClr val="0B7A75"/>
            </a:solidFill>
            <a:prstDash val="solid"/>
          </a:ln>
        </p:spPr>
      </p:sp>
      <p:pic>
        <p:nvPicPr>
          <p:cNvPr id="12" name="noise 1 icon" descr="noise 1">    </p:cNvPr>
          <p:cNvPicPr>
            <a:picLocks noChangeAspect="1"/>
          </p:cNvPicPr>
          <p:nvPr/>
        </p:nvPicPr>
        <p:blipFill>
          <a:blip r:embed="rId2"/>
          <a:stretch>
            <a:fillRect/>
          </a:stretch>
        </p:blipFill>
        <p:spPr>
          <a:xfrm>
            <a:off x="8023860" y="1531620"/>
            <a:ext cx="320040" cy="320040"/>
          </a:xfrm>
          <a:prstGeom prst="rect">
            <a:avLst/>
          </a:prstGeom>
        </p:spPr>
      </p:pic>
      <p:sp>
        <p:nvSpPr>
          <p:cNvPr id="13" name="Text 9"/>
          <p:cNvSpPr txBox="1"/>
          <p:nvPr/>
        </p:nvSpPr>
        <p:spPr>
          <a:xfrm>
            <a:off x="8641080" y="13716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No seed</a:t>
            </a:r>
            <a:endParaRPr lang="en-US" sz="1700" dirty="0"/>
          </a:p>
        </p:txBody>
      </p:sp>
      <p:sp>
        <p:nvSpPr>
          <p:cNvPr id="14" name="Text 10"/>
          <p:cNvSpPr txBox="1"/>
          <p:nvPr/>
        </p:nvSpPr>
        <p:spPr>
          <a:xfrm>
            <a:off x="8641080" y="1755648"/>
            <a:ext cx="3017520" cy="822960"/>
          </a:xfrm>
          <a:prstGeom prst="rect">
            <a:avLst/>
          </a:prstGeom>
          <a:noFill/>
          <a:ln/>
        </p:spPr>
        <p:txBody>
          <a:bodyPr wrap="square" lIns="0" tIns="0" rIns="0" bIns="0" rtlCol="0" anchor="t"/>
          <a:lstStyle/>
          <a:p>
            <a:pPr indent="0" marL="0">
              <a:buNone/>
            </a:pPr>
            <a:r>
              <a:rPr lang="en-US" sz="1400" dirty="0">
                <a:solidFill>
                  <a:schemeClr val="accent6"/>
                </a:solidFill>
              </a:rPr>
              <a:t>a new realisation at every rendering (Plot ⟳ draws again)</a:t>
            </a:r>
            <a:endParaRPr lang="en-US" sz="1400" dirty="0"/>
          </a:p>
        </p:txBody>
      </p:sp>
      <p:sp>
        <p:nvSpPr>
          <p:cNvPr id="15" name="noise 2 circle"/>
          <p:cNvSpPr/>
          <p:nvPr/>
        </p:nvSpPr>
        <p:spPr>
          <a:xfrm>
            <a:off x="7863840" y="2697480"/>
            <a:ext cx="640080" cy="640080"/>
          </a:xfrm>
          <a:prstGeom prst="ellipse">
            <a:avLst/>
          </a:prstGeom>
          <a:solidFill>
            <a:srgbClr val="0B7A75"/>
          </a:solidFill>
          <a:ln w="12700">
            <a:solidFill>
              <a:srgbClr val="0B7A75"/>
            </a:solidFill>
            <a:prstDash val="solid"/>
          </a:ln>
        </p:spPr>
      </p:sp>
      <p:pic>
        <p:nvPicPr>
          <p:cNvPr id="16" name="noise 2 icon" descr="noise 2">    </p:cNvPr>
          <p:cNvPicPr>
            <a:picLocks noChangeAspect="1"/>
          </p:cNvPicPr>
          <p:nvPr/>
        </p:nvPicPr>
        <p:blipFill>
          <a:blip r:embed="rId3"/>
          <a:stretch>
            <a:fillRect/>
          </a:stretch>
        </p:blipFill>
        <p:spPr>
          <a:xfrm>
            <a:off x="8023860" y="2857500"/>
            <a:ext cx="320040" cy="320040"/>
          </a:xfrm>
          <a:prstGeom prst="rect">
            <a:avLst/>
          </a:prstGeom>
        </p:spPr>
      </p:pic>
      <p:sp>
        <p:nvSpPr>
          <p:cNvPr id="17" name="Text 12"/>
          <p:cNvSpPr txBox="1"/>
          <p:nvPr/>
        </p:nvSpPr>
        <p:spPr>
          <a:xfrm>
            <a:off x="8641080" y="2697480"/>
            <a:ext cx="3017520" cy="365760"/>
          </a:xfrm>
          <a:prstGeom prst="rect">
            <a:avLst/>
          </a:prstGeom>
          <a:noFill/>
          <a:ln/>
        </p:spPr>
        <p:txBody>
          <a:bodyPr wrap="square" lIns="0" tIns="0" rIns="0" bIns="0" rtlCol="0" anchor="t"/>
          <a:lstStyle/>
          <a:p>
            <a:pPr indent="0" marL="0">
              <a:buNone/>
            </a:pPr>
            <a:r>
              <a:rPr lang="en-US" sz="1700" b="1" dirty="0">
                <a:solidFill>
                  <a:schemeClr val="tx1"/>
                </a:solidFill>
              </a:rPr>
              <a:t>seed=17 in the text</a:t>
            </a:r>
            <a:endParaRPr lang="en-US" sz="1700" dirty="0"/>
          </a:p>
        </p:txBody>
      </p:sp>
      <p:sp>
        <p:nvSpPr>
          <p:cNvPr id="18" name="Text 13"/>
          <p:cNvSpPr txBox="1"/>
          <p:nvPr/>
        </p:nvSpPr>
        <p:spPr>
          <a:xfrm>
            <a:off x="8641080" y="3081528"/>
            <a:ext cx="3017520" cy="822960"/>
          </a:xfrm>
          <a:prstGeom prst="rect">
            <a:avLst/>
          </a:prstGeom>
          <a:noFill/>
          <a:ln/>
        </p:spPr>
        <p:txBody>
          <a:bodyPr wrap="square" lIns="0" tIns="0" rIns="0" bIns="0" rtlCol="0" anchor="t"/>
          <a:lstStyle/>
          <a:p>
            <a:pPr indent="0" marL="0">
              <a:buNone/>
            </a:pPr>
            <a:r>
              <a:rPr lang="en-US" sz="1400" dirty="0">
                <a:solidFill>
                  <a:schemeClr val="accent6"/>
                </a:solidFill>
              </a:rPr>
              <a:t>that segment is identical, always (frozen noise)</a:t>
            </a:r>
            <a:endParaRPr lang="en-US" sz="1400" dirty="0"/>
          </a:p>
        </p:txBody>
      </p:sp>
      <p:sp>
        <p:nvSpPr>
          <p:cNvPr id="19" name="noise 3 circle"/>
          <p:cNvSpPr/>
          <p:nvPr/>
        </p:nvSpPr>
        <p:spPr>
          <a:xfrm>
            <a:off x="7863840" y="4023360"/>
            <a:ext cx="640080" cy="640080"/>
          </a:xfrm>
          <a:prstGeom prst="ellipse">
            <a:avLst/>
          </a:prstGeom>
          <a:solidFill>
            <a:srgbClr val="0B7A75"/>
          </a:solidFill>
          <a:ln w="12700">
            <a:solidFill>
              <a:srgbClr val="0B7A75"/>
            </a:solidFill>
            <a:prstDash val="solid"/>
          </a:ln>
        </p:spPr>
      </p:sp>
      <p:pic>
        <p:nvPicPr>
          <p:cNvPr id="20" name="noise 3 icon" descr="noise 3">    </p:cNvPr>
          <p:cNvPicPr>
            <a:picLocks noChangeAspect="1"/>
          </p:cNvPicPr>
          <p:nvPr/>
        </p:nvPicPr>
        <p:blipFill>
          <a:blip r:embed="rId4"/>
          <a:stretch>
            <a:fillRect/>
          </a:stretch>
        </p:blipFill>
        <p:spPr>
          <a:xfrm>
            <a:off x="8023860" y="4183380"/>
            <a:ext cx="320040" cy="320040"/>
          </a:xfrm>
          <a:prstGeom prst="rect">
            <a:avLst/>
          </a:prstGeom>
        </p:spPr>
      </p:pic>
      <p:sp>
        <p:nvSpPr>
          <p:cNvPr id="21" name="Text 15"/>
          <p:cNvSpPr txBox="1"/>
          <p:nvPr/>
        </p:nvSpPr>
        <p:spPr>
          <a:xfrm>
            <a:off x="8641080" y="4023360"/>
            <a:ext cx="3017520" cy="365760"/>
          </a:xfrm>
          <a:prstGeom prst="rect">
            <a:avLst/>
          </a:prstGeom>
          <a:noFill/>
          <a:ln/>
        </p:spPr>
        <p:txBody>
          <a:bodyPr wrap="square" lIns="0" tIns="0" rIns="0" bIns="0" rtlCol="0" anchor="t"/>
          <a:lstStyle/>
          <a:p>
            <a:pPr indent="0" marL="0">
              <a:buNone/>
            </a:pPr>
            <a:r>
              <a:rPr lang="en-US" sz="1700" b="1" dirty="0">
                <a:solidFill>
                  <a:schemeClr val="tx1"/>
                </a:solidFill>
              </a:rPr>
              <a:t>keep</a:t>
            </a:r>
            <a:endParaRPr lang="en-US" sz="1700" dirty="0"/>
          </a:p>
        </p:txBody>
      </p:sp>
      <p:sp>
        <p:nvSpPr>
          <p:cNvPr id="22" name="Text 16"/>
          <p:cNvSpPr txBox="1"/>
          <p:nvPr/>
        </p:nvSpPr>
        <p:spPr>
          <a:xfrm>
            <a:off x="8641080" y="4407408"/>
            <a:ext cx="3017520" cy="822960"/>
          </a:xfrm>
          <a:prstGeom prst="rect">
            <a:avLst/>
          </a:prstGeom>
          <a:noFill/>
          <a:ln/>
        </p:spPr>
        <p:txBody>
          <a:bodyPr wrap="square" lIns="0" tIns="0" rIns="0" bIns="0" rtlCol="0" anchor="t"/>
          <a:lstStyle/>
          <a:p>
            <a:pPr indent="0" marL="0">
              <a:buNone/>
            </a:pPr>
            <a:r>
              <a:rPr lang="en-US" sz="1400" dirty="0">
                <a:solidFill>
                  <a:schemeClr val="accent6"/>
                </a:solidFill>
              </a:rPr>
              <a:t>freeze the noise you are looking at</a:t>
            </a:r>
            <a:endParaRPr lang="en-US" sz="1400" dirty="0"/>
          </a:p>
        </p:txBody>
      </p:sp>
      <p:sp>
        <p:nvSpPr>
          <p:cNvPr id="23" name="Text 17"/>
          <p:cNvSpPr txBox="1"/>
          <p:nvPr/>
        </p:nvSpPr>
        <p:spPr>
          <a:xfrm>
            <a:off x="7863840" y="5394960"/>
            <a:ext cx="3749040" cy="731520"/>
          </a:xfrm>
          <a:prstGeom prst="rect">
            <a:avLst/>
          </a:prstGeom>
          <a:noFill/>
          <a:ln/>
        </p:spPr>
        <p:txBody>
          <a:bodyPr wrap="square" lIns="0" tIns="0" rIns="0" bIns="0" rtlCol="0" anchor="t"/>
          <a:lstStyle/>
          <a:p>
            <a:pPr indent="0" marL="0">
              <a:buNone/>
            </a:pPr>
            <a:r>
              <a:rPr lang="en-US" sz="1400" i="1" dirty="0">
                <a:solidFill>
                  <a:schemeClr val="accent2"/>
                </a:solidFill>
              </a:rPr>
              <a:t>The status line always says which seed was used, and where it came from.</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Zoom, check, fix</a:t>
            </a:r>
            <a:endParaRPr lang="en-US" sz="3000" dirty="0"/>
          </a:p>
        </p:txBody>
      </p:sp>
      <p:pic>
        <p:nvPicPr>
          <p:cNvPr id="3" name="screenshot axes" descr="Zooming the time axis">    </p:cNvPr>
          <p:cNvPicPr>
            <a:picLocks noChangeAspect="1"/>
          </p:cNvPicPr>
          <p:nvPr/>
        </p:nvPicPr>
        <p:blipFill>
          <a:blip r:embed="rId1"/>
          <a:srcRect l="38889" r="0" t="6977" b="0"/>
          <a:stretch/>
        </p:blipFill>
        <p:spPr>
          <a:xfrm>
            <a:off x="1078992" y="1188720"/>
            <a:ext cx="4425696" cy="4023360"/>
          </a:xfrm>
          <a:prstGeom prst="rect">
            <a:avLst/>
          </a:prstGeom>
        </p:spPr>
      </p:pic>
      <p:sp>
        <p:nvSpPr>
          <p:cNvPr id="4" name="frame axes"/>
          <p:cNvSpPr/>
          <p:nvPr/>
        </p:nvSpPr>
        <p:spPr>
          <a:xfrm>
            <a:off x="1078992" y="1188720"/>
            <a:ext cx="4425696" cy="4023360"/>
          </a:xfrm>
          <a:prstGeom prst="rect">
            <a:avLst/>
          </a:prstGeom>
          <a:ln w="12700">
            <a:solidFill>
              <a:srgbClr val="EEF4F3"/>
            </a:solidFill>
            <a:prstDash val="solid"/>
          </a:ln>
        </p:spPr>
      </p:sp>
      <p:pic>
        <p:nvPicPr>
          <p:cNvPr id="5" name="screenshot error" descr="An error marked on its line">    </p:cNvPr>
          <p:cNvPicPr>
            <a:picLocks noChangeAspect="1"/>
          </p:cNvPicPr>
          <p:nvPr/>
        </p:nvPicPr>
        <p:blipFill>
          <a:blip r:embed="rId2"/>
          <a:srcRect l="0" r="45833" t="18605" b="0"/>
          <a:stretch/>
        </p:blipFill>
        <p:spPr>
          <a:xfrm>
            <a:off x="6650954" y="1188720"/>
            <a:ext cx="4483173" cy="4023360"/>
          </a:xfrm>
          <a:prstGeom prst="rect">
            <a:avLst/>
          </a:prstGeom>
        </p:spPr>
      </p:pic>
      <p:sp>
        <p:nvSpPr>
          <p:cNvPr id="6" name="frame error"/>
          <p:cNvSpPr/>
          <p:nvPr/>
        </p:nvSpPr>
        <p:spPr>
          <a:xfrm>
            <a:off x="6650954" y="1188720"/>
            <a:ext cx="4483173" cy="4023360"/>
          </a:xfrm>
          <a:prstGeom prst="rect">
            <a:avLst/>
          </a:prstGeom>
          <a:ln w="12700">
            <a:solidFill>
              <a:srgbClr val="EEF4F3"/>
            </a:solidFill>
            <a:prstDash val="solid"/>
          </a:ln>
        </p:spPr>
      </p:sp>
      <p:sp>
        <p:nvSpPr>
          <p:cNvPr id="7" name="Text 3"/>
          <p:cNvSpPr txBox="1"/>
          <p:nvPr/>
        </p:nvSpPr>
        <p:spPr>
          <a:xfrm>
            <a:off x="548640" y="5394960"/>
            <a:ext cx="5486400" cy="914400"/>
          </a:xfrm>
          <a:prstGeom prst="rect">
            <a:avLst/>
          </a:prstGeom>
          <a:noFill/>
          <a:ln/>
        </p:spPr>
        <p:txBody>
          <a:bodyPr wrap="square" lIns="0" tIns="0" rIns="0" bIns="0" rtlCol="0" anchor="t"/>
          <a:lstStyle/>
          <a:p>
            <a:pPr indent="0" marL="0">
              <a:buNone/>
            </a:pPr>
            <a:r>
              <a:rPr lang="en-US" sz="1400" b="1" dirty="0">
                <a:solidFill>
                  <a:schemeClr val="tx1"/>
                </a:solidFill>
              </a:rPr>
              <a:t>Axes. </a:t>
            </a:r>
            <a:pPr indent="0" marL="0">
              <a:buNone/>
            </a:pPr>
            <a:r>
              <a:rPr lang="en-US" sz="1400" dirty="0">
                <a:solidFill>
                  <a:schemeClr val="tx1"/>
                </a:solidFill>
              </a:rPr>
              <a:t>Drag on the plot to zoom time, Shift+drag for values, double-click to go back. Or type the limits; fixed limits are kept while you edit.</a:t>
            </a:r>
            <a:endParaRPr lang="en-US" sz="1400" dirty="0"/>
          </a:p>
        </p:txBody>
      </p:sp>
      <p:sp>
        <p:nvSpPr>
          <p:cNvPr id="8" name="Text 4"/>
          <p:cNvSpPr txBox="1"/>
          <p:nvPr/>
        </p:nvSpPr>
        <p:spPr>
          <a:xfrm>
            <a:off x="6172200" y="5394960"/>
            <a:ext cx="5440680" cy="914400"/>
          </a:xfrm>
          <a:prstGeom prst="rect">
            <a:avLst/>
          </a:prstGeom>
          <a:noFill/>
          <a:ln/>
        </p:spPr>
        <p:txBody>
          <a:bodyPr wrap="square" lIns="0" tIns="0" rIns="0" bIns="0" rtlCol="0" anchor="t"/>
          <a:lstStyle/>
          <a:p>
            <a:pPr indent="0" marL="0">
              <a:buNone/>
            </a:pPr>
            <a:r>
              <a:rPr lang="en-US" sz="1400" b="1" dirty="0">
                <a:solidFill>
                  <a:schemeClr val="tx1"/>
                </a:solidFill>
              </a:rPr>
              <a:t>Errors. </a:t>
            </a:r>
            <a:pPr indent="0" marL="0">
              <a:buNone/>
            </a:pPr>
            <a:r>
              <a:rPr lang="en-US" sz="1400" dirty="0">
                <a:solidFill>
                  <a:schemeClr val="tx1"/>
                </a:solidFill>
              </a:rPr>
              <a:t>A mistake marks its line in orange and says what is wrong (here: a frequency written as a time). Nothing is played until it is fixed.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Several outputs at once</a:t>
            </a:r>
            <a:endParaRPr lang="en-US" sz="3000" dirty="0"/>
          </a:p>
        </p:txBody>
      </p:sp>
      <p:pic>
        <p:nvPicPr>
          <p:cNvPr id="3" name="screenshot stimulus" descr="A stimulus with two cells and a camera trigger">    </p:cNvPr>
          <p:cNvPicPr>
            <a:picLocks noChangeAspect="1"/>
          </p:cNvPicPr>
          <p:nvPr/>
        </p:nvPicPr>
        <p:blipFill>
          <a:blip r:embed="rId1"/>
          <a:stretch>
            <a:fillRect/>
          </a:stretch>
        </p:blipFill>
        <p:spPr>
          <a:xfrm>
            <a:off x="548640" y="1437005"/>
            <a:ext cx="7589520" cy="4532630"/>
          </a:xfrm>
          <a:prstGeom prst="rect">
            <a:avLst/>
          </a:prstGeom>
        </p:spPr>
      </p:pic>
      <p:sp>
        <p:nvSpPr>
          <p:cNvPr id="4" name="frame stimulus"/>
          <p:cNvSpPr/>
          <p:nvPr/>
        </p:nvSpPr>
        <p:spPr>
          <a:xfrm>
            <a:off x="548640" y="1437005"/>
            <a:ext cx="7589520" cy="4532630"/>
          </a:xfrm>
          <a:prstGeom prst="rect">
            <a:avLst/>
          </a:prstGeom>
          <a:ln w="12700">
            <a:solidFill>
              <a:srgbClr val="EEF4F3"/>
            </a:solidFill>
            <a:prstDash val="solid"/>
          </a:ln>
        </p:spPr>
      </p:sp>
      <p:sp>
        <p:nvSpPr>
          <p:cNvPr id="5" name="Text 2"/>
          <p:cNvSpPr txBox="1"/>
          <p:nvPr/>
        </p:nvSpPr>
        <p:spPr>
          <a:xfrm>
            <a:off x="8412480" y="1325880"/>
            <a:ext cx="32918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channel pre unit=pA</a:t>
            </a:r>
            <a:endParaRPr lang="en-US" sz="1500" dirty="0"/>
          </a:p>
        </p:txBody>
      </p:sp>
      <p:sp>
        <p:nvSpPr>
          <p:cNvPr id="6" name="Text 3"/>
          <p:cNvSpPr txBox="1"/>
          <p:nvPr/>
        </p:nvSpPr>
        <p:spPr>
          <a:xfrm>
            <a:off x="8412480" y="1691640"/>
            <a:ext cx="3291840" cy="457200"/>
          </a:xfrm>
          <a:prstGeom prst="rect">
            <a:avLst/>
          </a:prstGeom>
          <a:noFill/>
          <a:ln/>
        </p:spPr>
        <p:txBody>
          <a:bodyPr wrap="square" lIns="0" tIns="0" rIns="0" bIns="0" rtlCol="0" anchor="t"/>
          <a:lstStyle/>
          <a:p>
            <a:pPr indent="0" marL="0">
              <a:buNone/>
            </a:pPr>
            <a:r>
              <a:rPr lang="en-US" sz="1400" dirty="0">
                <a:solidFill>
                  <a:schemeClr val="tx1"/>
                </a:solidFill>
              </a:rPr>
              <a:t>a current for the first cell</a:t>
            </a:r>
            <a:endParaRPr lang="en-US" sz="1400" dirty="0"/>
          </a:p>
        </p:txBody>
      </p:sp>
      <p:sp>
        <p:nvSpPr>
          <p:cNvPr id="7" name="Text 4"/>
          <p:cNvSpPr txBox="1"/>
          <p:nvPr/>
        </p:nvSpPr>
        <p:spPr>
          <a:xfrm>
            <a:off x="8412480" y="2286000"/>
            <a:ext cx="32918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channel post unit=pA</a:t>
            </a:r>
            <a:endParaRPr lang="en-US" sz="1500" dirty="0"/>
          </a:p>
        </p:txBody>
      </p:sp>
      <p:sp>
        <p:nvSpPr>
          <p:cNvPr id="8" name="Text 5"/>
          <p:cNvSpPr txBox="1"/>
          <p:nvPr/>
        </p:nvSpPr>
        <p:spPr>
          <a:xfrm>
            <a:off x="8412480" y="2651760"/>
            <a:ext cx="3291840" cy="457200"/>
          </a:xfrm>
          <a:prstGeom prst="rect">
            <a:avLst/>
          </a:prstGeom>
          <a:noFill/>
          <a:ln/>
        </p:spPr>
        <p:txBody>
          <a:bodyPr wrap="square" lIns="0" tIns="0" rIns="0" bIns="0" rtlCol="0" anchor="t"/>
          <a:lstStyle/>
          <a:p>
            <a:pPr indent="0" marL="0">
              <a:buNone/>
            </a:pPr>
            <a:r>
              <a:rPr lang="en-US" sz="1400" dirty="0">
                <a:solidFill>
                  <a:schemeClr val="tx1"/>
                </a:solidFill>
              </a:rPr>
              <a:t>a current for the second</a:t>
            </a:r>
            <a:endParaRPr lang="en-US" sz="1400" dirty="0"/>
          </a:p>
        </p:txBody>
      </p:sp>
      <p:sp>
        <p:nvSpPr>
          <p:cNvPr id="9" name="Text 6"/>
          <p:cNvSpPr txBox="1"/>
          <p:nvPr/>
        </p:nvSpPr>
        <p:spPr>
          <a:xfrm>
            <a:off x="8412480" y="3246120"/>
            <a:ext cx="32918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digital camera</a:t>
            </a:r>
            <a:endParaRPr lang="en-US" sz="1500" dirty="0"/>
          </a:p>
        </p:txBody>
      </p:sp>
      <p:sp>
        <p:nvSpPr>
          <p:cNvPr id="10" name="Text 7"/>
          <p:cNvSpPr txBox="1"/>
          <p:nvPr/>
        </p:nvSpPr>
        <p:spPr>
          <a:xfrm>
            <a:off x="8412480" y="3611880"/>
            <a:ext cx="3291840" cy="457200"/>
          </a:xfrm>
          <a:prstGeom prst="rect">
            <a:avLst/>
          </a:prstGeom>
          <a:noFill/>
          <a:ln/>
        </p:spPr>
        <p:txBody>
          <a:bodyPr wrap="square" lIns="0" tIns="0" rIns="0" bIns="0" rtlCol="0" anchor="t"/>
          <a:lstStyle/>
          <a:p>
            <a:pPr indent="0" marL="0">
              <a:buNone/>
            </a:pPr>
            <a:r>
              <a:rPr lang="en-US" sz="1400" dirty="0">
                <a:solidFill>
                  <a:schemeClr val="tx1"/>
                </a:solidFill>
              </a:rPr>
              <a:t>TTL pulses for a camera</a:t>
            </a:r>
            <a:endParaRPr lang="en-US" sz="1400" dirty="0"/>
          </a:p>
        </p:txBody>
      </p:sp>
      <p:sp>
        <p:nvSpPr>
          <p:cNvPr id="11" name="Text 8"/>
          <p:cNvSpPr txBox="1"/>
          <p:nvPr/>
        </p:nvSpPr>
        <p:spPr>
          <a:xfrm>
            <a:off x="8412480" y="4206240"/>
            <a:ext cx="329184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@train</a:t>
            </a:r>
            <a:endParaRPr lang="en-US" sz="1500" dirty="0"/>
          </a:p>
        </p:txBody>
      </p:sp>
      <p:sp>
        <p:nvSpPr>
          <p:cNvPr id="12" name="Text 9"/>
          <p:cNvSpPr txBox="1"/>
          <p:nvPr/>
        </p:nvSpPr>
        <p:spPr>
          <a:xfrm>
            <a:off x="8412480" y="4572000"/>
            <a:ext cx="3291840" cy="457200"/>
          </a:xfrm>
          <a:prstGeom prst="rect">
            <a:avLst/>
          </a:prstGeom>
          <a:noFill/>
          <a:ln/>
        </p:spPr>
        <p:txBody>
          <a:bodyPr wrap="square" lIns="0" tIns="0" rIns="0" bIns="0" rtlCol="0" anchor="t"/>
          <a:lstStyle/>
          <a:p>
            <a:pPr indent="0" marL="0">
              <a:buNone/>
            </a:pPr>
            <a:r>
              <a:rPr lang="en-US" sz="1400" dirty="0">
                <a:solidFill>
                  <a:schemeClr val="tx1"/>
                </a:solidFill>
              </a:rPr>
              <a:t>a marker saved with the data</a:t>
            </a:r>
            <a:endParaRPr lang="en-US" sz="1400" dirty="0"/>
          </a:p>
        </p:txBody>
      </p:sp>
      <p:sp>
        <p:nvSpPr>
          <p:cNvPr id="13" name="Text 10"/>
          <p:cNvSpPr txBox="1"/>
          <p:nvPr/>
        </p:nvSpPr>
        <p:spPr>
          <a:xfrm>
            <a:off x="8412480" y="5257800"/>
            <a:ext cx="3291840" cy="822960"/>
          </a:xfrm>
          <a:prstGeom prst="rect">
            <a:avLst/>
          </a:prstGeom>
          <a:noFill/>
          <a:ln/>
        </p:spPr>
        <p:txBody>
          <a:bodyPr wrap="square" lIns="0" tIns="0" rIns="0" bIns="0" rtlCol="0" anchor="t"/>
          <a:lstStyle/>
          <a:p>
            <a:pPr indent="0" marL="0">
              <a:buNone/>
            </a:pPr>
            <a:r>
              <a:rPr lang="en-US" sz="1400" i="1" dirty="0">
                <a:solidFill>
                  <a:schemeClr val="accent6"/>
                </a:solidFill>
              </a:rPr>
              <a:t>Make → Waveform → stimulus and Make → Add a channel write these lines for you.</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Take it to the rig</a:t>
            </a:r>
            <a:endParaRPr lang="en-US" sz="3000" dirty="0"/>
          </a:p>
        </p:txBody>
      </p:sp>
      <p:sp>
        <p:nvSpPr>
          <p:cNvPr id="3" name="flow 0"/>
          <p:cNvSpPr/>
          <p:nvPr/>
        </p:nvSpPr>
        <p:spPr>
          <a:xfrm>
            <a:off x="548640" y="1371600"/>
            <a:ext cx="2468880" cy="2103120"/>
          </a:xfrm>
          <a:prstGeom prst="roundRect">
            <a:avLst>
              <a:gd name="adj" fmla="val 5217"/>
            </a:avLst>
          </a:prstGeom>
          <a:solidFill>
            <a:schemeClr val="bg2"/>
          </a:solidFill>
          <a:ln w="12700">
            <a:solidFill>
              <a:schemeClr val="bg2"/>
            </a:solidFill>
            <a:prstDash val="solid"/>
          </a:ln>
        </p:spPr>
      </p:sp>
      <p:sp>
        <p:nvSpPr>
          <p:cNvPr id="4" name="flow 0 circle"/>
          <p:cNvSpPr/>
          <p:nvPr/>
        </p:nvSpPr>
        <p:spPr>
          <a:xfrm>
            <a:off x="1417320" y="1554480"/>
            <a:ext cx="731520" cy="731520"/>
          </a:xfrm>
          <a:prstGeom prst="ellipse">
            <a:avLst/>
          </a:prstGeom>
          <a:solidFill>
            <a:srgbClr val="0B7A75"/>
          </a:solidFill>
          <a:ln w="12700">
            <a:solidFill>
              <a:srgbClr val="0B7A75"/>
            </a:solidFill>
            <a:prstDash val="solid"/>
          </a:ln>
        </p:spPr>
      </p:sp>
      <p:pic>
        <p:nvPicPr>
          <p:cNvPr id="5" name="flow 0 icon" descr="flow 0">    </p:cNvPr>
          <p:cNvPicPr>
            <a:picLocks noChangeAspect="1"/>
          </p:cNvPicPr>
          <p:nvPr/>
        </p:nvPicPr>
        <p:blipFill>
          <a:blip r:embed="rId1"/>
          <a:stretch>
            <a:fillRect/>
          </a:stretch>
        </p:blipFill>
        <p:spPr>
          <a:xfrm>
            <a:off x="1600200" y="1737360"/>
            <a:ext cx="365760" cy="365760"/>
          </a:xfrm>
          <a:prstGeom prst="rect">
            <a:avLst/>
          </a:prstGeom>
        </p:spPr>
      </p:pic>
      <p:sp>
        <p:nvSpPr>
          <p:cNvPr id="6" name="Text 3"/>
          <p:cNvSpPr txBox="1"/>
          <p:nvPr/>
        </p:nvSpPr>
        <p:spPr>
          <a:xfrm>
            <a:off x="640080" y="2423160"/>
            <a:ext cx="2286000" cy="411480"/>
          </a:xfrm>
          <a:prstGeom prst="rect">
            <a:avLst/>
          </a:prstGeom>
          <a:noFill/>
          <a:ln/>
        </p:spPr>
        <p:txBody>
          <a:bodyPr wrap="square" lIns="0" tIns="0" rIns="0" bIns="0" rtlCol="0" anchor="t"/>
          <a:lstStyle/>
          <a:p>
            <a:pPr algn="ctr" indent="0" marL="0">
              <a:buNone/>
            </a:pPr>
            <a:r>
              <a:rPr lang="en-US" sz="1800" b="1" dirty="0">
                <a:solidFill>
                  <a:schemeClr val="tx1"/>
                </a:solidFill>
              </a:rPr>
              <a:t>Planner</a:t>
            </a:r>
            <a:endParaRPr lang="en-US" sz="1800" dirty="0"/>
          </a:p>
        </p:txBody>
      </p:sp>
      <p:sp>
        <p:nvSpPr>
          <p:cNvPr id="7" name="Text 4"/>
          <p:cNvSpPr txBox="1"/>
          <p:nvPr/>
        </p:nvSpPr>
        <p:spPr>
          <a:xfrm>
            <a:off x="640080" y="2834640"/>
            <a:ext cx="2286000" cy="457200"/>
          </a:xfrm>
          <a:prstGeom prst="rect">
            <a:avLst/>
          </a:prstGeom>
          <a:noFill/>
          <a:ln/>
        </p:spPr>
        <p:txBody>
          <a:bodyPr wrap="square" lIns="0" tIns="0" rIns="0" bIns="0" rtlCol="0" anchor="t"/>
          <a:lstStyle/>
          <a:p>
            <a:pPr algn="ctr" indent="0" marL="0">
              <a:buNone/>
            </a:pPr>
            <a:r>
              <a:rPr lang="en-US" sz="1400" dirty="0">
                <a:solidFill>
                  <a:schemeClr val="accent6"/>
                </a:solidFill>
              </a:rPr>
              <a:t>plan, check, animate</a:t>
            </a:r>
            <a:endParaRPr lang="en-US" sz="1400" dirty="0"/>
          </a:p>
        </p:txBody>
      </p:sp>
      <p:sp>
        <p:nvSpPr>
          <p:cNvPr id="8" name="flow arrow 0"/>
          <p:cNvSpPr/>
          <p:nvPr/>
        </p:nvSpPr>
        <p:spPr>
          <a:xfrm>
            <a:off x="3044952" y="2240280"/>
            <a:ext cx="310896" cy="365760"/>
          </a:xfrm>
          <a:prstGeom prst="rightArrow">
            <a:avLst/>
          </a:prstGeom>
          <a:solidFill>
            <a:schemeClr val="accent2"/>
          </a:solidFill>
          <a:ln w="12700">
            <a:solidFill>
              <a:schemeClr val="accent2"/>
            </a:solidFill>
            <a:prstDash val="solid"/>
          </a:ln>
        </p:spPr>
      </p:sp>
      <p:sp>
        <p:nvSpPr>
          <p:cNvPr id="9" name="flow 1"/>
          <p:cNvSpPr/>
          <p:nvPr/>
        </p:nvSpPr>
        <p:spPr>
          <a:xfrm>
            <a:off x="3383280" y="1371600"/>
            <a:ext cx="2468880" cy="2103120"/>
          </a:xfrm>
          <a:prstGeom prst="roundRect">
            <a:avLst>
              <a:gd name="adj" fmla="val 5217"/>
            </a:avLst>
          </a:prstGeom>
          <a:solidFill>
            <a:schemeClr val="accent1"/>
          </a:solidFill>
          <a:ln w="12700">
            <a:solidFill>
              <a:schemeClr val="accent1"/>
            </a:solidFill>
            <a:prstDash val="solid"/>
          </a:ln>
        </p:spPr>
      </p:sp>
      <p:sp>
        <p:nvSpPr>
          <p:cNvPr id="10" name="flow 1 circle"/>
          <p:cNvSpPr/>
          <p:nvPr/>
        </p:nvSpPr>
        <p:spPr>
          <a:xfrm>
            <a:off x="4251960" y="1554480"/>
            <a:ext cx="731520" cy="731520"/>
          </a:xfrm>
          <a:prstGeom prst="ellipse">
            <a:avLst/>
          </a:prstGeom>
          <a:solidFill>
            <a:srgbClr val="FFFFFF"/>
          </a:solidFill>
          <a:ln w="12700">
            <a:solidFill>
              <a:srgbClr val="FFFFFF"/>
            </a:solidFill>
            <a:prstDash val="solid"/>
          </a:ln>
        </p:spPr>
      </p:sp>
      <p:pic>
        <p:nvPicPr>
          <p:cNvPr id="11" name="flow 1 icon" descr="flow 1">    </p:cNvPr>
          <p:cNvPicPr>
            <a:picLocks noChangeAspect="1"/>
          </p:cNvPicPr>
          <p:nvPr/>
        </p:nvPicPr>
        <p:blipFill>
          <a:blip r:embed="rId2"/>
          <a:stretch>
            <a:fillRect/>
          </a:stretch>
        </p:blipFill>
        <p:spPr>
          <a:xfrm>
            <a:off x="4434840" y="1737360"/>
            <a:ext cx="365760" cy="365760"/>
          </a:xfrm>
          <a:prstGeom prst="rect">
            <a:avLst/>
          </a:prstGeom>
        </p:spPr>
      </p:pic>
      <p:sp>
        <p:nvSpPr>
          <p:cNvPr id="12" name="Text 8"/>
          <p:cNvSpPr txBox="1"/>
          <p:nvPr/>
        </p:nvSpPr>
        <p:spPr>
          <a:xfrm>
            <a:off x="3474720" y="2423160"/>
            <a:ext cx="2286000" cy="411480"/>
          </a:xfrm>
          <a:prstGeom prst="rect">
            <a:avLst/>
          </a:prstGeom>
          <a:noFill/>
          <a:ln/>
        </p:spPr>
        <p:txBody>
          <a:bodyPr wrap="square" lIns="0" tIns="0" rIns="0" bIns="0" rtlCol="0" anchor="t"/>
          <a:lstStyle/>
          <a:p>
            <a:pPr algn="ctr" indent="0" marL="0">
              <a:buNone/>
            </a:pPr>
            <a:r>
              <a:rPr lang="en-US" sz="1800" b="1" dirty="0">
                <a:solidFill>
                  <a:schemeClr val="bg1"/>
                </a:solidFill>
              </a:rPr>
              <a:t>Save .sg</a:t>
            </a:r>
            <a:endParaRPr lang="en-US" sz="1800" dirty="0"/>
          </a:p>
        </p:txBody>
      </p:sp>
      <p:sp>
        <p:nvSpPr>
          <p:cNvPr id="13" name="Text 9"/>
          <p:cNvSpPr txBox="1"/>
          <p:nvPr/>
        </p:nvSpPr>
        <p:spPr>
          <a:xfrm>
            <a:off x="3474720" y="2834640"/>
            <a:ext cx="2286000" cy="457200"/>
          </a:xfrm>
          <a:prstGeom prst="rect">
            <a:avLst/>
          </a:prstGeom>
          <a:noFill/>
          <a:ln/>
        </p:spPr>
        <p:txBody>
          <a:bodyPr wrap="square" lIns="0" tIns="0" rIns="0" bIns="0" rtlCol="0" anchor="t"/>
          <a:lstStyle/>
          <a:p>
            <a:pPr algn="ctr" indent="0" marL="0">
              <a:buNone/>
            </a:pPr>
            <a:r>
              <a:rPr lang="en-US" sz="1400" dirty="0">
                <a:solidFill>
                  <a:schemeClr val="bg1"/>
                </a:solidFill>
              </a:rPr>
              <a:t>a few lines of text</a:t>
            </a:r>
            <a:endParaRPr lang="en-US" sz="1400" dirty="0"/>
          </a:p>
        </p:txBody>
      </p:sp>
      <p:sp>
        <p:nvSpPr>
          <p:cNvPr id="14" name="flow arrow 1"/>
          <p:cNvSpPr/>
          <p:nvPr/>
        </p:nvSpPr>
        <p:spPr>
          <a:xfrm>
            <a:off x="5879592" y="2240280"/>
            <a:ext cx="310896" cy="365760"/>
          </a:xfrm>
          <a:prstGeom prst="rightArrow">
            <a:avLst/>
          </a:prstGeom>
          <a:solidFill>
            <a:schemeClr val="accent2"/>
          </a:solidFill>
          <a:ln w="12700">
            <a:solidFill>
              <a:schemeClr val="accent2"/>
            </a:solidFill>
            <a:prstDash val="solid"/>
          </a:ln>
        </p:spPr>
      </p:sp>
      <p:sp>
        <p:nvSpPr>
          <p:cNvPr id="15" name="flow 2"/>
          <p:cNvSpPr/>
          <p:nvPr/>
        </p:nvSpPr>
        <p:spPr>
          <a:xfrm>
            <a:off x="6217920" y="1371600"/>
            <a:ext cx="2468880" cy="2103120"/>
          </a:xfrm>
          <a:prstGeom prst="roundRect">
            <a:avLst>
              <a:gd name="adj" fmla="val 5217"/>
            </a:avLst>
          </a:prstGeom>
          <a:solidFill>
            <a:schemeClr val="bg2"/>
          </a:solidFill>
          <a:ln w="12700">
            <a:solidFill>
              <a:schemeClr val="bg2"/>
            </a:solidFill>
            <a:prstDash val="solid"/>
          </a:ln>
        </p:spPr>
      </p:sp>
      <p:sp>
        <p:nvSpPr>
          <p:cNvPr id="16" name="flow 2 circle"/>
          <p:cNvSpPr/>
          <p:nvPr/>
        </p:nvSpPr>
        <p:spPr>
          <a:xfrm>
            <a:off x="7086600" y="1554480"/>
            <a:ext cx="731520" cy="731520"/>
          </a:xfrm>
          <a:prstGeom prst="ellipse">
            <a:avLst/>
          </a:prstGeom>
          <a:solidFill>
            <a:srgbClr val="0B7A75"/>
          </a:solidFill>
          <a:ln w="12700">
            <a:solidFill>
              <a:srgbClr val="0B7A75"/>
            </a:solidFill>
            <a:prstDash val="solid"/>
          </a:ln>
        </p:spPr>
      </p:sp>
      <p:pic>
        <p:nvPicPr>
          <p:cNvPr id="17" name="flow 2 icon" descr="flow 2">    </p:cNvPr>
          <p:cNvPicPr>
            <a:picLocks noChangeAspect="1"/>
          </p:cNvPicPr>
          <p:nvPr/>
        </p:nvPicPr>
        <p:blipFill>
          <a:blip r:embed="rId3"/>
          <a:stretch>
            <a:fillRect/>
          </a:stretch>
        </p:blipFill>
        <p:spPr>
          <a:xfrm>
            <a:off x="7269480" y="1737360"/>
            <a:ext cx="365760" cy="365760"/>
          </a:xfrm>
          <a:prstGeom prst="rect">
            <a:avLst/>
          </a:prstGeom>
        </p:spPr>
      </p:pic>
      <p:sp>
        <p:nvSpPr>
          <p:cNvPr id="18" name="Text 13"/>
          <p:cNvSpPr txBox="1"/>
          <p:nvPr/>
        </p:nvSpPr>
        <p:spPr>
          <a:xfrm>
            <a:off x="6309360" y="2423160"/>
            <a:ext cx="2286000" cy="411480"/>
          </a:xfrm>
          <a:prstGeom prst="rect">
            <a:avLst/>
          </a:prstGeom>
          <a:noFill/>
          <a:ln/>
        </p:spPr>
        <p:txBody>
          <a:bodyPr wrap="square" lIns="0" tIns="0" rIns="0" bIns="0" rtlCol="0" anchor="t"/>
          <a:lstStyle/>
          <a:p>
            <a:pPr algn="ctr" indent="0" marL="0">
              <a:buNone/>
            </a:pPr>
            <a:r>
              <a:rPr lang="en-US" sz="1800" b="1" dirty="0">
                <a:solidFill>
                  <a:schemeClr val="tx1"/>
                </a:solidFill>
              </a:rPr>
              <a:t>sg · Gecko</a:t>
            </a:r>
            <a:endParaRPr lang="en-US" sz="1800" dirty="0"/>
          </a:p>
        </p:txBody>
      </p:sp>
      <p:sp>
        <p:nvSpPr>
          <p:cNvPr id="19" name="Text 14"/>
          <p:cNvSpPr txBox="1"/>
          <p:nvPr/>
        </p:nvSpPr>
        <p:spPr>
          <a:xfrm>
            <a:off x="6309360" y="2834640"/>
            <a:ext cx="2286000" cy="457200"/>
          </a:xfrm>
          <a:prstGeom prst="rect">
            <a:avLst/>
          </a:prstGeom>
          <a:noFill/>
          <a:ln/>
        </p:spPr>
        <p:txBody>
          <a:bodyPr wrap="square" lIns="0" tIns="0" rIns="0" bIns="0" rtlCol="0" anchor="t"/>
          <a:lstStyle/>
          <a:p>
            <a:pPr algn="ctr" indent="0" marL="0">
              <a:buNone/>
            </a:pPr>
            <a:r>
              <a:rPr lang="en-US" sz="1400" dirty="0">
                <a:solidFill>
                  <a:schemeClr val="accent6"/>
                </a:solidFill>
              </a:rPr>
              <a:t>rendered, then played at the rig</a:t>
            </a:r>
            <a:endParaRPr lang="en-US" sz="1400" dirty="0"/>
          </a:p>
        </p:txBody>
      </p:sp>
      <p:sp>
        <p:nvSpPr>
          <p:cNvPr id="20" name="flow arrow 2"/>
          <p:cNvSpPr/>
          <p:nvPr/>
        </p:nvSpPr>
        <p:spPr>
          <a:xfrm>
            <a:off x="8714232" y="2240280"/>
            <a:ext cx="310896" cy="365760"/>
          </a:xfrm>
          <a:prstGeom prst="rightArrow">
            <a:avLst/>
          </a:prstGeom>
          <a:solidFill>
            <a:schemeClr val="accent2"/>
          </a:solidFill>
          <a:ln w="12700">
            <a:solidFill>
              <a:schemeClr val="accent2"/>
            </a:solidFill>
            <a:prstDash val="solid"/>
          </a:ln>
        </p:spPr>
      </p:sp>
      <p:sp>
        <p:nvSpPr>
          <p:cNvPr id="21" name="flow 3"/>
          <p:cNvSpPr/>
          <p:nvPr/>
        </p:nvSpPr>
        <p:spPr>
          <a:xfrm>
            <a:off x="9052560" y="1371600"/>
            <a:ext cx="2468880" cy="2103120"/>
          </a:xfrm>
          <a:prstGeom prst="roundRect">
            <a:avLst>
              <a:gd name="adj" fmla="val 5217"/>
            </a:avLst>
          </a:prstGeom>
          <a:solidFill>
            <a:schemeClr val="bg2"/>
          </a:solidFill>
          <a:ln w="12700">
            <a:solidFill>
              <a:schemeClr val="bg2"/>
            </a:solidFill>
            <a:prstDash val="solid"/>
          </a:ln>
        </p:spPr>
      </p:sp>
      <p:sp>
        <p:nvSpPr>
          <p:cNvPr id="22" name="flow 3 circle"/>
          <p:cNvSpPr/>
          <p:nvPr/>
        </p:nvSpPr>
        <p:spPr>
          <a:xfrm>
            <a:off x="9921240" y="1554480"/>
            <a:ext cx="731520" cy="731520"/>
          </a:xfrm>
          <a:prstGeom prst="ellipse">
            <a:avLst/>
          </a:prstGeom>
          <a:solidFill>
            <a:srgbClr val="0B7A75"/>
          </a:solidFill>
          <a:ln w="12700">
            <a:solidFill>
              <a:srgbClr val="0B7A75"/>
            </a:solidFill>
            <a:prstDash val="solid"/>
          </a:ln>
        </p:spPr>
      </p:sp>
      <p:pic>
        <p:nvPicPr>
          <p:cNvPr id="23" name="flow 3 icon" descr="flow 3">    </p:cNvPr>
          <p:cNvPicPr>
            <a:picLocks noChangeAspect="1"/>
          </p:cNvPicPr>
          <p:nvPr/>
        </p:nvPicPr>
        <p:blipFill>
          <a:blip r:embed="rId4"/>
          <a:stretch>
            <a:fillRect/>
          </a:stretch>
        </p:blipFill>
        <p:spPr>
          <a:xfrm>
            <a:off x="10104120" y="1737360"/>
            <a:ext cx="365760" cy="365760"/>
          </a:xfrm>
          <a:prstGeom prst="rect">
            <a:avLst/>
          </a:prstGeom>
        </p:spPr>
      </p:pic>
      <p:sp>
        <p:nvSpPr>
          <p:cNvPr id="24" name="Text 18"/>
          <p:cNvSpPr txBox="1"/>
          <p:nvPr/>
        </p:nvSpPr>
        <p:spPr>
          <a:xfrm>
            <a:off x="9144000" y="2423160"/>
            <a:ext cx="2286000" cy="411480"/>
          </a:xfrm>
          <a:prstGeom prst="rect">
            <a:avLst/>
          </a:prstGeom>
          <a:noFill/>
          <a:ln/>
        </p:spPr>
        <p:txBody>
          <a:bodyPr wrap="square" lIns="0" tIns="0" rIns="0" bIns="0" rtlCol="0" anchor="t"/>
          <a:lstStyle/>
          <a:p>
            <a:pPr algn="ctr" indent="0" marL="0">
              <a:buNone/>
            </a:pPr>
            <a:r>
              <a:rPr lang="en-US" sz="1800" b="1" dirty="0">
                <a:solidFill>
                  <a:schemeClr val="tx1"/>
                </a:solidFill>
              </a:rPr>
              <a:t>NI board</a:t>
            </a:r>
            <a:endParaRPr lang="en-US" sz="1800" dirty="0"/>
          </a:p>
        </p:txBody>
      </p:sp>
      <p:sp>
        <p:nvSpPr>
          <p:cNvPr id="25" name="Text 19"/>
          <p:cNvSpPr txBox="1"/>
          <p:nvPr/>
        </p:nvSpPr>
        <p:spPr>
          <a:xfrm>
            <a:off x="9144000" y="2834640"/>
            <a:ext cx="2286000" cy="457200"/>
          </a:xfrm>
          <a:prstGeom prst="rect">
            <a:avLst/>
          </a:prstGeom>
          <a:noFill/>
          <a:ln/>
        </p:spPr>
        <p:txBody>
          <a:bodyPr wrap="square" lIns="0" tIns="0" rIns="0" bIns="0" rtlCol="0" anchor="t"/>
          <a:lstStyle/>
          <a:p>
            <a:pPr algn="ctr" indent="0" marL="0">
              <a:buNone/>
            </a:pPr>
            <a:r>
              <a:rPr lang="en-US" sz="1400" dirty="0">
                <a:solidFill>
                  <a:schemeClr val="accent6"/>
                </a:solidFill>
              </a:rPr>
              <a:t>the cell receives it</a:t>
            </a:r>
            <a:endParaRPr lang="en-US" sz="1400" dirty="0"/>
          </a:p>
        </p:txBody>
      </p:sp>
      <p:sp>
        <p:nvSpPr>
          <p:cNvPr id="26" name="cli card"/>
          <p:cNvSpPr/>
          <p:nvPr/>
        </p:nvSpPr>
        <p:spPr>
          <a:xfrm>
            <a:off x="548640" y="3840480"/>
            <a:ext cx="6035040" cy="2194560"/>
          </a:xfrm>
          <a:prstGeom prst="roundRect">
            <a:avLst>
              <a:gd name="adj" fmla="val 5000"/>
            </a:avLst>
          </a:prstGeom>
          <a:solidFill>
            <a:schemeClr val="tx1"/>
          </a:solidFill>
          <a:ln w="12700">
            <a:solidFill>
              <a:schemeClr val="tx1"/>
            </a:solidFill>
            <a:prstDash val="solid"/>
          </a:ln>
        </p:spPr>
      </p:sp>
      <p:sp>
        <p:nvSpPr>
          <p:cNvPr id="27" name="Text 21"/>
          <p:cNvSpPr txBox="1"/>
          <p:nvPr/>
        </p:nvSpPr>
        <p:spPr>
          <a:xfrm>
            <a:off x="777240" y="3950208"/>
            <a:ext cx="55778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the same file, on the command line</a:t>
            </a:r>
            <a:endParaRPr lang="en-US" sz="1100" dirty="0"/>
          </a:p>
        </p:txBody>
      </p:sp>
      <p:sp>
        <p:nvSpPr>
          <p:cNvPr id="28" name="cli text"/>
          <p:cNvSpPr txBox="1"/>
          <p:nvPr/>
        </p:nvSpPr>
        <p:spPr>
          <a:xfrm>
            <a:off x="777240" y="4251960"/>
            <a:ext cx="5577840" cy="1645920"/>
          </a:xfrm>
          <a:prstGeom prst="rect">
            <a:avLst/>
          </a:prstGeom>
          <a:noFill/>
          <a:ln/>
        </p:spPr>
        <p:txBody>
          <a:bodyPr wrap="square" lIns="0" tIns="0" rIns="0" bIns="0" rtlCol="0" anchor="t"/>
          <a:lstStyle/>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 check steps.sg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39 trials</a:t>
            </a:r>
            <a:endParaRPr lang="en-US" sz="1500" dirty="0"/>
          </a:p>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 render -r 20kHz steps.sg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samples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Gecko, the rig program, plays the trials</a:t>
            </a:r>
            <a:endParaRPr lang="en-US" sz="1500" dirty="0"/>
          </a:p>
        </p:txBody>
      </p:sp>
      <p:sp>
        <p:nvSpPr>
          <p:cNvPr id="29" name="Text 23"/>
          <p:cNvSpPr txBox="1"/>
          <p:nvPr/>
        </p:nvSpPr>
        <p:spPr>
          <a:xfrm>
            <a:off x="6858000" y="3931920"/>
            <a:ext cx="4754880" cy="2011680"/>
          </a:xfrm>
          <a:prstGeom prst="rect">
            <a:avLst/>
          </a:prstGeom>
          <a:noFill/>
          <a:ln/>
        </p:spPr>
        <p:txBody>
          <a:bodyPr wrap="square" lIns="0" tIns="0" rIns="0" bIns="0" rtlCol="0" anchor="t"/>
          <a:lstStyle/>
          <a:p>
            <a:pPr indent="0" marL="0">
              <a:buNone/>
            </a:pPr>
            <a:r>
              <a:rPr lang="en-US" sz="1500" b="1" dirty="0">
                <a:solidFill>
                  <a:schemeClr val="tx1"/>
                </a:solidFill>
              </a:rPr>
              <a:t>Save .sg </a:t>
            </a:r>
            <a:pPr indent="0" marL="0">
              <a:buNone/>
            </a:pPr>
            <a:r>
              <a:rPr lang="en-US" sz="1500" dirty="0">
                <a:solidFill>
                  <a:schemeClr val="tx1"/>
                </a:solidFill>
              </a:rPr>
              <a:t>keeps the text: it is the protocol. </a:t>
            </a:r>
            <a:pPr indent="0" marL="0">
              <a:buNone/>
            </a:pPr>
            <a:r>
              <a:rPr lang="en-US" sz="1500" b="1" dirty="0">
                <a:solidFill>
                  <a:schemeClr val="tx1"/>
                </a:solidFill>
              </a:rPr>
              <a:t>Save .sgb </a:t>
            </a:r>
            <a:pPr indent="0" marL="0">
              <a:buNone/>
            </a:pPr>
            <a:r>
              <a:rPr lang="en-US" sz="1500" dirty="0">
                <a:solidFill>
                  <a:schemeClr val="tx1"/>
                </a:solidFill>
              </a:rPr>
              <a:t>keeps the rendered samples with a full record (text, seed, rate), so any trial can be regenerated years later.</a:t>
            </a:r>
            <a:endParaRPr lang="en-US" sz="1500" dirty="0"/>
          </a:p>
        </p:txBody>
      </p:sp>
      <p:sp>
        <p:nvSpPr>
          <p:cNvPr id="30"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Why this works so well in a browser: WebAssembly</a:t>
            </a:r>
            <a:endParaRPr lang="en-US" sz="3000" dirty="0"/>
          </a:p>
        </p:txBody>
      </p:sp>
      <p:sp>
        <p:nvSpPr>
          <p:cNvPr id="3" name="Text 1"/>
          <p:cNvSpPr txBox="1"/>
          <p:nvPr/>
        </p:nvSpPr>
        <p:spPr>
          <a:xfrm>
            <a:off x="548640" y="1188720"/>
            <a:ext cx="11064240" cy="822960"/>
          </a:xfrm>
          <a:prstGeom prst="rect">
            <a:avLst/>
          </a:prstGeom>
          <a:noFill/>
          <a:ln/>
        </p:spPr>
        <p:txBody>
          <a:bodyPr wrap="square" lIns="0" tIns="0" rIns="0" bIns="0" rtlCol="0" anchor="t"/>
          <a:lstStyle/>
          <a:p>
            <a:pPr indent="0" marL="0">
              <a:buNone/>
            </a:pPr>
            <a:r>
              <a:rPr lang="en-US" sz="1700" dirty="0">
                <a:solidFill>
                  <a:schemeClr val="tx1"/>
                </a:solidFill>
              </a:rPr>
              <a:t>The planner does not imitate StimGen 2: it runs the very same C program as the command line, compiled to WebAssembly, a format every modern browser executes at near-native speed.</a:t>
            </a:r>
            <a:endParaRPr lang="en-US" sz="1700" dirty="0"/>
          </a:p>
        </p:txBody>
      </p:sp>
      <p:sp>
        <p:nvSpPr>
          <p:cNvPr id="4" name="why 0"/>
          <p:cNvSpPr/>
          <p:nvPr/>
        </p:nvSpPr>
        <p:spPr>
          <a:xfrm>
            <a:off x="548640" y="2240280"/>
            <a:ext cx="5440680" cy="1737360"/>
          </a:xfrm>
          <a:prstGeom prst="roundRect">
            <a:avLst>
              <a:gd name="adj" fmla="val 6316"/>
            </a:avLst>
          </a:prstGeom>
          <a:solidFill>
            <a:schemeClr val="bg2"/>
          </a:solidFill>
          <a:ln w="12700">
            <a:solidFill>
              <a:schemeClr val="bg2"/>
            </a:solidFill>
            <a:prstDash val="solid"/>
          </a:ln>
        </p:spPr>
      </p:sp>
      <p:sp>
        <p:nvSpPr>
          <p:cNvPr id="5" name="why 0 circle"/>
          <p:cNvSpPr/>
          <p:nvPr/>
        </p:nvSpPr>
        <p:spPr>
          <a:xfrm>
            <a:off x="822960" y="2560320"/>
            <a:ext cx="731520" cy="731520"/>
          </a:xfrm>
          <a:prstGeom prst="ellipse">
            <a:avLst/>
          </a:prstGeom>
          <a:solidFill>
            <a:srgbClr val="0B7A75"/>
          </a:solidFill>
          <a:ln w="12700">
            <a:solidFill>
              <a:srgbClr val="0B7A75"/>
            </a:solidFill>
            <a:prstDash val="solid"/>
          </a:ln>
        </p:spPr>
      </p:sp>
      <p:pic>
        <p:nvPicPr>
          <p:cNvPr id="6" name="why 0 icon" descr="why 0">    </p:cNvPr>
          <p:cNvPicPr>
            <a:picLocks noChangeAspect="1"/>
          </p:cNvPicPr>
          <p:nvPr/>
        </p:nvPicPr>
        <p:blipFill>
          <a:blip r:embed="rId1"/>
          <a:stretch>
            <a:fillRect/>
          </a:stretch>
        </p:blipFill>
        <p:spPr>
          <a:xfrm>
            <a:off x="1005840" y="2743200"/>
            <a:ext cx="365760" cy="365760"/>
          </a:xfrm>
          <a:prstGeom prst="rect">
            <a:avLst/>
          </a:prstGeom>
        </p:spPr>
      </p:pic>
      <p:sp>
        <p:nvSpPr>
          <p:cNvPr id="7" name="Text 4"/>
          <p:cNvSpPr txBox="1"/>
          <p:nvPr/>
        </p:nvSpPr>
        <p:spPr>
          <a:xfrm>
            <a:off x="1783080" y="2560320"/>
            <a:ext cx="4023360" cy="457200"/>
          </a:xfrm>
          <a:prstGeom prst="rect">
            <a:avLst/>
          </a:prstGeom>
          <a:noFill/>
          <a:ln/>
        </p:spPr>
        <p:txBody>
          <a:bodyPr wrap="square" lIns="0" tIns="0" rIns="0" bIns="0" rtlCol="0" anchor="t"/>
          <a:lstStyle/>
          <a:p>
            <a:pPr indent="0" marL="0">
              <a:buNone/>
            </a:pPr>
            <a:r>
              <a:rPr lang="en-US" sz="1900" b="1" dirty="0">
                <a:solidFill>
                  <a:schemeClr val="tx1"/>
                </a:solidFill>
              </a:rPr>
              <a:t>Nothing to install</a:t>
            </a:r>
            <a:endParaRPr lang="en-US" sz="1900" dirty="0"/>
          </a:p>
        </p:txBody>
      </p:sp>
      <p:sp>
        <p:nvSpPr>
          <p:cNvPr id="8" name="Text 5"/>
          <p:cNvSpPr txBox="1"/>
          <p:nvPr/>
        </p:nvSpPr>
        <p:spPr>
          <a:xfrm>
            <a:off x="1783080" y="3063240"/>
            <a:ext cx="4023360" cy="822960"/>
          </a:xfrm>
          <a:prstGeom prst="rect">
            <a:avLst/>
          </a:prstGeom>
          <a:noFill/>
          <a:ln/>
        </p:spPr>
        <p:txBody>
          <a:bodyPr wrap="square" lIns="0" tIns="0" rIns="0" bIns="0" rtlCol="0" anchor="t"/>
          <a:lstStyle/>
          <a:p>
            <a:pPr indent="0" marL="0">
              <a:buNone/>
            </a:pPr>
            <a:r>
              <a:rPr lang="en-US" sz="1500" dirty="0">
                <a:solidFill>
                  <a:schemeClr val="accent6"/>
                </a:solidFill>
              </a:rPr>
              <a:t>any computer, any system: open the page</a:t>
            </a:r>
            <a:endParaRPr lang="en-US" sz="1500" dirty="0"/>
          </a:p>
        </p:txBody>
      </p:sp>
      <p:sp>
        <p:nvSpPr>
          <p:cNvPr id="9" name="why 1"/>
          <p:cNvSpPr/>
          <p:nvPr/>
        </p:nvSpPr>
        <p:spPr>
          <a:xfrm>
            <a:off x="6172200" y="2240280"/>
            <a:ext cx="5440680" cy="1737360"/>
          </a:xfrm>
          <a:prstGeom prst="roundRect">
            <a:avLst>
              <a:gd name="adj" fmla="val 6316"/>
            </a:avLst>
          </a:prstGeom>
          <a:solidFill>
            <a:schemeClr val="bg2"/>
          </a:solidFill>
          <a:ln w="12700">
            <a:solidFill>
              <a:schemeClr val="bg2"/>
            </a:solidFill>
            <a:prstDash val="solid"/>
          </a:ln>
        </p:spPr>
      </p:sp>
      <p:sp>
        <p:nvSpPr>
          <p:cNvPr id="10" name="why 1 circle"/>
          <p:cNvSpPr/>
          <p:nvPr/>
        </p:nvSpPr>
        <p:spPr>
          <a:xfrm>
            <a:off x="6446520" y="2560320"/>
            <a:ext cx="731520" cy="731520"/>
          </a:xfrm>
          <a:prstGeom prst="ellipse">
            <a:avLst/>
          </a:prstGeom>
          <a:solidFill>
            <a:srgbClr val="0B7A75"/>
          </a:solidFill>
          <a:ln w="12700">
            <a:solidFill>
              <a:srgbClr val="0B7A75"/>
            </a:solidFill>
            <a:prstDash val="solid"/>
          </a:ln>
        </p:spPr>
      </p:sp>
      <p:pic>
        <p:nvPicPr>
          <p:cNvPr id="11" name="why 1 icon" descr="why 1">    </p:cNvPr>
          <p:cNvPicPr>
            <a:picLocks noChangeAspect="1"/>
          </p:cNvPicPr>
          <p:nvPr/>
        </p:nvPicPr>
        <p:blipFill>
          <a:blip r:embed="rId2"/>
          <a:stretch>
            <a:fillRect/>
          </a:stretch>
        </p:blipFill>
        <p:spPr>
          <a:xfrm>
            <a:off x="6629400" y="2743200"/>
            <a:ext cx="365760" cy="365760"/>
          </a:xfrm>
          <a:prstGeom prst="rect">
            <a:avLst/>
          </a:prstGeom>
        </p:spPr>
      </p:pic>
      <p:sp>
        <p:nvSpPr>
          <p:cNvPr id="12" name="Text 8"/>
          <p:cNvSpPr txBox="1"/>
          <p:nvPr/>
        </p:nvSpPr>
        <p:spPr>
          <a:xfrm>
            <a:off x="7406640" y="2560320"/>
            <a:ext cx="4023360" cy="457200"/>
          </a:xfrm>
          <a:prstGeom prst="rect">
            <a:avLst/>
          </a:prstGeom>
          <a:noFill/>
          <a:ln/>
        </p:spPr>
        <p:txBody>
          <a:bodyPr wrap="square" lIns="0" tIns="0" rIns="0" bIns="0" rtlCol="0" anchor="t"/>
          <a:lstStyle/>
          <a:p>
            <a:pPr indent="0" marL="0">
              <a:buNone/>
            </a:pPr>
            <a:r>
              <a:rPr lang="en-US" sz="1900" b="1" dirty="0">
                <a:solidFill>
                  <a:schemeClr val="tx1"/>
                </a:solidFill>
              </a:rPr>
              <a:t>Nothing uploaded</a:t>
            </a:r>
            <a:endParaRPr lang="en-US" sz="1900" dirty="0"/>
          </a:p>
        </p:txBody>
      </p:sp>
      <p:sp>
        <p:nvSpPr>
          <p:cNvPr id="13" name="Text 9"/>
          <p:cNvSpPr txBox="1"/>
          <p:nvPr/>
        </p:nvSpPr>
        <p:spPr>
          <a:xfrm>
            <a:off x="7406640" y="3063240"/>
            <a:ext cx="4023360" cy="822960"/>
          </a:xfrm>
          <a:prstGeom prst="rect">
            <a:avLst/>
          </a:prstGeom>
          <a:noFill/>
          <a:ln/>
        </p:spPr>
        <p:txBody>
          <a:bodyPr wrap="square" lIns="0" tIns="0" rIns="0" bIns="0" rtlCol="0" anchor="t"/>
          <a:lstStyle/>
          <a:p>
            <a:pPr indent="0" marL="0">
              <a:buNone/>
            </a:pPr>
            <a:r>
              <a:rPr lang="en-US" sz="1500" dirty="0">
                <a:solidFill>
                  <a:schemeClr val="accent6"/>
                </a:solidFill>
              </a:rPr>
              <a:t>everything runs on your machine; it even works offline</a:t>
            </a:r>
            <a:endParaRPr lang="en-US" sz="1500" dirty="0"/>
          </a:p>
        </p:txBody>
      </p:sp>
      <p:sp>
        <p:nvSpPr>
          <p:cNvPr id="14" name="why 2"/>
          <p:cNvSpPr/>
          <p:nvPr/>
        </p:nvSpPr>
        <p:spPr>
          <a:xfrm>
            <a:off x="548640" y="4206240"/>
            <a:ext cx="5440680" cy="1737360"/>
          </a:xfrm>
          <a:prstGeom prst="roundRect">
            <a:avLst>
              <a:gd name="adj" fmla="val 6316"/>
            </a:avLst>
          </a:prstGeom>
          <a:solidFill>
            <a:schemeClr val="bg2"/>
          </a:solidFill>
          <a:ln w="12700">
            <a:solidFill>
              <a:schemeClr val="bg2"/>
            </a:solidFill>
            <a:prstDash val="solid"/>
          </a:ln>
        </p:spPr>
      </p:sp>
      <p:sp>
        <p:nvSpPr>
          <p:cNvPr id="15" name="why 2 circle"/>
          <p:cNvSpPr/>
          <p:nvPr/>
        </p:nvSpPr>
        <p:spPr>
          <a:xfrm>
            <a:off x="822960" y="4526280"/>
            <a:ext cx="731520" cy="731520"/>
          </a:xfrm>
          <a:prstGeom prst="ellipse">
            <a:avLst/>
          </a:prstGeom>
          <a:solidFill>
            <a:srgbClr val="0B7A75"/>
          </a:solidFill>
          <a:ln w="12700">
            <a:solidFill>
              <a:srgbClr val="0B7A75"/>
            </a:solidFill>
            <a:prstDash val="solid"/>
          </a:ln>
        </p:spPr>
      </p:sp>
      <p:pic>
        <p:nvPicPr>
          <p:cNvPr id="16" name="why 2 icon" descr="why 2">    </p:cNvPr>
          <p:cNvPicPr>
            <a:picLocks noChangeAspect="1"/>
          </p:cNvPicPr>
          <p:nvPr/>
        </p:nvPicPr>
        <p:blipFill>
          <a:blip r:embed="rId3"/>
          <a:stretch>
            <a:fillRect/>
          </a:stretch>
        </p:blipFill>
        <p:spPr>
          <a:xfrm>
            <a:off x="1005840" y="4709160"/>
            <a:ext cx="365760" cy="365760"/>
          </a:xfrm>
          <a:prstGeom prst="rect">
            <a:avLst/>
          </a:prstGeom>
        </p:spPr>
      </p:pic>
      <p:sp>
        <p:nvSpPr>
          <p:cNvPr id="17" name="Text 12"/>
          <p:cNvSpPr txBox="1"/>
          <p:nvPr/>
        </p:nvSpPr>
        <p:spPr>
          <a:xfrm>
            <a:off x="1783080" y="4526280"/>
            <a:ext cx="4023360" cy="457200"/>
          </a:xfrm>
          <a:prstGeom prst="rect">
            <a:avLst/>
          </a:prstGeom>
          <a:noFill/>
          <a:ln/>
        </p:spPr>
        <p:txBody>
          <a:bodyPr wrap="square" lIns="0" tIns="0" rIns="0" bIns="0" rtlCol="0" anchor="t"/>
          <a:lstStyle/>
          <a:p>
            <a:pPr indent="0" marL="0">
              <a:buNone/>
            </a:pPr>
            <a:r>
              <a:rPr lang="en-US" sz="1900" b="1" dirty="0">
                <a:solidFill>
                  <a:schemeClr val="tx1"/>
                </a:solidFill>
              </a:rPr>
              <a:t>The same results</a:t>
            </a:r>
            <a:endParaRPr lang="en-US" sz="1900" dirty="0"/>
          </a:p>
        </p:txBody>
      </p:sp>
      <p:sp>
        <p:nvSpPr>
          <p:cNvPr id="18" name="Text 13"/>
          <p:cNvSpPr txBox="1"/>
          <p:nvPr/>
        </p:nvSpPr>
        <p:spPr>
          <a:xfrm>
            <a:off x="1783080" y="5029200"/>
            <a:ext cx="4023360" cy="822960"/>
          </a:xfrm>
          <a:prstGeom prst="rect">
            <a:avLst/>
          </a:prstGeom>
          <a:noFill/>
          <a:ln/>
        </p:spPr>
        <p:txBody>
          <a:bodyPr wrap="square" lIns="0" tIns="0" rIns="0" bIns="0" rtlCol="0" anchor="t"/>
          <a:lstStyle/>
          <a:p>
            <a:pPr indent="0" marL="0">
              <a:buNone/>
            </a:pPr>
            <a:r>
              <a:rPr lang="en-US" sz="1500" dirty="0">
                <a:solidFill>
                  <a:schemeClr val="accent6"/>
                </a:solidFill>
              </a:rPr>
              <a:t>same seeds, same samples as the sg command line — checked by 76 automatic tests</a:t>
            </a:r>
            <a:endParaRPr lang="en-US" sz="1500" dirty="0"/>
          </a:p>
        </p:txBody>
      </p:sp>
      <p:sp>
        <p:nvSpPr>
          <p:cNvPr id="19" name="why 3"/>
          <p:cNvSpPr/>
          <p:nvPr/>
        </p:nvSpPr>
        <p:spPr>
          <a:xfrm>
            <a:off x="6172200" y="4206240"/>
            <a:ext cx="5440680" cy="1737360"/>
          </a:xfrm>
          <a:prstGeom prst="roundRect">
            <a:avLst>
              <a:gd name="adj" fmla="val 6316"/>
            </a:avLst>
          </a:prstGeom>
          <a:solidFill>
            <a:schemeClr val="bg2"/>
          </a:solidFill>
          <a:ln w="12700">
            <a:solidFill>
              <a:schemeClr val="bg2"/>
            </a:solidFill>
            <a:prstDash val="solid"/>
          </a:ln>
        </p:spPr>
      </p:sp>
      <p:sp>
        <p:nvSpPr>
          <p:cNvPr id="20" name="why 3 circle"/>
          <p:cNvSpPr/>
          <p:nvPr/>
        </p:nvSpPr>
        <p:spPr>
          <a:xfrm>
            <a:off x="6446520" y="4526280"/>
            <a:ext cx="731520" cy="731520"/>
          </a:xfrm>
          <a:prstGeom prst="ellipse">
            <a:avLst/>
          </a:prstGeom>
          <a:solidFill>
            <a:srgbClr val="0B7A75"/>
          </a:solidFill>
          <a:ln w="12700">
            <a:solidFill>
              <a:srgbClr val="0B7A75"/>
            </a:solidFill>
            <a:prstDash val="solid"/>
          </a:ln>
        </p:spPr>
      </p:sp>
      <p:pic>
        <p:nvPicPr>
          <p:cNvPr id="21" name="why 3 icon" descr="why 3">    </p:cNvPr>
          <p:cNvPicPr>
            <a:picLocks noChangeAspect="1"/>
          </p:cNvPicPr>
          <p:nvPr/>
        </p:nvPicPr>
        <p:blipFill>
          <a:blip r:embed="rId4"/>
          <a:stretch>
            <a:fillRect/>
          </a:stretch>
        </p:blipFill>
        <p:spPr>
          <a:xfrm>
            <a:off x="6629400" y="4709160"/>
            <a:ext cx="365760" cy="365760"/>
          </a:xfrm>
          <a:prstGeom prst="rect">
            <a:avLst/>
          </a:prstGeom>
        </p:spPr>
      </p:pic>
      <p:sp>
        <p:nvSpPr>
          <p:cNvPr id="22" name="Text 16"/>
          <p:cNvSpPr txBox="1"/>
          <p:nvPr/>
        </p:nvSpPr>
        <p:spPr>
          <a:xfrm>
            <a:off x="7406640" y="4526280"/>
            <a:ext cx="4023360" cy="457200"/>
          </a:xfrm>
          <a:prstGeom prst="rect">
            <a:avLst/>
          </a:prstGeom>
          <a:noFill/>
          <a:ln/>
        </p:spPr>
        <p:txBody>
          <a:bodyPr wrap="square" lIns="0" tIns="0" rIns="0" bIns="0" rtlCol="0" anchor="t"/>
          <a:lstStyle/>
          <a:p>
            <a:pPr indent="0" marL="0">
              <a:buNone/>
            </a:pPr>
            <a:r>
              <a:rPr lang="en-US" sz="1900" b="1" dirty="0">
                <a:solidFill>
                  <a:schemeClr val="tx1"/>
                </a:solidFill>
              </a:rPr>
              <a:t>Small and fast</a:t>
            </a:r>
            <a:endParaRPr lang="en-US" sz="1900" dirty="0"/>
          </a:p>
        </p:txBody>
      </p:sp>
      <p:sp>
        <p:nvSpPr>
          <p:cNvPr id="23" name="Text 17"/>
          <p:cNvSpPr txBox="1"/>
          <p:nvPr/>
        </p:nvSpPr>
        <p:spPr>
          <a:xfrm>
            <a:off x="7406640" y="5029200"/>
            <a:ext cx="4023360" cy="822960"/>
          </a:xfrm>
          <a:prstGeom prst="rect">
            <a:avLst/>
          </a:prstGeom>
          <a:noFill/>
          <a:ln/>
        </p:spPr>
        <p:txBody>
          <a:bodyPr wrap="square" lIns="0" tIns="0" rIns="0" bIns="0" rtlCol="0" anchor="t"/>
          <a:lstStyle/>
          <a:p>
            <a:pPr indent="0" marL="0">
              <a:buNone/>
            </a:pPr>
            <a:r>
              <a:rPr lang="en-US" sz="1500" dirty="0">
                <a:solidFill>
                  <a:schemeClr val="accent6"/>
                </a:solidFill>
              </a:rPr>
              <a:t>170 KB; minutes of stimulus render in about a second</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Cheat sheet</a:t>
            </a:r>
            <a:endParaRPr lang="en-US" sz="3000" dirty="0"/>
          </a:p>
        </p:txBody>
      </p:sp>
      <p:graphicFrame>
        <p:nvGraphicFramePr>
          <p:cNvPr id="19" name="cheat sheet"/>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3840480"/>
                <a:gridCol w="7223760"/>
              </a:tblGrid>
              <a:tr h="42976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I want to …</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start quickly</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Examples menu</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add a segment</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click a generator in the palette → Insert</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change a segment</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click it in the segment strip → Apply</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add noise or an envelope</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select the line → Edit → Combine</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repeat part of a stimulus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select the lines → Edit → Repeat</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vary a value across trials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select the value → Make → Sweep</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see several trials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show: overlay or stack</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freeze the noise</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keep (or seed=17 in the text)</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zoom</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drag on the plot · double-click to reset</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2976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take it to the rig</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File → Save .sg</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lIns="0" tIns="0" rIns="0" bIns="0" rtlCol="0"/>
          <a:lstStyle/>
          <a:p>
            <a:pPr algn="l" indent="0" marL="0">
              <a:buNone/>
            </a:pPr>
            <a:r>
              <a:rPr lang="en-US" sz="4000" b="1" dirty="0">
                <a:solidFill>
                  <a:schemeClr val="bg1"/>
                </a:solidFill>
              </a:rPr>
              <a:t>Open it and try</a:t>
            </a:r>
            <a:endParaRPr lang="en-US" sz="4000" dirty="0"/>
          </a:p>
        </p:txBody>
      </p:sp>
      <p:sp>
        <p:nvSpPr>
          <p:cNvPr id="3" name="url card"/>
          <p:cNvSpPr/>
          <p:nvPr/>
        </p:nvSpPr>
        <p:spPr>
          <a:xfrm>
            <a:off x="640080" y="1737360"/>
            <a:ext cx="6583680" cy="914400"/>
          </a:xfrm>
          <a:prstGeom prst="roundRect">
            <a:avLst>
              <a:gd name="adj" fmla="val 12000"/>
            </a:avLst>
          </a:prstGeom>
          <a:solidFill>
            <a:schemeClr val="tx1"/>
          </a:solidFill>
          <a:ln w="12700">
            <a:solidFill>
              <a:schemeClr val="tx1"/>
            </a:solidFill>
            <a:prstDash val="solid"/>
          </a:ln>
        </p:spPr>
      </p:sp>
      <p:sp>
        <p:nvSpPr>
          <p:cNvPr id="4" name="url text"/>
          <p:cNvSpPr txBox="1"/>
          <p:nvPr/>
        </p:nvSpPr>
        <p:spPr>
          <a:xfrm>
            <a:off x="868680" y="1920240"/>
            <a:ext cx="6126480" cy="594360"/>
          </a:xfrm>
          <a:prstGeom prst="rect">
            <a:avLst/>
          </a:prstGeom>
          <a:noFill/>
          <a:ln/>
        </p:spPr>
        <p:txBody>
          <a:bodyPr wrap="square" lIns="0" tIns="0" rIns="0" bIns="0" rtlCol="0" anchor="t"/>
          <a:lstStyle/>
          <a:p>
            <a:pPr indent="0" marL="0">
              <a:spcAft>
                <a:spcPts val="200"/>
              </a:spcAft>
              <a:buNone/>
            </a:pPr>
            <a:r>
              <a:rPr lang="en-US" sz="2800" dirty="0">
                <a:solidFill>
                  <a:schemeClr val="bg1"/>
                </a:solidFill>
                <a:latin typeface="Courier New" pitchFamily="34" charset="0"/>
                <a:ea typeface="Courier New" pitchFamily="34" charset="-122"/>
                <a:cs typeface="Courier New" pitchFamily="34" charset="-120"/>
              </a:rPr>
              <a:t>blog.giugliano.info/StimGen2</a:t>
            </a:r>
            <a:endParaRPr lang="en-US" sz="2800" dirty="0"/>
          </a:p>
        </p:txBody>
      </p:sp>
      <p:sp>
        <p:nvSpPr>
          <p:cNvPr id="5" name="Text 3"/>
          <p:cNvSpPr txBox="1"/>
          <p:nvPr/>
        </p:nvSpPr>
        <p:spPr>
          <a:xfrm>
            <a:off x="640080" y="3017520"/>
            <a:ext cx="6583680" cy="402336"/>
          </a:xfrm>
          <a:prstGeom prst="rect">
            <a:avLst/>
          </a:prstGeom>
          <a:noFill/>
          <a:ln/>
        </p:spPr>
        <p:txBody>
          <a:bodyPr wrap="square" lIns="0" tIns="0" rIns="0" bIns="0" rtlCol="0" anchor="t"/>
          <a:lstStyle/>
          <a:p>
            <a:pPr indent="0" marL="0">
              <a:buNone/>
            </a:pPr>
            <a:r>
              <a:rPr lang="en-US" sz="1900" b="1" dirty="0">
                <a:solidFill>
                  <a:schemeClr val="bg1"/>
                </a:solidFill>
              </a:rPr>
              <a:t>1. Examples → A family of steps</a:t>
            </a:r>
            <a:endParaRPr lang="en-US" sz="1900" dirty="0"/>
          </a:p>
        </p:txBody>
      </p:sp>
      <p:sp>
        <p:nvSpPr>
          <p:cNvPr id="6" name="Text 4"/>
          <p:cNvSpPr txBox="1"/>
          <p:nvPr/>
        </p:nvSpPr>
        <p:spPr>
          <a:xfrm>
            <a:off x="640080" y="3456432"/>
            <a:ext cx="6583680" cy="365760"/>
          </a:xfrm>
          <a:prstGeom prst="rect">
            <a:avLst/>
          </a:prstGeom>
          <a:noFill/>
          <a:ln/>
        </p:spPr>
        <p:txBody>
          <a:bodyPr wrap="square" lIns="0" tIns="0" rIns="0" bIns="0" rtlCol="0" anchor="t"/>
          <a:lstStyle/>
          <a:p>
            <a:pPr indent="0" marL="0">
              <a:buNone/>
            </a:pPr>
            <a:r>
              <a:rPr lang="en-US" sz="1500" dirty="0">
                <a:solidFill>
                  <a:schemeClr val="accent4"/>
                </a:solidFill>
              </a:rPr>
              <a:t>press Play</a:t>
            </a:r>
            <a:endParaRPr lang="en-US" sz="1500" dirty="0"/>
          </a:p>
        </p:txBody>
      </p:sp>
      <p:sp>
        <p:nvSpPr>
          <p:cNvPr id="7" name="Text 5"/>
          <p:cNvSpPr txBox="1"/>
          <p:nvPr/>
        </p:nvSpPr>
        <p:spPr>
          <a:xfrm>
            <a:off x="640080" y="3886200"/>
            <a:ext cx="6583680" cy="402336"/>
          </a:xfrm>
          <a:prstGeom prst="rect">
            <a:avLst/>
          </a:prstGeom>
          <a:noFill/>
          <a:ln/>
        </p:spPr>
        <p:txBody>
          <a:bodyPr wrap="square" lIns="0" tIns="0" rIns="0" bIns="0" rtlCol="0" anchor="t"/>
          <a:lstStyle/>
          <a:p>
            <a:pPr indent="0" marL="0">
              <a:buNone/>
            </a:pPr>
            <a:r>
              <a:rPr lang="en-US" sz="1900" b="1" dirty="0">
                <a:solidFill>
                  <a:schemeClr val="bg1"/>
                </a:solidFill>
              </a:rPr>
              <a:t>2. Change 50pA into 100pA</a:t>
            </a:r>
            <a:endParaRPr lang="en-US" sz="1900" dirty="0"/>
          </a:p>
        </p:txBody>
      </p:sp>
      <p:sp>
        <p:nvSpPr>
          <p:cNvPr id="8" name="Text 6"/>
          <p:cNvSpPr txBox="1"/>
          <p:nvPr/>
        </p:nvSpPr>
        <p:spPr>
          <a:xfrm>
            <a:off x="640080" y="4325112"/>
            <a:ext cx="6583680" cy="365760"/>
          </a:xfrm>
          <a:prstGeom prst="rect">
            <a:avLst/>
          </a:prstGeom>
          <a:noFill/>
          <a:ln/>
        </p:spPr>
        <p:txBody>
          <a:bodyPr wrap="square" lIns="0" tIns="0" rIns="0" bIns="0" rtlCol="0" anchor="t"/>
          <a:lstStyle/>
          <a:p>
            <a:pPr indent="0" marL="0">
              <a:buNone/>
            </a:pPr>
            <a:r>
              <a:rPr lang="en-US" sz="1500" dirty="0">
                <a:solidFill>
                  <a:schemeClr val="accent4"/>
                </a:solidFill>
              </a:rPr>
              <a:t>watch the trials change</a:t>
            </a:r>
            <a:endParaRPr lang="en-US" sz="1500" dirty="0"/>
          </a:p>
        </p:txBody>
      </p:sp>
      <p:sp>
        <p:nvSpPr>
          <p:cNvPr id="9" name="Text 7"/>
          <p:cNvSpPr txBox="1"/>
          <p:nvPr/>
        </p:nvSpPr>
        <p:spPr>
          <a:xfrm>
            <a:off x="640080" y="4754880"/>
            <a:ext cx="6583680" cy="402336"/>
          </a:xfrm>
          <a:prstGeom prst="rect">
            <a:avLst/>
          </a:prstGeom>
          <a:noFill/>
          <a:ln/>
        </p:spPr>
        <p:txBody>
          <a:bodyPr wrap="square" lIns="0" tIns="0" rIns="0" bIns="0" rtlCol="0" anchor="t"/>
          <a:lstStyle/>
          <a:p>
            <a:pPr indent="0" marL="0">
              <a:buNone/>
            </a:pPr>
            <a:r>
              <a:rPr lang="en-US" sz="1900" b="1" dirty="0">
                <a:solidFill>
                  <a:schemeClr val="bg1"/>
                </a:solidFill>
              </a:rPr>
              <a:t>3. Make it yours</a:t>
            </a:r>
            <a:endParaRPr lang="en-US" sz="1900" dirty="0"/>
          </a:p>
        </p:txBody>
      </p:sp>
      <p:sp>
        <p:nvSpPr>
          <p:cNvPr id="10" name="Text 8"/>
          <p:cNvSpPr txBox="1"/>
          <p:nvPr/>
        </p:nvSpPr>
        <p:spPr>
          <a:xfrm>
            <a:off x="640080" y="5193792"/>
            <a:ext cx="6583680" cy="365760"/>
          </a:xfrm>
          <a:prstGeom prst="rect">
            <a:avLst/>
          </a:prstGeom>
          <a:noFill/>
          <a:ln/>
        </p:spPr>
        <p:txBody>
          <a:bodyPr wrap="square" lIns="0" tIns="0" rIns="0" bIns="0" rtlCol="0" anchor="t"/>
          <a:lstStyle/>
          <a:p>
            <a:pPr indent="0" marL="0">
              <a:buNone/>
            </a:pPr>
            <a:r>
              <a:rPr lang="en-US" sz="1500" dirty="0">
                <a:solidFill>
                  <a:schemeClr val="accent4"/>
                </a:solidFill>
              </a:rPr>
              <a:t>Save .sg and bring it to the rig</a:t>
            </a:r>
            <a:endParaRPr lang="en-US" sz="1500" dirty="0"/>
          </a:p>
        </p:txBody>
      </p:sp>
      <p:pic>
        <p:nvPicPr>
          <p:cNvPr id="11" name="screenshot protocol-overlay" descr="A protocol in the planner">    </p:cNvPr>
          <p:cNvPicPr>
            <a:picLocks noChangeAspect="1"/>
          </p:cNvPicPr>
          <p:nvPr/>
        </p:nvPicPr>
        <p:blipFill>
          <a:blip r:embed="rId1"/>
          <a:srcRect l="38889" r="0" t="6977" b="0"/>
          <a:stretch/>
        </p:blipFill>
        <p:spPr>
          <a:xfrm>
            <a:off x="7589520" y="1920240"/>
            <a:ext cx="4023360" cy="3657600"/>
          </a:xfrm>
          <a:prstGeom prst="rect">
            <a:avLst/>
          </a:prstGeom>
        </p:spPr>
      </p:pic>
      <p:sp>
        <p:nvSpPr>
          <p:cNvPr id="12" name="frame protocol-overlay"/>
          <p:cNvSpPr/>
          <p:nvPr/>
        </p:nvSpPr>
        <p:spPr>
          <a:xfrm>
            <a:off x="7589520" y="1920240"/>
            <a:ext cx="4023360" cy="3657600"/>
          </a:xfrm>
          <a:prstGeom prst="rect">
            <a:avLst/>
          </a:prstGeom>
          <a:ln w="12700">
            <a:solidFill>
              <a:srgbClr val="EEF4F3"/>
            </a:solidFill>
            <a:prstDash val="solid"/>
          </a:ln>
        </p:spPr>
      </p:sp>
      <p:sp>
        <p:nvSpPr>
          <p:cNvPr id="13" name="Text 10"/>
          <p:cNvSpPr txBox="1"/>
          <p:nvPr/>
        </p:nvSpPr>
        <p:spPr>
          <a:xfrm>
            <a:off x="640080" y="6080760"/>
            <a:ext cx="10058400" cy="365760"/>
          </a:xfrm>
          <a:prstGeom prst="rect">
            <a:avLst/>
          </a:prstGeom>
          <a:noFill/>
          <a:ln/>
        </p:spPr>
        <p:txBody>
          <a:bodyPr wrap="square" lIns="0" tIns="0" rIns="0" bIns="0" rtlCol="0" anchor="t"/>
          <a:lstStyle/>
          <a:p>
            <a:pPr indent="0" marL="0">
              <a:buNone/>
            </a:pPr>
            <a:r>
              <a:rPr lang="en-US" sz="1300" dirty="0">
                <a:solidFill>
                  <a:schemeClr val="accent6"/>
                </a:solidFill>
              </a:rPr>
              <a:t>StimGen 2 · Michele Giugliano · MIT License · Help → Generators and topics</a:t>
            </a:r>
            <a:endParaRPr lang="en-US" sz="1300" dirty="0"/>
          </a:p>
        </p:txBody>
      </p:sp>
    </p:spTree>
  </p:cSld>
  <p:clrMapOvr>
    <a:masterClrMapping/>
  </p:clrMapOvr>
</p:sld>
</file>

<file path=ppt/theme/theme1.xml><?xml version="1.0" encoding="utf-8"?>
<a:theme xmlns:a="http://schemas.openxmlformats.org/drawingml/2006/main" name="StimGen 2">
  <a:themeElements>
    <a:clrScheme name="StimGen 2">
      <a:dk1>
        <a:srgbClr val="1B2A41"/>
      </a:dk1>
      <a:lt1>
        <a:srgbClr val="FFFFFF"/>
      </a:lt1>
      <a:dk2>
        <a:srgbClr val="0B7A75"/>
      </a:dk2>
      <a:lt2>
        <a:srgbClr val="EEF4F3"/>
      </a:lt2>
      <a:accent1>
        <a:srgbClr val="0B7A75"/>
      </a:accent1>
      <a:accent2>
        <a:srgbClr val="F26419"/>
      </a:accent2>
      <a:accent3>
        <a:srgbClr val="1B2A41"/>
      </a:accent3>
      <a:accent4>
        <a:srgbClr val="7FC8C2"/>
      </a:accent4>
      <a:accent5>
        <a:srgbClr val="F6AE2D"/>
      </a:accent5>
      <a:accent6>
        <a:srgbClr val="5C6B7A"/>
      </a:accent6>
      <a:hlink>
        <a:srgbClr val="0B7A75"/>
      </a:hlink>
      <a:folHlink>
        <a:srgbClr val="5C6B7A"/>
      </a:folHlink>
    </a:clrScheme>
    <a:fontScheme name="StimGen 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your stimuli in the browser: the StimGen 2 planner</dc:title>
  <dc:subject>Tutorial on the StimGen 2 web planner</dc:subject>
  <dc:creator>Michele Giugliano</dc:creator>
  <cp:lastModifiedBy>Michele Giugliano</cp:lastModifiedBy>
  <cp:revision>1</cp:revision>
  <dcterms:created xsi:type="dcterms:W3CDTF">2026-10-04T13:19:54Z</dcterms:created>
  <dcterms:modified xsi:type="dcterms:W3CDTF">2026-10-04T13:19:54Z</dcterms:modified>
</cp:coreProperties>
</file>