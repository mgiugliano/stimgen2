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203976-a8a0-8436-5126-c012d532d1cf}">
          <p14:sldIdLst>
            <p14:sldId id="256"/>
            <p14:sldId id="257"/>
            <p14:sldId id="258"/>
          </p14:sldIdLst>
        </p14:section>
        <p14:section name="Writing stimuli" id="{3e5192e2-70f3-9ffe-bd71-43fcbaddb823}">
          <p14:sldIdLst>
            <p14:sldId id="259"/>
            <p14:sldId id="260"/>
            <p14:sldId id="261"/>
            <p14:sldId id="262"/>
            <p14:sldId id="263"/>
          </p14:sldIdLst>
        </p14:section>
        <p14:section name="Experiments" id="{4e162e52-ac55-0c82-8027-f8908c18fd86}">
          <p14:sldIdLst>
            <p14:sldId id="264"/>
            <p14:sldId id="265"/>
            <p14:sldId id="266"/>
          </p14:sldIdLst>
        </p14:section>
        <p14:section name="On the rig" id="{73470776-031d-b849-e214-1eb1201b56fe}">
          <p14:sldIdLst>
            <p14:sldId id="267"/>
            <p14:sldId id="268"/>
            <p14:sldId id="269"/>
          </p14:sldIdLst>
        </p14:section>
        <p14:section name="Wrap-up" id="{c7eadd9b-06ed-cdf2-5d31-305567e4732f}">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StimGen 2 lets you write a stimulus the way you would describe it to a colleague: half a second at rest, one second at 300 pA, half a second at rest. This tutorial shows how to write such texts, check them, look at them, and play them on the National Instruments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step one is your job: a text file. The program sg checks the text, turns it into samples and lets you plot them before any cell is involved. The acquisition program, called sgplay here, reads the same text, converts it to volts for the NI board, plays it and records. The name sgplay is a placeholder for that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A description is short, because it describes the shape, not every sample. It is repeatable: the noise comes from a seed that is always saved. And it is portable: nothing in the file depends on the sampling rate or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three lines in a file called step.sg. Each line is a segment: how long, and what. dc means a constant level. Then run sg render with a sampling rate and the unit of the channel. The result is step.sgb, which you can plot with python3 tools/sgplot.py step.sgb.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has three parts. First how long, always with a unit. Then what: the name of a generator. Then the parameters in parentheses, by name or by position. Units are part of the language: writing a time where a frequency is expected is an error, not a silent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generators cover almost every protocol: levels and ramps, periodic waves and frequency sweeps, synaptic-like waveforms and pulse trains, four kinds of noise, and samples read from a file. sg help followed by a name lists the parameters, their units and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seed, each playing gives new noise with the same statistics. With -s on the command line you can reproduce a run. With seed= inside the text the noise is frozen: identical wherever you use it, which is what you need to measure spike-time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Generators can be added and multiplied like numbers, sample by sample. Functions such as pos or abs transform them. repeat repeats part of a waveform, and braces make a block: here a trapezoid multiplies a sine to make an oscillation that fades in 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stimulus file lists several channels on one time base, for example a presynaptic and a postsynaptic cell. Channels have names; the mapping to physical outputs lives in the rig file of the acquisition program, so the same file runs on any set-up. A label such as @train becomes a marker stored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describes a whole series of trials. sweep defines a variable and its values, repeat the number of repetitions, order how they are shuffled, and period the time between trials. In the stimulus, $amp is replaced by each value. sg expand writes all 39 trials as files if you want to inspect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save experiments. Check every file with sg check: it reports the line of any mistake. Look at the waveform with sgplot before a cell sees it. And if you like, expand a protocol into plain files. sg examples prints forty commands you can paste into 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session would look at the rig. sgplay receives the same text files; it renders them with exactly the rules of sg at the sampling rate of the board, looks up which board output each channel uses, converts the numbers to volts with the amplifier gains, refuses anything that would clip, plays and records, and stores the recording with the full stimulus record. The interface shown is a proposal for that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 file is the only place where wires appear. It names the board, the sampling rate, and for each channel name the board line and the gain of the amplifier. Change rigs, change this file; the stimulus files stay as they are. The format of the rig file is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output file carries a record of how it was made: the full text, the seed, the rate, the program version, and a digest of the samples. From that record alone, any trial can be regenerated exactly, which is what makes old recordings re-analysable.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one table. Keep it next to the rig.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single line, check it, look at it, then build up. The built-in help and the examples cover the rest; the specification explains every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429000"/>
            <a:ext cx="6583680" cy="10972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StimGen 2 · a beginner's tutorial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463040"/>
          </a:xfrm>
          <a:prstGeom prst="rect">
            <a:avLst/>
          </a:prstGeom>
          <a:noFill/>
          <a:ln/>
        </p:spPr>
        <p:txBody>
          <a:bodyPr wrap="square" lIns="0" tIns="0" rIns="0" bIns="0" rtlCol="0" anchor="b"/>
          <a:lstStyle/>
          <a:p>
            <a:pPr algn="l" indent="0" marL="0">
              <a:buNone/>
            </a:pPr>
            <a:r>
              <a:rPr lang="en-US" sz="4800" b="1" dirty="0">
                <a:solidFill>
                  <a:schemeClr val="bg1"/>
                </a:solidFill>
              </a:rPr>
              <a:t>Stimuli as text</a:t>
            </a:r>
            <a:endParaRPr lang="en-US" sz="4800" dirty="0"/>
          </a:p>
        </p:txBody>
      </p:sp>
      <p:sp>
        <p:nvSpPr>
          <p:cNvPr id="3" name="Text 0"/>
          <p:cNvSpPr/>
          <p:nvPr>
            <p:ph idx="101" type="body" hasCustomPrompt="1"/>
          </p:nvPr>
        </p:nvSpPr>
        <p:spPr>
          <a:xfrm>
            <a:off x="640080" y="3429000"/>
            <a:ext cx="6583680" cy="1097280"/>
          </a:xfrm>
          <a:prstGeom prst="rect">
            <a:avLst/>
          </a:prstGeom>
          <a:noFill/>
          <a:ln/>
        </p:spPr>
        <p:txBody>
          <a:bodyPr wrap="square" lIns="0" tIns="0" rIns="0" bIns="0" rtlCol="0" anchor="t"/>
          <a:lstStyle/>
          <a:p>
            <a:pPr indent="0" marL="0">
              <a:buNone/>
            </a:pPr>
            <a:r>
              <a:rPr lang="en-US" sz="2000" dirty="0">
                <a:solidFill>
                  <a:schemeClr val="accent4"/>
                </a:solidFill>
              </a:rPr>
              <a:t>A beginner's guide to generating electrophysiology stimuli with StimGen 2</a:t>
            </a:r>
            <a:endParaRPr lang="en-US" sz="2000" dirty="0"/>
          </a:p>
        </p:txBody>
      </p:sp>
      <p:sp>
        <p:nvSpPr>
          <p:cNvPr id="4" name="Text 2"/>
          <p:cNvSpPr txBox="1"/>
          <p:nvPr/>
        </p:nvSpPr>
        <p:spPr>
          <a:xfrm>
            <a:off x="640080" y="5852160"/>
            <a:ext cx="6400800" cy="365760"/>
          </a:xfrm>
          <a:prstGeom prst="rect">
            <a:avLst/>
          </a:prstGeom>
          <a:noFill/>
          <a:ln/>
        </p:spPr>
        <p:txBody>
          <a:bodyPr wrap="square" lIns="0" tIns="0" rIns="0" bIns="0" rtlCol="0" anchor="t"/>
          <a:lstStyle/>
          <a:p>
            <a:pPr indent="0" marL="0">
              <a:buNone/>
            </a:pPr>
            <a:r>
              <a:rPr lang="en-US" sz="1400" dirty="0">
                <a:solidFill>
                  <a:schemeClr val="accent6"/>
                </a:solidFill>
              </a:rPr>
              <a:t>Michele Giugliano  ·  sg 0.2  ·  MIT License</a:t>
            </a:r>
            <a:endParaRPr lang="en-US" sz="1400" dirty="0"/>
          </a:p>
        </p:txBody>
      </p:sp>
      <p:sp>
        <p:nvSpPr>
          <p:cNvPr id="5" name="title card"/>
          <p:cNvSpPr/>
          <p:nvPr/>
        </p:nvSpPr>
        <p:spPr>
          <a:xfrm>
            <a:off x="7863840" y="1828800"/>
            <a:ext cx="3749040" cy="2651760"/>
          </a:xfrm>
          <a:prstGeom prst="roundRect">
            <a:avLst>
              <a:gd name="adj" fmla="val 4138"/>
            </a:avLst>
          </a:prstGeom>
          <a:solidFill>
            <a:schemeClr val="tx1"/>
          </a:solidFill>
          <a:ln w="12700">
            <a:solidFill>
              <a:schemeClr val="tx1"/>
            </a:solidFill>
            <a:prstDash val="solid"/>
          </a:ln>
        </p:spPr>
      </p:sp>
      <p:sp>
        <p:nvSpPr>
          <p:cNvPr id="6" name="title label"/>
          <p:cNvSpPr txBox="1"/>
          <p:nvPr/>
        </p:nvSpPr>
        <p:spPr>
          <a:xfrm>
            <a:off x="8092440" y="1938528"/>
            <a:ext cx="329184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step.sg</a:t>
            </a:r>
            <a:endParaRPr lang="en-US" sz="1100" dirty="0"/>
          </a:p>
        </p:txBody>
      </p:sp>
      <p:sp>
        <p:nvSpPr>
          <p:cNvPr id="7" name="title text"/>
          <p:cNvSpPr txBox="1"/>
          <p:nvPr/>
        </p:nvSpPr>
        <p:spPr>
          <a:xfrm>
            <a:off x="8092440" y="2240280"/>
            <a:ext cx="3291840" cy="2103120"/>
          </a:xfrm>
          <a:prstGeom prst="rect">
            <a:avLst/>
          </a:prstGeom>
          <a:noFill/>
          <a:ln/>
        </p:spPr>
        <p:txBody>
          <a:bodyPr wrap="square" lIns="0" tIns="0" rIns="0" bIns="0" rtlCol="0" anchor="t"/>
          <a:lstStyle/>
          <a:p>
            <a:pPr indent="0" marL="0">
              <a:spcAft>
                <a:spcPts val="200"/>
              </a:spcAft>
              <a:buNone/>
            </a:pPr>
            <a:r>
              <a:rPr lang="en-US" sz="2000" dirty="0">
                <a:solidFill>
                  <a:schemeClr val="bg1"/>
                </a:solidFill>
                <a:latin typeface="Courier New" pitchFamily="34" charset="0"/>
                <a:ea typeface="Courier New" pitchFamily="34" charset="-122"/>
                <a:cs typeface="Courier New" pitchFamily="34" charset="-120"/>
              </a:rPr>
              <a:t>500ms  dc(0)</a:t>
            </a:r>
            <a:endParaRPr lang="en-US" sz="2000" dirty="0"/>
          </a:p>
          <a:p>
            <a:pPr indent="0" marL="0">
              <a:spcAft>
                <a:spcPts val="200"/>
              </a:spcAft>
              <a:buNone/>
            </a:pPr>
            <a:r>
              <a:rPr lang="en-US" sz="2000" dirty="0">
                <a:solidFill>
                  <a:schemeClr val="bg1"/>
                </a:solidFill>
                <a:latin typeface="Courier New" pitchFamily="34" charset="0"/>
                <a:ea typeface="Courier New" pitchFamily="34" charset="-122"/>
                <a:cs typeface="Courier New" pitchFamily="34" charset="-120"/>
              </a:rPr>
              <a:t>1s     dc(300)</a:t>
            </a:r>
            <a:endParaRPr lang="en-US" sz="2000" dirty="0"/>
          </a:p>
          <a:p>
            <a:pPr indent="0" marL="0">
              <a:spcAft>
                <a:spcPts val="200"/>
              </a:spcAft>
              <a:buNone/>
            </a:pPr>
            <a:r>
              <a:rPr lang="en-US" sz="2000" dirty="0">
                <a:solidFill>
                  <a:schemeClr val="bg1"/>
                </a:solidFill>
                <a:latin typeface="Courier New" pitchFamily="34" charset="0"/>
                <a:ea typeface="Courier New" pitchFamily="34" charset="-122"/>
                <a:cs typeface="Courier New" pitchFamily="34" charset="-120"/>
              </a:rPr>
              <a:t>500ms  dc(0)</a:t>
            </a:r>
            <a:endParaRPr lang="en-US" sz="2000" dirty="0"/>
          </a:p>
        </p:txBody>
      </p:sp>
      <p:sp>
        <p:nvSpPr>
          <p:cNvPr id="8" name="Text 6"/>
          <p:cNvSpPr txBox="1"/>
          <p:nvPr/>
        </p:nvSpPr>
        <p:spPr>
          <a:xfrm>
            <a:off x="7863840" y="4617720"/>
            <a:ext cx="3749040" cy="365760"/>
          </a:xfrm>
          <a:prstGeom prst="rect">
            <a:avLst/>
          </a:prstGeom>
          <a:noFill/>
          <a:ln/>
        </p:spPr>
        <p:txBody>
          <a:bodyPr wrap="square" lIns="0" tIns="0" rIns="0" bIns="0" rtlCol="0" anchor="t"/>
          <a:lstStyle/>
          <a:p>
            <a:pPr indent="0" marL="0">
              <a:buNone/>
            </a:pPr>
            <a:r>
              <a:rPr lang="en-US" sz="1400" i="1" dirty="0">
                <a:solidFill>
                  <a:schemeClr val="accent4"/>
                </a:solidFill>
              </a:rPr>
              <a:t>three lines = a current step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From a line of text to a neuron</a:t>
            </a:r>
            <a:endParaRPr lang="en-US" sz="3200" dirty="0"/>
          </a:p>
        </p:txBody>
      </p:sp>
      <p:sp>
        <p:nvSpPr>
          <p:cNvPr id="3" name="step 1 box"/>
          <p:cNvSpPr/>
          <p:nvPr/>
        </p:nvSpPr>
        <p:spPr>
          <a:xfrm>
            <a:off x="548640" y="1737360"/>
            <a:ext cx="1920240" cy="2834640"/>
          </a:xfrm>
          <a:prstGeom prst="roundRect">
            <a:avLst>
              <a:gd name="adj" fmla="val 5714"/>
            </a:avLst>
          </a:prstGeom>
          <a:solidFill>
            <a:schemeClr val="bg2"/>
          </a:solidFill>
          <a:ln w="12700">
            <a:solidFill>
              <a:schemeClr val="bg2"/>
            </a:solidFill>
            <a:prstDash val="solid"/>
          </a:ln>
        </p:spPr>
      </p:sp>
      <p:sp>
        <p:nvSpPr>
          <p:cNvPr id="4" name="step 1 circle"/>
          <p:cNvSpPr/>
          <p:nvPr/>
        </p:nvSpPr>
        <p:spPr>
          <a:xfrm>
            <a:off x="1097280" y="2011680"/>
            <a:ext cx="822960" cy="822960"/>
          </a:xfrm>
          <a:prstGeom prst="ellipse">
            <a:avLst/>
          </a:prstGeom>
          <a:solidFill>
            <a:srgbClr val="0B7A75"/>
          </a:solidFill>
          <a:ln w="12700">
            <a:solidFill>
              <a:srgbClr val="0B7A75"/>
            </a:solidFill>
            <a:prstDash val="solid"/>
          </a:ln>
        </p:spPr>
      </p:sp>
      <p:pic>
        <p:nvPicPr>
          <p:cNvPr id="5" name="step 1 icon" descr="step 1">    </p:cNvPr>
          <p:cNvPicPr>
            <a:picLocks noChangeAspect="1"/>
          </p:cNvPicPr>
          <p:nvPr/>
        </p:nvPicPr>
        <p:blipFill>
          <a:blip r:embed="rId1"/>
          <a:stretch>
            <a:fillRect/>
          </a:stretch>
        </p:blipFill>
        <p:spPr>
          <a:xfrm>
            <a:off x="1303020" y="2217420"/>
            <a:ext cx="411480" cy="411480"/>
          </a:xfrm>
          <a:prstGeom prst="rect">
            <a:avLst/>
          </a:prstGeom>
        </p:spPr>
      </p:pic>
      <p:sp>
        <p:nvSpPr>
          <p:cNvPr id="6" name="Text 3"/>
          <p:cNvSpPr txBox="1"/>
          <p:nvPr/>
        </p:nvSpPr>
        <p:spPr>
          <a:xfrm>
            <a:off x="685800" y="2971800"/>
            <a:ext cx="1645920" cy="365760"/>
          </a:xfrm>
          <a:prstGeom prst="rect">
            <a:avLst/>
          </a:prstGeom>
          <a:noFill/>
          <a:ln/>
        </p:spPr>
        <p:txBody>
          <a:bodyPr wrap="square" lIns="0" tIns="0" rIns="0" bIns="0" rtlCol="0" anchor="t"/>
          <a:lstStyle/>
          <a:p>
            <a:pPr algn="ctr" indent="0" marL="0">
              <a:buNone/>
            </a:pPr>
            <a:r>
              <a:rPr lang="en-US" sz="1700" b="1" dirty="0">
                <a:solidFill>
                  <a:schemeClr val="tx1"/>
                </a:solidFill>
              </a:rPr>
              <a:t>1. Write</a:t>
            </a:r>
            <a:endParaRPr lang="en-US" sz="1700" dirty="0"/>
          </a:p>
        </p:txBody>
      </p:sp>
      <p:sp>
        <p:nvSpPr>
          <p:cNvPr id="7" name="Text 4"/>
          <p:cNvSpPr txBox="1"/>
          <p:nvPr/>
        </p:nvSpPr>
        <p:spPr>
          <a:xfrm>
            <a:off x="685800" y="3383280"/>
            <a:ext cx="1645920" cy="365760"/>
          </a:xfrm>
          <a:prstGeom prst="rect">
            <a:avLst/>
          </a:prstGeom>
          <a:noFill/>
          <a:ln/>
        </p:spPr>
        <p:txBody>
          <a:bodyPr wrap="square" lIns="0" tIns="0" rIns="0" bIns="0" rtlCol="0" anchor="t"/>
          <a:lstStyle/>
          <a:p>
            <a:pPr algn="ctr" indent="0" marL="0">
              <a:buNone/>
            </a:pPr>
            <a:r>
              <a:rPr lang="en-US" sz="1500" dirty="0">
                <a:solidFill>
                  <a:schemeClr val="accent1"/>
                </a:solidFill>
                <a:latin typeface="Courier New" pitchFamily="34" charset="0"/>
                <a:ea typeface="Courier New" pitchFamily="34" charset="-122"/>
                <a:cs typeface="Courier New" pitchFamily="34" charset="-120"/>
              </a:rPr>
              <a:t>step.sg</a:t>
            </a:r>
            <a:endParaRPr lang="en-US" sz="1500" dirty="0"/>
          </a:p>
        </p:txBody>
      </p:sp>
      <p:sp>
        <p:nvSpPr>
          <p:cNvPr id="8" name="Text 5"/>
          <p:cNvSpPr txBox="1"/>
          <p:nvPr/>
        </p:nvSpPr>
        <p:spPr>
          <a:xfrm>
            <a:off x="685800" y="3794760"/>
            <a:ext cx="1645920" cy="640080"/>
          </a:xfrm>
          <a:prstGeom prst="rect">
            <a:avLst/>
          </a:prstGeom>
          <a:noFill/>
          <a:ln/>
        </p:spPr>
        <p:txBody>
          <a:bodyPr wrap="square" lIns="0" tIns="0" rIns="0" bIns="0" rtlCol="0" anchor="t"/>
          <a:lstStyle/>
          <a:p>
            <a:pPr algn="ctr" indent="0" marL="0">
              <a:buNone/>
            </a:pPr>
            <a:r>
              <a:rPr lang="en-US" sz="1300" dirty="0">
                <a:solidFill>
                  <a:schemeClr val="accent6"/>
                </a:solidFill>
              </a:rPr>
              <a:t>a short text file</a:t>
            </a:r>
            <a:endParaRPr lang="en-US" sz="1300" dirty="0"/>
          </a:p>
        </p:txBody>
      </p:sp>
      <p:sp>
        <p:nvSpPr>
          <p:cNvPr id="9" name="arrow 1"/>
          <p:cNvSpPr/>
          <p:nvPr/>
        </p:nvSpPr>
        <p:spPr>
          <a:xfrm>
            <a:off x="2496312" y="2971800"/>
            <a:ext cx="310896" cy="365760"/>
          </a:xfrm>
          <a:prstGeom prst="rightArrow">
            <a:avLst/>
          </a:prstGeom>
          <a:solidFill>
            <a:schemeClr val="accent2"/>
          </a:solidFill>
          <a:ln w="12700">
            <a:solidFill>
              <a:schemeClr val="accent2"/>
            </a:solidFill>
            <a:prstDash val="solid"/>
          </a:ln>
        </p:spPr>
      </p:sp>
      <p:sp>
        <p:nvSpPr>
          <p:cNvPr id="10" name="step 2 box"/>
          <p:cNvSpPr/>
          <p:nvPr/>
        </p:nvSpPr>
        <p:spPr>
          <a:xfrm>
            <a:off x="2834640" y="1737360"/>
            <a:ext cx="1920240" cy="2834640"/>
          </a:xfrm>
          <a:prstGeom prst="roundRect">
            <a:avLst>
              <a:gd name="adj" fmla="val 5714"/>
            </a:avLst>
          </a:prstGeom>
          <a:solidFill>
            <a:schemeClr val="bg2"/>
          </a:solidFill>
          <a:ln w="12700">
            <a:solidFill>
              <a:schemeClr val="bg2"/>
            </a:solidFill>
            <a:prstDash val="solid"/>
          </a:ln>
        </p:spPr>
      </p:sp>
      <p:sp>
        <p:nvSpPr>
          <p:cNvPr id="11" name="step 2 circle"/>
          <p:cNvSpPr/>
          <p:nvPr/>
        </p:nvSpPr>
        <p:spPr>
          <a:xfrm>
            <a:off x="3383280" y="2011680"/>
            <a:ext cx="822960" cy="822960"/>
          </a:xfrm>
          <a:prstGeom prst="ellipse">
            <a:avLst/>
          </a:prstGeom>
          <a:solidFill>
            <a:srgbClr val="0B7A75"/>
          </a:solidFill>
          <a:ln w="12700">
            <a:solidFill>
              <a:srgbClr val="0B7A75"/>
            </a:solidFill>
            <a:prstDash val="solid"/>
          </a:ln>
        </p:spPr>
      </p:sp>
      <p:pic>
        <p:nvPicPr>
          <p:cNvPr id="12" name="step 2 icon" descr="step 2">    </p:cNvPr>
          <p:cNvPicPr>
            <a:picLocks noChangeAspect="1"/>
          </p:cNvPicPr>
          <p:nvPr/>
        </p:nvPicPr>
        <p:blipFill>
          <a:blip r:embed="rId2"/>
          <a:stretch>
            <a:fillRect/>
          </a:stretch>
        </p:blipFill>
        <p:spPr>
          <a:xfrm>
            <a:off x="3589020" y="2217420"/>
            <a:ext cx="411480" cy="411480"/>
          </a:xfrm>
          <a:prstGeom prst="rect">
            <a:avLst/>
          </a:prstGeom>
        </p:spPr>
      </p:pic>
      <p:sp>
        <p:nvSpPr>
          <p:cNvPr id="13" name="Text 9"/>
          <p:cNvSpPr txBox="1"/>
          <p:nvPr/>
        </p:nvSpPr>
        <p:spPr>
          <a:xfrm>
            <a:off x="2971800" y="2971800"/>
            <a:ext cx="1645920" cy="365760"/>
          </a:xfrm>
          <a:prstGeom prst="rect">
            <a:avLst/>
          </a:prstGeom>
          <a:noFill/>
          <a:ln/>
        </p:spPr>
        <p:txBody>
          <a:bodyPr wrap="square" lIns="0" tIns="0" rIns="0" bIns="0" rtlCol="0" anchor="t"/>
          <a:lstStyle/>
          <a:p>
            <a:pPr algn="ctr" indent="0" marL="0">
              <a:buNone/>
            </a:pPr>
            <a:r>
              <a:rPr lang="en-US" sz="1700" b="1" dirty="0">
                <a:solidFill>
                  <a:schemeClr val="tx1"/>
                </a:solidFill>
              </a:rPr>
              <a:t>2. Check &amp; look</a:t>
            </a:r>
            <a:endParaRPr lang="en-US" sz="1700" dirty="0"/>
          </a:p>
        </p:txBody>
      </p:sp>
      <p:sp>
        <p:nvSpPr>
          <p:cNvPr id="14" name="Text 10"/>
          <p:cNvSpPr txBox="1"/>
          <p:nvPr/>
        </p:nvSpPr>
        <p:spPr>
          <a:xfrm>
            <a:off x="2971800" y="3383280"/>
            <a:ext cx="1645920" cy="365760"/>
          </a:xfrm>
          <a:prstGeom prst="rect">
            <a:avLst/>
          </a:prstGeom>
          <a:noFill/>
          <a:ln/>
        </p:spPr>
        <p:txBody>
          <a:bodyPr wrap="square" lIns="0" tIns="0" rIns="0" bIns="0" rtlCol="0" anchor="t"/>
          <a:lstStyle/>
          <a:p>
            <a:pPr algn="ctr" indent="0" marL="0">
              <a:buNone/>
            </a:pPr>
            <a:r>
              <a:rPr lang="en-US" sz="1500" dirty="0">
                <a:solidFill>
                  <a:schemeClr val="accent1"/>
                </a:solidFill>
                <a:latin typeface="Courier New" pitchFamily="34" charset="0"/>
                <a:ea typeface="Courier New" pitchFamily="34" charset="-122"/>
                <a:cs typeface="Courier New" pitchFamily="34" charset="-120"/>
              </a:rPr>
              <a:t>sg</a:t>
            </a:r>
            <a:endParaRPr lang="en-US" sz="1500" dirty="0"/>
          </a:p>
        </p:txBody>
      </p:sp>
      <p:sp>
        <p:nvSpPr>
          <p:cNvPr id="15" name="Text 11"/>
          <p:cNvSpPr txBox="1"/>
          <p:nvPr/>
        </p:nvSpPr>
        <p:spPr>
          <a:xfrm>
            <a:off x="2971800" y="3794760"/>
            <a:ext cx="1645920" cy="640080"/>
          </a:xfrm>
          <a:prstGeom prst="rect">
            <a:avLst/>
          </a:prstGeom>
          <a:noFill/>
          <a:ln/>
        </p:spPr>
        <p:txBody>
          <a:bodyPr wrap="square" lIns="0" tIns="0" rIns="0" bIns="0" rtlCol="0" anchor="t"/>
          <a:lstStyle/>
          <a:p>
            <a:pPr algn="ctr" indent="0" marL="0">
              <a:buNone/>
            </a:pPr>
            <a:r>
              <a:rPr lang="en-US" sz="1300" dirty="0">
                <a:solidFill>
                  <a:schemeClr val="accent6"/>
                </a:solidFill>
              </a:rPr>
              <a:t>checks it, renders it, plots it</a:t>
            </a:r>
            <a:endParaRPr lang="en-US" sz="1300" dirty="0"/>
          </a:p>
        </p:txBody>
      </p:sp>
      <p:sp>
        <p:nvSpPr>
          <p:cNvPr id="16" name="arrow 2"/>
          <p:cNvSpPr/>
          <p:nvPr/>
        </p:nvSpPr>
        <p:spPr>
          <a:xfrm>
            <a:off x="4782312" y="2971800"/>
            <a:ext cx="310896" cy="365760"/>
          </a:xfrm>
          <a:prstGeom prst="rightArrow">
            <a:avLst/>
          </a:prstGeom>
          <a:solidFill>
            <a:schemeClr val="accent2"/>
          </a:solidFill>
          <a:ln w="12700">
            <a:solidFill>
              <a:schemeClr val="accent2"/>
            </a:solidFill>
            <a:prstDash val="solid"/>
          </a:ln>
        </p:spPr>
      </p:sp>
      <p:sp>
        <p:nvSpPr>
          <p:cNvPr id="17" name="step 3 box"/>
          <p:cNvSpPr/>
          <p:nvPr/>
        </p:nvSpPr>
        <p:spPr>
          <a:xfrm>
            <a:off x="5120640" y="1737360"/>
            <a:ext cx="1920240" cy="2834640"/>
          </a:xfrm>
          <a:prstGeom prst="roundRect">
            <a:avLst>
              <a:gd name="adj" fmla="val 5714"/>
            </a:avLst>
          </a:prstGeom>
          <a:solidFill>
            <a:schemeClr val="accent1"/>
          </a:solidFill>
          <a:ln w="12700">
            <a:solidFill>
              <a:schemeClr val="accent1"/>
            </a:solidFill>
            <a:prstDash val="solid"/>
          </a:ln>
        </p:spPr>
      </p:sp>
      <p:sp>
        <p:nvSpPr>
          <p:cNvPr id="18" name="step 3 circle"/>
          <p:cNvSpPr/>
          <p:nvPr/>
        </p:nvSpPr>
        <p:spPr>
          <a:xfrm>
            <a:off x="5669280" y="2011680"/>
            <a:ext cx="822960" cy="822960"/>
          </a:xfrm>
          <a:prstGeom prst="ellipse">
            <a:avLst/>
          </a:prstGeom>
          <a:solidFill>
            <a:srgbClr val="FFFFFF"/>
          </a:solidFill>
          <a:ln w="12700">
            <a:solidFill>
              <a:srgbClr val="FFFFFF"/>
            </a:solidFill>
            <a:prstDash val="solid"/>
          </a:ln>
        </p:spPr>
      </p:sp>
      <p:pic>
        <p:nvPicPr>
          <p:cNvPr id="19" name="step 3 icon" descr="step 3">    </p:cNvPr>
          <p:cNvPicPr>
            <a:picLocks noChangeAspect="1"/>
          </p:cNvPicPr>
          <p:nvPr/>
        </p:nvPicPr>
        <p:blipFill>
          <a:blip r:embed="rId3"/>
          <a:stretch>
            <a:fillRect/>
          </a:stretch>
        </p:blipFill>
        <p:spPr>
          <a:xfrm>
            <a:off x="5875020" y="2217420"/>
            <a:ext cx="411480" cy="411480"/>
          </a:xfrm>
          <a:prstGeom prst="rect">
            <a:avLst/>
          </a:prstGeom>
        </p:spPr>
      </p:pic>
      <p:sp>
        <p:nvSpPr>
          <p:cNvPr id="20" name="Text 15"/>
          <p:cNvSpPr txBox="1"/>
          <p:nvPr/>
        </p:nvSpPr>
        <p:spPr>
          <a:xfrm>
            <a:off x="5257800" y="2971800"/>
            <a:ext cx="1645920" cy="365760"/>
          </a:xfrm>
          <a:prstGeom prst="rect">
            <a:avLst/>
          </a:prstGeom>
          <a:noFill/>
          <a:ln/>
        </p:spPr>
        <p:txBody>
          <a:bodyPr wrap="square" lIns="0" tIns="0" rIns="0" bIns="0" rtlCol="0" anchor="t"/>
          <a:lstStyle/>
          <a:p>
            <a:pPr algn="ctr" indent="0" marL="0">
              <a:buNone/>
            </a:pPr>
            <a:r>
              <a:rPr lang="en-US" sz="1700" b="1" dirty="0">
                <a:solidFill>
                  <a:schemeClr val="bg1"/>
                </a:solidFill>
              </a:rPr>
              <a:t>3. Play</a:t>
            </a:r>
            <a:endParaRPr lang="en-US" sz="1700" dirty="0"/>
          </a:p>
        </p:txBody>
      </p:sp>
      <p:sp>
        <p:nvSpPr>
          <p:cNvPr id="21" name="Text 16"/>
          <p:cNvSpPr txBox="1"/>
          <p:nvPr/>
        </p:nvSpPr>
        <p:spPr>
          <a:xfrm>
            <a:off x="5257800" y="3383280"/>
            <a:ext cx="1645920" cy="365760"/>
          </a:xfrm>
          <a:prstGeom prst="rect">
            <a:avLst/>
          </a:prstGeom>
          <a:noFill/>
          <a:ln/>
        </p:spPr>
        <p:txBody>
          <a:bodyPr wrap="square" lIns="0" tIns="0" rIns="0" bIns="0" rtlCol="0" anchor="t"/>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sgplay</a:t>
            </a:r>
            <a:endParaRPr lang="en-US" sz="1500" dirty="0"/>
          </a:p>
        </p:txBody>
      </p:sp>
      <p:sp>
        <p:nvSpPr>
          <p:cNvPr id="22" name="Text 17"/>
          <p:cNvSpPr txBox="1"/>
          <p:nvPr/>
        </p:nvSpPr>
        <p:spPr>
          <a:xfrm>
            <a:off x="5257800" y="3794760"/>
            <a:ext cx="1645920" cy="640080"/>
          </a:xfrm>
          <a:prstGeom prst="rect">
            <a:avLst/>
          </a:prstGeom>
          <a:noFill/>
          <a:ln/>
        </p:spPr>
        <p:txBody>
          <a:bodyPr wrap="square" lIns="0" tIns="0" rIns="0" bIns="0" rtlCol="0" anchor="t"/>
          <a:lstStyle/>
          <a:p>
            <a:pPr algn="ctr" indent="0" marL="0">
              <a:buNone/>
            </a:pPr>
            <a:r>
              <a:rPr lang="en-US" sz="1300" dirty="0">
                <a:solidFill>
                  <a:schemeClr val="bg1"/>
                </a:solidFill>
              </a:rPr>
              <a:t>reads the text, drives the board</a:t>
            </a:r>
            <a:endParaRPr lang="en-US" sz="1300" dirty="0"/>
          </a:p>
        </p:txBody>
      </p:sp>
      <p:sp>
        <p:nvSpPr>
          <p:cNvPr id="23" name="arrow 3"/>
          <p:cNvSpPr/>
          <p:nvPr/>
        </p:nvSpPr>
        <p:spPr>
          <a:xfrm>
            <a:off x="7068312" y="2971800"/>
            <a:ext cx="310896" cy="365760"/>
          </a:xfrm>
          <a:prstGeom prst="rightArrow">
            <a:avLst/>
          </a:prstGeom>
          <a:solidFill>
            <a:schemeClr val="accent2"/>
          </a:solidFill>
          <a:ln w="12700">
            <a:solidFill>
              <a:schemeClr val="accent2"/>
            </a:solidFill>
            <a:prstDash val="solid"/>
          </a:ln>
        </p:spPr>
      </p:sp>
      <p:sp>
        <p:nvSpPr>
          <p:cNvPr id="24" name="step 4 box"/>
          <p:cNvSpPr/>
          <p:nvPr/>
        </p:nvSpPr>
        <p:spPr>
          <a:xfrm>
            <a:off x="7406640" y="1737360"/>
            <a:ext cx="1920240" cy="2834640"/>
          </a:xfrm>
          <a:prstGeom prst="roundRect">
            <a:avLst>
              <a:gd name="adj" fmla="val 5714"/>
            </a:avLst>
          </a:prstGeom>
          <a:solidFill>
            <a:schemeClr val="bg2"/>
          </a:solidFill>
          <a:ln w="12700">
            <a:solidFill>
              <a:schemeClr val="bg2"/>
            </a:solidFill>
            <a:prstDash val="solid"/>
          </a:ln>
        </p:spPr>
      </p:sp>
      <p:sp>
        <p:nvSpPr>
          <p:cNvPr id="25" name="step 4 circle"/>
          <p:cNvSpPr/>
          <p:nvPr/>
        </p:nvSpPr>
        <p:spPr>
          <a:xfrm>
            <a:off x="7955280" y="2011680"/>
            <a:ext cx="822960" cy="822960"/>
          </a:xfrm>
          <a:prstGeom prst="ellipse">
            <a:avLst/>
          </a:prstGeom>
          <a:solidFill>
            <a:srgbClr val="0B7A75"/>
          </a:solidFill>
          <a:ln w="12700">
            <a:solidFill>
              <a:srgbClr val="0B7A75"/>
            </a:solidFill>
            <a:prstDash val="solid"/>
          </a:ln>
        </p:spPr>
      </p:sp>
      <p:pic>
        <p:nvPicPr>
          <p:cNvPr id="26" name="step 4 icon" descr="step 4">    </p:cNvPr>
          <p:cNvPicPr>
            <a:picLocks noChangeAspect="1"/>
          </p:cNvPicPr>
          <p:nvPr/>
        </p:nvPicPr>
        <p:blipFill>
          <a:blip r:embed="rId4"/>
          <a:stretch>
            <a:fillRect/>
          </a:stretch>
        </p:blipFill>
        <p:spPr>
          <a:xfrm>
            <a:off x="8161020" y="2217420"/>
            <a:ext cx="411480" cy="411480"/>
          </a:xfrm>
          <a:prstGeom prst="rect">
            <a:avLst/>
          </a:prstGeom>
        </p:spPr>
      </p:pic>
      <p:sp>
        <p:nvSpPr>
          <p:cNvPr id="27" name="Text 21"/>
          <p:cNvSpPr txBox="1"/>
          <p:nvPr/>
        </p:nvSpPr>
        <p:spPr>
          <a:xfrm>
            <a:off x="7543800" y="2971800"/>
            <a:ext cx="1645920" cy="365760"/>
          </a:xfrm>
          <a:prstGeom prst="rect">
            <a:avLst/>
          </a:prstGeom>
          <a:noFill/>
          <a:ln/>
        </p:spPr>
        <p:txBody>
          <a:bodyPr wrap="square" lIns="0" tIns="0" rIns="0" bIns="0" rtlCol="0" anchor="t"/>
          <a:lstStyle/>
          <a:p>
            <a:pPr algn="ctr" indent="0" marL="0">
              <a:buNone/>
            </a:pPr>
            <a:r>
              <a:rPr lang="en-US" sz="1700" b="1" dirty="0">
                <a:solidFill>
                  <a:schemeClr val="tx1"/>
                </a:solidFill>
              </a:rPr>
              <a:t>4. NI board</a:t>
            </a:r>
            <a:endParaRPr lang="en-US" sz="1700" dirty="0"/>
          </a:p>
        </p:txBody>
      </p:sp>
      <p:sp>
        <p:nvSpPr>
          <p:cNvPr id="28" name="Text 22"/>
          <p:cNvSpPr txBox="1"/>
          <p:nvPr/>
        </p:nvSpPr>
        <p:spPr>
          <a:xfrm>
            <a:off x="7543800" y="3383280"/>
            <a:ext cx="1645920" cy="365760"/>
          </a:xfrm>
          <a:prstGeom prst="rect">
            <a:avLst/>
          </a:prstGeom>
          <a:noFill/>
          <a:ln/>
        </p:spPr>
        <p:txBody>
          <a:bodyPr wrap="square" lIns="0" tIns="0" rIns="0" bIns="0" rtlCol="0" anchor="t"/>
          <a:lstStyle/>
          <a:p>
            <a:pPr algn="ctr" indent="0" marL="0">
              <a:buNone/>
            </a:pPr>
            <a:r>
              <a:rPr lang="en-US" sz="1500" dirty="0">
                <a:solidFill>
                  <a:schemeClr val="accent1"/>
                </a:solidFill>
                <a:latin typeface="Courier New" pitchFamily="34" charset="0"/>
                <a:ea typeface="Courier New" pitchFamily="34" charset="-122"/>
                <a:cs typeface="Courier New" pitchFamily="34" charset="-120"/>
              </a:rPr>
              <a:t>AO · AI · DO</a:t>
            </a:r>
            <a:endParaRPr lang="en-US" sz="1500" dirty="0"/>
          </a:p>
        </p:txBody>
      </p:sp>
      <p:sp>
        <p:nvSpPr>
          <p:cNvPr id="29" name="Text 23"/>
          <p:cNvSpPr txBox="1"/>
          <p:nvPr/>
        </p:nvSpPr>
        <p:spPr>
          <a:xfrm>
            <a:off x="7543800" y="3794760"/>
            <a:ext cx="1645920" cy="640080"/>
          </a:xfrm>
          <a:prstGeom prst="rect">
            <a:avLst/>
          </a:prstGeom>
          <a:noFill/>
          <a:ln/>
        </p:spPr>
        <p:txBody>
          <a:bodyPr wrap="square" lIns="0" tIns="0" rIns="0" bIns="0" rtlCol="0" anchor="t"/>
          <a:lstStyle/>
          <a:p>
            <a:pPr algn="ctr" indent="0" marL="0">
              <a:buNone/>
            </a:pPr>
            <a:r>
              <a:rPr lang="en-US" sz="1300" dirty="0">
                <a:solidFill>
                  <a:schemeClr val="accent6"/>
                </a:solidFill>
              </a:rPr>
              <a:t>converts numbers to volts</a:t>
            </a:r>
            <a:endParaRPr lang="en-US" sz="1300" dirty="0"/>
          </a:p>
        </p:txBody>
      </p:sp>
      <p:sp>
        <p:nvSpPr>
          <p:cNvPr id="30" name="arrow 4"/>
          <p:cNvSpPr/>
          <p:nvPr/>
        </p:nvSpPr>
        <p:spPr>
          <a:xfrm>
            <a:off x="9354312" y="2971800"/>
            <a:ext cx="310896" cy="365760"/>
          </a:xfrm>
          <a:prstGeom prst="rightArrow">
            <a:avLst/>
          </a:prstGeom>
          <a:solidFill>
            <a:schemeClr val="accent2"/>
          </a:solidFill>
          <a:ln w="12700">
            <a:solidFill>
              <a:schemeClr val="accent2"/>
            </a:solidFill>
            <a:prstDash val="solid"/>
          </a:ln>
        </p:spPr>
      </p:sp>
      <p:sp>
        <p:nvSpPr>
          <p:cNvPr id="31" name="step 5 box"/>
          <p:cNvSpPr/>
          <p:nvPr/>
        </p:nvSpPr>
        <p:spPr>
          <a:xfrm>
            <a:off x="9692640" y="1737360"/>
            <a:ext cx="1920240" cy="2834640"/>
          </a:xfrm>
          <a:prstGeom prst="roundRect">
            <a:avLst>
              <a:gd name="adj" fmla="val 5714"/>
            </a:avLst>
          </a:prstGeom>
          <a:solidFill>
            <a:schemeClr val="bg2"/>
          </a:solidFill>
          <a:ln w="12700">
            <a:solidFill>
              <a:schemeClr val="bg2"/>
            </a:solidFill>
            <a:prstDash val="solid"/>
          </a:ln>
        </p:spPr>
      </p:sp>
      <p:sp>
        <p:nvSpPr>
          <p:cNvPr id="32" name="step 5 circle"/>
          <p:cNvSpPr/>
          <p:nvPr/>
        </p:nvSpPr>
        <p:spPr>
          <a:xfrm>
            <a:off x="10241280" y="2011680"/>
            <a:ext cx="822960" cy="822960"/>
          </a:xfrm>
          <a:prstGeom prst="ellipse">
            <a:avLst/>
          </a:prstGeom>
          <a:solidFill>
            <a:srgbClr val="0B7A75"/>
          </a:solidFill>
          <a:ln w="12700">
            <a:solidFill>
              <a:srgbClr val="0B7A75"/>
            </a:solidFill>
            <a:prstDash val="solid"/>
          </a:ln>
        </p:spPr>
      </p:sp>
      <p:pic>
        <p:nvPicPr>
          <p:cNvPr id="33" name="step 5 icon" descr="step 5">    </p:cNvPr>
          <p:cNvPicPr>
            <a:picLocks noChangeAspect="1"/>
          </p:cNvPicPr>
          <p:nvPr/>
        </p:nvPicPr>
        <p:blipFill>
          <a:blip r:embed="rId5"/>
          <a:stretch>
            <a:fillRect/>
          </a:stretch>
        </p:blipFill>
        <p:spPr>
          <a:xfrm>
            <a:off x="10447020" y="2217420"/>
            <a:ext cx="411480" cy="411480"/>
          </a:xfrm>
          <a:prstGeom prst="rect">
            <a:avLst/>
          </a:prstGeom>
        </p:spPr>
      </p:pic>
      <p:sp>
        <p:nvSpPr>
          <p:cNvPr id="34" name="Text 27"/>
          <p:cNvSpPr txBox="1"/>
          <p:nvPr/>
        </p:nvSpPr>
        <p:spPr>
          <a:xfrm>
            <a:off x="9829800" y="2971800"/>
            <a:ext cx="1645920" cy="365760"/>
          </a:xfrm>
          <a:prstGeom prst="rect">
            <a:avLst/>
          </a:prstGeom>
          <a:noFill/>
          <a:ln/>
        </p:spPr>
        <p:txBody>
          <a:bodyPr wrap="square" lIns="0" tIns="0" rIns="0" bIns="0" rtlCol="0" anchor="t"/>
          <a:lstStyle/>
          <a:p>
            <a:pPr algn="ctr" indent="0" marL="0">
              <a:buNone/>
            </a:pPr>
            <a:r>
              <a:rPr lang="en-US" sz="1700" b="1" dirty="0">
                <a:solidFill>
                  <a:schemeClr val="tx1"/>
                </a:solidFill>
              </a:rPr>
              <a:t>5. Amplifier</a:t>
            </a:r>
            <a:endParaRPr lang="en-US" sz="1700" dirty="0"/>
          </a:p>
        </p:txBody>
      </p:sp>
      <p:sp>
        <p:nvSpPr>
          <p:cNvPr id="35" name="Text 28"/>
          <p:cNvSpPr txBox="1"/>
          <p:nvPr/>
        </p:nvSpPr>
        <p:spPr>
          <a:xfrm>
            <a:off x="9829800" y="3383280"/>
            <a:ext cx="1645920" cy="365760"/>
          </a:xfrm>
          <a:prstGeom prst="rect">
            <a:avLst/>
          </a:prstGeom>
          <a:noFill/>
          <a:ln/>
        </p:spPr>
        <p:txBody>
          <a:bodyPr wrap="square" lIns="0" tIns="0" rIns="0" bIns="0" rtlCol="0" anchor="t"/>
          <a:lstStyle/>
          <a:p>
            <a:pPr algn="ctr" indent="0" marL="0">
              <a:buNone/>
            </a:pPr>
            <a:r>
              <a:rPr lang="en-US" sz="1500" dirty="0">
                <a:solidFill>
                  <a:schemeClr val="accent1"/>
                </a:solidFill>
                <a:latin typeface="Courier New" pitchFamily="34" charset="0"/>
                <a:ea typeface="Courier New" pitchFamily="34" charset="-122"/>
                <a:cs typeface="Courier New" pitchFamily="34" charset="-120"/>
              </a:rPr>
              <a:t>→ cell</a:t>
            </a:r>
            <a:endParaRPr lang="en-US" sz="1500" dirty="0"/>
          </a:p>
        </p:txBody>
      </p:sp>
      <p:sp>
        <p:nvSpPr>
          <p:cNvPr id="36" name="Text 29"/>
          <p:cNvSpPr txBox="1"/>
          <p:nvPr/>
        </p:nvSpPr>
        <p:spPr>
          <a:xfrm>
            <a:off x="9829800" y="3794760"/>
            <a:ext cx="1645920" cy="640080"/>
          </a:xfrm>
          <a:prstGeom prst="rect">
            <a:avLst/>
          </a:prstGeom>
          <a:noFill/>
          <a:ln/>
        </p:spPr>
        <p:txBody>
          <a:bodyPr wrap="square" lIns="0" tIns="0" rIns="0" bIns="0" rtlCol="0" anchor="t"/>
          <a:lstStyle/>
          <a:p>
            <a:pPr algn="ctr" indent="0" marL="0">
              <a:buNone/>
            </a:pPr>
            <a:r>
              <a:rPr lang="en-US" sz="1300" dirty="0">
                <a:solidFill>
                  <a:schemeClr val="accent6"/>
                </a:solidFill>
              </a:rPr>
              <a:t>current or voltage clamp</a:t>
            </a:r>
            <a:endParaRPr lang="en-US" sz="1300" dirty="0"/>
          </a:p>
        </p:txBody>
      </p:sp>
      <p:sp>
        <p:nvSpPr>
          <p:cNvPr id="37" name="Text 30"/>
          <p:cNvSpPr txBox="1"/>
          <p:nvPr/>
        </p:nvSpPr>
        <p:spPr>
          <a:xfrm>
            <a:off x="548640" y="4983480"/>
            <a:ext cx="11064240" cy="457200"/>
          </a:xfrm>
          <a:prstGeom prst="rect">
            <a:avLst/>
          </a:prstGeom>
          <a:noFill/>
          <a:ln/>
        </p:spPr>
        <p:txBody>
          <a:bodyPr wrap="square" lIns="0" tIns="0" rIns="0" bIns="0" rtlCol="0" anchor="t"/>
          <a:lstStyle/>
          <a:p>
            <a:pPr indent="0" marL="0">
              <a:buNone/>
            </a:pPr>
            <a:r>
              <a:rPr lang="en-US" sz="1700" b="1" dirty="0">
                <a:solidFill>
                  <a:schemeClr val="tx1"/>
                </a:solidFill>
              </a:rPr>
              <a:t>You only write step 1. </a:t>
            </a:r>
            <a:pPr indent="0" marL="0">
              <a:buNone/>
            </a:pPr>
            <a:r>
              <a:rPr lang="en-US" sz="1700" dirty="0">
                <a:solidFill>
                  <a:schemeClr val="tx1"/>
                </a:solidFill>
              </a:rPr>
              <a:t>sg turns the text into samples and checks it; sgplay plays it on the board and records the response.</a:t>
            </a:r>
            <a:endParaRPr lang="en-US" sz="1700" dirty="0"/>
          </a:p>
        </p:txBody>
      </p:sp>
      <p:sp>
        <p:nvSpPr>
          <p:cNvPr id="38" name="Text 31"/>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200" i="1" dirty="0">
                <a:solidFill>
                  <a:schemeClr val="accent6"/>
                </a:solidFill>
              </a:rPr>
              <a:t>sgplay stands for the acquisition program that talks to the National Instruments board. Its name and options in this tutorial are a proposal.</a:t>
            </a:r>
            <a:endParaRPr lang="en-US" sz="12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write a stimulus as text</a:t>
            </a:r>
            <a:endParaRPr lang="en-US" sz="3200" dirty="0"/>
          </a:p>
        </p:txBody>
      </p:sp>
      <p:sp>
        <p:nvSpPr>
          <p:cNvPr id="3" name="why card 1"/>
          <p:cNvSpPr/>
          <p:nvPr/>
        </p:nvSpPr>
        <p:spPr>
          <a:xfrm>
            <a:off x="548640" y="1554480"/>
            <a:ext cx="3474720" cy="4206240"/>
          </a:xfrm>
          <a:prstGeom prst="roundRect">
            <a:avLst>
              <a:gd name="adj" fmla="val 3158"/>
            </a:avLst>
          </a:prstGeom>
          <a:solidFill>
            <a:schemeClr val="bg2"/>
          </a:solidFill>
          <a:ln w="12700">
            <a:solidFill>
              <a:schemeClr val="bg2"/>
            </a:solidFill>
            <a:prstDash val="solid"/>
          </a:ln>
        </p:spPr>
      </p:sp>
      <p:sp>
        <p:nvSpPr>
          <p:cNvPr id="4" name="why 1 circle"/>
          <p:cNvSpPr/>
          <p:nvPr/>
        </p:nvSpPr>
        <p:spPr>
          <a:xfrm>
            <a:off x="868680" y="1874520"/>
            <a:ext cx="822960" cy="822960"/>
          </a:xfrm>
          <a:prstGeom prst="ellipse">
            <a:avLst/>
          </a:prstGeom>
          <a:solidFill>
            <a:srgbClr val="0B7A75"/>
          </a:solidFill>
          <a:ln w="12700">
            <a:solidFill>
              <a:srgbClr val="0B7A75"/>
            </a:solidFill>
            <a:prstDash val="solid"/>
          </a:ln>
        </p:spPr>
      </p:sp>
      <p:pic>
        <p:nvPicPr>
          <p:cNvPr id="5" name="why 1 icon" descr="why 1">    </p:cNvPr>
          <p:cNvPicPr>
            <a:picLocks noChangeAspect="1"/>
          </p:cNvPicPr>
          <p:nvPr/>
        </p:nvPicPr>
        <p:blipFill>
          <a:blip r:embed="rId1"/>
          <a:stretch>
            <a:fillRect/>
          </a:stretch>
        </p:blipFill>
        <p:spPr>
          <a:xfrm>
            <a:off x="1074420" y="2080260"/>
            <a:ext cx="411480" cy="411480"/>
          </a:xfrm>
          <a:prstGeom prst="rect">
            <a:avLst/>
          </a:prstGeom>
        </p:spPr>
      </p:pic>
      <p:sp>
        <p:nvSpPr>
          <p:cNvPr id="6" name="Text 3"/>
          <p:cNvSpPr txBox="1"/>
          <p:nvPr/>
        </p:nvSpPr>
        <p:spPr>
          <a:xfrm>
            <a:off x="1874520" y="2011680"/>
            <a:ext cx="201168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Short</a:t>
            </a:r>
            <a:endParaRPr lang="en-US" sz="2400" dirty="0"/>
          </a:p>
        </p:txBody>
      </p:sp>
      <p:sp>
        <p:nvSpPr>
          <p:cNvPr id="7" name="Text 4"/>
          <p:cNvSpPr txBox="1"/>
          <p:nvPr/>
        </p:nvSpPr>
        <p:spPr>
          <a:xfrm>
            <a:off x="868680" y="3017520"/>
            <a:ext cx="2926080" cy="640080"/>
          </a:xfrm>
          <a:prstGeom prst="rect">
            <a:avLst/>
          </a:prstGeom>
          <a:noFill/>
          <a:ln/>
        </p:spPr>
        <p:txBody>
          <a:bodyPr wrap="square" lIns="0" tIns="0" rIns="0" bIns="0" rtlCol="0" anchor="t"/>
          <a:lstStyle/>
          <a:p>
            <a:pPr indent="0" marL="0">
              <a:buNone/>
            </a:pPr>
            <a:r>
              <a:rPr lang="en-US" sz="2400" b="1" dirty="0">
                <a:solidFill>
                  <a:schemeClr val="accent2"/>
                </a:solidFill>
              </a:rPr>
              <a:t>1 line</a:t>
            </a:r>
            <a:endParaRPr lang="en-US" sz="2400" dirty="0"/>
          </a:p>
        </p:txBody>
      </p:sp>
      <p:sp>
        <p:nvSpPr>
          <p:cNvPr id="8" name="Text 5"/>
          <p:cNvSpPr txBox="1"/>
          <p:nvPr/>
        </p:nvSpPr>
        <p:spPr>
          <a:xfrm>
            <a:off x="868680" y="3749040"/>
            <a:ext cx="2926080" cy="1737360"/>
          </a:xfrm>
          <a:prstGeom prst="rect">
            <a:avLst/>
          </a:prstGeom>
          <a:noFill/>
          <a:ln/>
        </p:spPr>
        <p:txBody>
          <a:bodyPr wrap="square" lIns="0" tIns="0" rIns="0" bIns="0" rtlCol="0" anchor="t"/>
          <a:lstStyle/>
          <a:p>
            <a:pPr indent="0" marL="0">
              <a:buNone/>
            </a:pPr>
            <a:r>
              <a:rPr lang="en-US" sz="1600" dirty="0">
                <a:solidFill>
                  <a:schemeClr val="tx1"/>
                </a:solidFill>
              </a:rPr>
              <a:t>10 minutes of noise fit in one line: the text does not grow with the duration.</a:t>
            </a:r>
            <a:endParaRPr lang="en-US" sz="1600" dirty="0"/>
          </a:p>
        </p:txBody>
      </p:sp>
      <p:sp>
        <p:nvSpPr>
          <p:cNvPr id="9" name="why card 2"/>
          <p:cNvSpPr/>
          <p:nvPr/>
        </p:nvSpPr>
        <p:spPr>
          <a:xfrm>
            <a:off x="4297680" y="1554480"/>
            <a:ext cx="3474720" cy="4206240"/>
          </a:xfrm>
          <a:prstGeom prst="roundRect">
            <a:avLst>
              <a:gd name="adj" fmla="val 3158"/>
            </a:avLst>
          </a:prstGeom>
          <a:solidFill>
            <a:schemeClr val="bg2"/>
          </a:solidFill>
          <a:ln w="12700">
            <a:solidFill>
              <a:schemeClr val="bg2"/>
            </a:solidFill>
            <a:prstDash val="solid"/>
          </a:ln>
        </p:spPr>
      </p:sp>
      <p:sp>
        <p:nvSpPr>
          <p:cNvPr id="10" name="why 2 circle"/>
          <p:cNvSpPr/>
          <p:nvPr/>
        </p:nvSpPr>
        <p:spPr>
          <a:xfrm>
            <a:off x="4617720" y="1874520"/>
            <a:ext cx="822960" cy="822960"/>
          </a:xfrm>
          <a:prstGeom prst="ellipse">
            <a:avLst/>
          </a:prstGeom>
          <a:solidFill>
            <a:srgbClr val="0B7A75"/>
          </a:solidFill>
          <a:ln w="12700">
            <a:solidFill>
              <a:srgbClr val="0B7A75"/>
            </a:solidFill>
            <a:prstDash val="solid"/>
          </a:ln>
        </p:spPr>
      </p:sp>
      <p:pic>
        <p:nvPicPr>
          <p:cNvPr id="11" name="why 2 icon" descr="why 2">    </p:cNvPr>
          <p:cNvPicPr>
            <a:picLocks noChangeAspect="1"/>
          </p:cNvPicPr>
          <p:nvPr/>
        </p:nvPicPr>
        <p:blipFill>
          <a:blip r:embed="rId2"/>
          <a:stretch>
            <a:fillRect/>
          </a:stretch>
        </p:blipFill>
        <p:spPr>
          <a:xfrm>
            <a:off x="4823460" y="2080260"/>
            <a:ext cx="411480" cy="411480"/>
          </a:xfrm>
          <a:prstGeom prst="rect">
            <a:avLst/>
          </a:prstGeom>
        </p:spPr>
      </p:pic>
      <p:sp>
        <p:nvSpPr>
          <p:cNvPr id="12" name="Text 8"/>
          <p:cNvSpPr txBox="1"/>
          <p:nvPr/>
        </p:nvSpPr>
        <p:spPr>
          <a:xfrm>
            <a:off x="5623560" y="2011680"/>
            <a:ext cx="201168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Repeatable</a:t>
            </a:r>
            <a:endParaRPr lang="en-US" sz="2400" dirty="0"/>
          </a:p>
        </p:txBody>
      </p:sp>
      <p:sp>
        <p:nvSpPr>
          <p:cNvPr id="13" name="Text 9"/>
          <p:cNvSpPr txBox="1"/>
          <p:nvPr/>
        </p:nvSpPr>
        <p:spPr>
          <a:xfrm>
            <a:off x="4617720" y="3017520"/>
            <a:ext cx="2926080" cy="640080"/>
          </a:xfrm>
          <a:prstGeom prst="rect">
            <a:avLst/>
          </a:prstGeom>
          <a:noFill/>
          <a:ln/>
        </p:spPr>
        <p:txBody>
          <a:bodyPr wrap="square" lIns="0" tIns="0" rIns="0" bIns="0" rtlCol="0" anchor="t"/>
          <a:lstStyle/>
          <a:p>
            <a:pPr indent="0" marL="0">
              <a:buNone/>
            </a:pPr>
            <a:r>
              <a:rPr lang="en-US" sz="2400" b="1" dirty="0">
                <a:solidFill>
                  <a:schemeClr val="accent2"/>
                </a:solidFill>
              </a:rPr>
              <a:t>same text + seed</a:t>
            </a:r>
            <a:endParaRPr lang="en-US" sz="2400" dirty="0"/>
          </a:p>
        </p:txBody>
      </p:sp>
      <p:sp>
        <p:nvSpPr>
          <p:cNvPr id="14" name="Text 10"/>
          <p:cNvSpPr txBox="1"/>
          <p:nvPr/>
        </p:nvSpPr>
        <p:spPr>
          <a:xfrm>
            <a:off x="4617720" y="3749040"/>
            <a:ext cx="2926080" cy="1737360"/>
          </a:xfrm>
          <a:prstGeom prst="rect">
            <a:avLst/>
          </a:prstGeom>
          <a:noFill/>
          <a:ln/>
        </p:spPr>
        <p:txBody>
          <a:bodyPr wrap="square" lIns="0" tIns="0" rIns="0" bIns="0" rtlCol="0" anchor="t"/>
          <a:lstStyle/>
          <a:p>
            <a:pPr indent="0" marL="0">
              <a:buNone/>
            </a:pPr>
            <a:r>
              <a:rPr lang="en-US" sz="1600" dirty="0">
                <a:solidFill>
                  <a:schemeClr val="tx1"/>
                </a:solidFill>
              </a:rPr>
              <a:t>gives the same samples on any computer, today or in ten years.</a:t>
            </a:r>
            <a:endParaRPr lang="en-US" sz="1600" dirty="0"/>
          </a:p>
        </p:txBody>
      </p:sp>
      <p:sp>
        <p:nvSpPr>
          <p:cNvPr id="15" name="why card 3"/>
          <p:cNvSpPr/>
          <p:nvPr/>
        </p:nvSpPr>
        <p:spPr>
          <a:xfrm>
            <a:off x="8046720" y="1554480"/>
            <a:ext cx="3474720" cy="4206240"/>
          </a:xfrm>
          <a:prstGeom prst="roundRect">
            <a:avLst>
              <a:gd name="adj" fmla="val 3158"/>
            </a:avLst>
          </a:prstGeom>
          <a:solidFill>
            <a:schemeClr val="bg2"/>
          </a:solidFill>
          <a:ln w="12700">
            <a:solidFill>
              <a:schemeClr val="bg2"/>
            </a:solidFill>
            <a:prstDash val="solid"/>
          </a:ln>
        </p:spPr>
      </p:sp>
      <p:sp>
        <p:nvSpPr>
          <p:cNvPr id="16" name="why 3 circle"/>
          <p:cNvSpPr/>
          <p:nvPr/>
        </p:nvSpPr>
        <p:spPr>
          <a:xfrm>
            <a:off x="8366760" y="1874520"/>
            <a:ext cx="822960" cy="822960"/>
          </a:xfrm>
          <a:prstGeom prst="ellipse">
            <a:avLst/>
          </a:prstGeom>
          <a:solidFill>
            <a:srgbClr val="0B7A75"/>
          </a:solidFill>
          <a:ln w="12700">
            <a:solidFill>
              <a:srgbClr val="0B7A75"/>
            </a:solidFill>
            <a:prstDash val="solid"/>
          </a:ln>
        </p:spPr>
      </p:sp>
      <p:pic>
        <p:nvPicPr>
          <p:cNvPr id="17" name="why 3 icon" descr="why 3">    </p:cNvPr>
          <p:cNvPicPr>
            <a:picLocks noChangeAspect="1"/>
          </p:cNvPicPr>
          <p:nvPr/>
        </p:nvPicPr>
        <p:blipFill>
          <a:blip r:embed="rId3"/>
          <a:stretch>
            <a:fillRect/>
          </a:stretch>
        </p:blipFill>
        <p:spPr>
          <a:xfrm>
            <a:off x="8572500" y="2080260"/>
            <a:ext cx="411480" cy="411480"/>
          </a:xfrm>
          <a:prstGeom prst="rect">
            <a:avLst/>
          </a:prstGeom>
        </p:spPr>
      </p:pic>
      <p:sp>
        <p:nvSpPr>
          <p:cNvPr id="18" name="Text 13"/>
          <p:cNvSpPr txBox="1"/>
          <p:nvPr/>
        </p:nvSpPr>
        <p:spPr>
          <a:xfrm>
            <a:off x="9372600" y="2011680"/>
            <a:ext cx="201168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Portable</a:t>
            </a:r>
            <a:endParaRPr lang="en-US" sz="2400" dirty="0"/>
          </a:p>
        </p:txBody>
      </p:sp>
      <p:sp>
        <p:nvSpPr>
          <p:cNvPr id="19" name="Text 14"/>
          <p:cNvSpPr txBox="1"/>
          <p:nvPr/>
        </p:nvSpPr>
        <p:spPr>
          <a:xfrm>
            <a:off x="8366760" y="3017520"/>
            <a:ext cx="2926080" cy="640080"/>
          </a:xfrm>
          <a:prstGeom prst="rect">
            <a:avLst/>
          </a:prstGeom>
          <a:noFill/>
          <a:ln/>
        </p:spPr>
        <p:txBody>
          <a:bodyPr wrap="square" lIns="0" tIns="0" rIns="0" bIns="0" rtlCol="0" anchor="t"/>
          <a:lstStyle/>
          <a:p>
            <a:pPr indent="0" marL="0">
              <a:buNone/>
            </a:pPr>
            <a:r>
              <a:rPr lang="en-US" sz="2400" b="1" dirty="0">
                <a:solidFill>
                  <a:schemeClr val="accent2"/>
                </a:solidFill>
              </a:rPr>
              <a:t>no rate, no board</a:t>
            </a:r>
            <a:endParaRPr lang="en-US" sz="2400" dirty="0"/>
          </a:p>
        </p:txBody>
      </p:sp>
      <p:sp>
        <p:nvSpPr>
          <p:cNvPr id="20" name="Text 15"/>
          <p:cNvSpPr txBox="1"/>
          <p:nvPr/>
        </p:nvSpPr>
        <p:spPr>
          <a:xfrm>
            <a:off x="8366760" y="3749040"/>
            <a:ext cx="2926080" cy="1737360"/>
          </a:xfrm>
          <a:prstGeom prst="rect">
            <a:avLst/>
          </a:prstGeom>
          <a:noFill/>
          <a:ln/>
        </p:spPr>
        <p:txBody>
          <a:bodyPr wrap="square" lIns="0" tIns="0" rIns="0" bIns="0" rtlCol="0" anchor="t"/>
          <a:lstStyle/>
          <a:p>
            <a:pPr indent="0" marL="0">
              <a:buNone/>
            </a:pPr>
            <a:r>
              <a:rPr lang="en-US" sz="1600" dirty="0">
                <a:solidFill>
                  <a:schemeClr val="tx1"/>
                </a:solidFill>
              </a:rPr>
              <a:t>inside the file: the same text plays at 10 kHz on one rig, 50 kHz on another.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Your first stimulus in three lines</a:t>
            </a:r>
            <a:endParaRPr lang="en-US" sz="3200" dirty="0"/>
          </a:p>
        </p:txBody>
      </p:sp>
      <p:sp>
        <p:nvSpPr>
          <p:cNvPr id="3" name="file card"/>
          <p:cNvSpPr/>
          <p:nvPr/>
        </p:nvSpPr>
        <p:spPr>
          <a:xfrm>
            <a:off x="548640" y="1463040"/>
            <a:ext cx="4754880" cy="1828800"/>
          </a:xfrm>
          <a:prstGeom prst="roundRect">
            <a:avLst>
              <a:gd name="adj" fmla="val 6000"/>
            </a:avLst>
          </a:prstGeom>
          <a:solidFill>
            <a:schemeClr val="tx1"/>
          </a:solidFill>
          <a:ln w="12700">
            <a:solidFill>
              <a:schemeClr val="tx1"/>
            </a:solidFill>
            <a:prstDash val="solid"/>
          </a:ln>
        </p:spPr>
      </p:sp>
      <p:sp>
        <p:nvSpPr>
          <p:cNvPr id="4" name="file label"/>
          <p:cNvSpPr txBox="1"/>
          <p:nvPr/>
        </p:nvSpPr>
        <p:spPr>
          <a:xfrm>
            <a:off x="777240" y="1572768"/>
            <a:ext cx="429768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step.sg</a:t>
            </a:r>
            <a:endParaRPr lang="en-US" sz="1100" dirty="0"/>
          </a:p>
        </p:txBody>
      </p:sp>
      <p:sp>
        <p:nvSpPr>
          <p:cNvPr id="5" name="file text"/>
          <p:cNvSpPr txBox="1"/>
          <p:nvPr/>
        </p:nvSpPr>
        <p:spPr>
          <a:xfrm>
            <a:off x="777240" y="1874520"/>
            <a:ext cx="4297680" cy="1280160"/>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500ms  dc(0)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rest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1s     dc(300)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step</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500ms  dc(0)      </a:t>
            </a:r>
            <a:pPr indent="0" marL="0">
              <a:spcAft>
                <a:spcPts val="200"/>
              </a:spcAft>
              <a:buNone/>
            </a:pPr>
            <a:r>
              <a:rPr lang="en-US" sz="1700" dirty="0">
                <a:solidFill>
                  <a:schemeClr val="accent4"/>
                </a:solidFill>
                <a:latin typeface="Courier New" pitchFamily="34" charset="0"/>
                <a:ea typeface="Courier New" pitchFamily="34" charset="-122"/>
                <a:cs typeface="Courier New" pitchFamily="34" charset="-120"/>
              </a:rPr>
              <a:t># rest</a:t>
            </a:r>
            <a:endParaRPr lang="en-US" sz="1700" dirty="0"/>
          </a:p>
        </p:txBody>
      </p:sp>
      <p:sp>
        <p:nvSpPr>
          <p:cNvPr id="6" name="command card"/>
          <p:cNvSpPr/>
          <p:nvPr/>
        </p:nvSpPr>
        <p:spPr>
          <a:xfrm>
            <a:off x="548640" y="3520440"/>
            <a:ext cx="4754880" cy="1371600"/>
          </a:xfrm>
          <a:prstGeom prst="roundRect">
            <a:avLst>
              <a:gd name="adj" fmla="val 8000"/>
            </a:avLst>
          </a:prstGeom>
          <a:solidFill>
            <a:schemeClr val="tx1"/>
          </a:solidFill>
          <a:ln w="12700">
            <a:solidFill>
              <a:schemeClr val="tx1"/>
            </a:solidFill>
            <a:prstDash val="solid"/>
          </a:ln>
        </p:spPr>
      </p:sp>
      <p:sp>
        <p:nvSpPr>
          <p:cNvPr id="7" name="command label"/>
          <p:cNvSpPr txBox="1"/>
          <p:nvPr/>
        </p:nvSpPr>
        <p:spPr>
          <a:xfrm>
            <a:off x="777240" y="3630168"/>
            <a:ext cx="429768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terminal</a:t>
            </a:r>
            <a:endParaRPr lang="en-US" sz="1100" dirty="0"/>
          </a:p>
        </p:txBody>
      </p:sp>
      <p:sp>
        <p:nvSpPr>
          <p:cNvPr id="8" name="command text"/>
          <p:cNvSpPr txBox="1"/>
          <p:nvPr/>
        </p:nvSpPr>
        <p:spPr>
          <a:xfrm>
            <a:off x="777240" y="3931920"/>
            <a:ext cx="4297680" cy="822960"/>
          </a:xfrm>
          <a:prstGeom prst="rect">
            <a:avLst/>
          </a:prstGeom>
          <a:noFill/>
          <a:ln/>
        </p:spPr>
        <p:txBody>
          <a:bodyPr wrap="square" lIns="0" tIns="0" rIns="0" bIns="0" rtlCol="0" anchor="t"/>
          <a:lstStyle/>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render -r 20kHz -u pA step.sg</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writes step.sgb</a:t>
            </a:r>
            <a:endParaRPr lang="en-US" sz="1500" dirty="0"/>
          </a:p>
        </p:txBody>
      </p:sp>
      <p:sp>
        <p:nvSpPr>
          <p:cNvPr id="9" name="Text 7"/>
          <p:cNvSpPr txBox="1"/>
          <p:nvPr/>
        </p:nvSpPr>
        <p:spPr>
          <a:xfrm>
            <a:off x="548640" y="5166360"/>
            <a:ext cx="4754880" cy="822960"/>
          </a:xfrm>
          <a:prstGeom prst="rect">
            <a:avLst/>
          </a:prstGeom>
          <a:noFill/>
          <a:ln/>
        </p:spPr>
        <p:txBody>
          <a:bodyPr wrap="square" lIns="0" tIns="0" rIns="0" bIns="0" rtlCol="0" anchor="t"/>
          <a:lstStyle/>
          <a:p>
            <a:pPr indent="0" marL="0">
              <a:buNone/>
            </a:pPr>
            <a:r>
              <a:rPr lang="en-US" sz="1600" dirty="0">
                <a:solidFill>
                  <a:schemeClr val="tx1"/>
                </a:solidFill>
              </a:rPr>
              <a:t>One segment per line: a duration, then what the output does.</a:t>
            </a:r>
            <a:endParaRPr lang="en-US" sz="1600" dirty="0"/>
          </a:p>
        </p:txBody>
      </p:sp>
      <p:pic>
        <p:nvPicPr>
          <p:cNvPr id="10" name="figure step" descr="The step waveform: 0 pA for 0.5 s, 300 pA for 1 s, 0 pA for 0.5 s">    </p:cNvPr>
          <p:cNvPicPr>
            <a:picLocks noChangeAspect="1"/>
          </p:cNvPicPr>
          <p:nvPr/>
        </p:nvPicPr>
        <p:blipFill>
          <a:blip r:embed="rId1"/>
          <a:stretch>
            <a:fillRect/>
          </a:stretch>
        </p:blipFill>
        <p:spPr>
          <a:xfrm>
            <a:off x="5669280" y="2441793"/>
            <a:ext cx="5943600" cy="1700094"/>
          </a:xfrm>
          <a:prstGeom prst="rect">
            <a:avLst/>
          </a:prstGeom>
        </p:spPr>
      </p:pic>
      <p:sp>
        <p:nvSpPr>
          <p:cNvPr id="11" name="Text 8"/>
          <p:cNvSpPr txBox="1"/>
          <p:nvPr/>
        </p:nvSpPr>
        <p:spPr>
          <a:xfrm>
            <a:off x="5669280" y="5257800"/>
            <a:ext cx="5943600" cy="365760"/>
          </a:xfrm>
          <a:prstGeom prst="rect">
            <a:avLst/>
          </a:prstGeom>
          <a:noFill/>
          <a:ln/>
        </p:spPr>
        <p:txBody>
          <a:bodyPr wrap="square" lIns="0" tIns="0" rIns="0" bIns="0" rtlCol="0" anchor="t"/>
          <a:lstStyle/>
          <a:p>
            <a:pPr algn="ctr" indent="0" marL="0">
              <a:buNone/>
            </a:pPr>
            <a:r>
              <a:rPr lang="en-US" sz="1300" i="1" dirty="0">
                <a:solidFill>
                  <a:schemeClr val="accent6"/>
                </a:solidFill>
              </a:rPr>
              <a:t>the result, plotted with tools/sgplot.py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Reading one line</a:t>
            </a:r>
            <a:endParaRPr lang="en-US" sz="3200" dirty="0"/>
          </a:p>
        </p:txBody>
      </p:sp>
      <p:sp>
        <p:nvSpPr>
          <p:cNvPr id="3" name="big line card"/>
          <p:cNvSpPr/>
          <p:nvPr/>
        </p:nvSpPr>
        <p:spPr>
          <a:xfrm>
            <a:off x="548640" y="1463040"/>
            <a:ext cx="11064240" cy="1463040"/>
          </a:xfrm>
          <a:prstGeom prst="roundRect">
            <a:avLst>
              <a:gd name="adj" fmla="val 7500"/>
            </a:avLst>
          </a:prstGeom>
          <a:solidFill>
            <a:schemeClr val="tx1"/>
          </a:solidFill>
          <a:ln w="12700">
            <a:solidFill>
              <a:schemeClr val="tx1"/>
            </a:solidFill>
            <a:prstDash val="solid"/>
          </a:ln>
        </p:spPr>
      </p:sp>
      <p:sp>
        <p:nvSpPr>
          <p:cNvPr id="4" name="Text 2"/>
          <p:cNvSpPr txBox="1"/>
          <p:nvPr/>
        </p:nvSpPr>
        <p:spPr>
          <a:xfrm>
            <a:off x="914400" y="1783080"/>
            <a:ext cx="10424160" cy="822960"/>
          </a:xfrm>
          <a:prstGeom prst="rect">
            <a:avLst/>
          </a:prstGeom>
          <a:noFill/>
          <a:ln/>
        </p:spPr>
        <p:txBody>
          <a:bodyPr wrap="square" lIns="0" tIns="0" rIns="0" bIns="0" rtlCol="0" anchor="ctr"/>
          <a:lstStyle/>
          <a:p>
            <a:pPr indent="0" marL="0">
              <a:buNone/>
            </a:pPr>
            <a:r>
              <a:rPr lang="en-US" sz="4000" b="1" dirty="0">
                <a:solidFill>
                  <a:schemeClr val="accent5"/>
                </a:solidFill>
                <a:latin typeface="Courier New" pitchFamily="34" charset="0"/>
                <a:ea typeface="Courier New" pitchFamily="34" charset="-122"/>
                <a:cs typeface="Courier New" pitchFamily="34" charset="-120"/>
              </a:rPr>
              <a:t>1s  </a:t>
            </a:r>
            <a:pPr indent="0" marL="0">
              <a:buNone/>
            </a:pPr>
            <a:r>
              <a:rPr lang="en-US" sz="4000" b="1" dirty="0">
                <a:solidFill>
                  <a:schemeClr val="bg1"/>
                </a:solidFill>
                <a:latin typeface="Courier New" pitchFamily="34" charset="0"/>
                <a:ea typeface="Courier New" pitchFamily="34" charset="-122"/>
                <a:cs typeface="Courier New" pitchFamily="34" charset="-120"/>
              </a:rPr>
              <a:t>sine(</a:t>
            </a:r>
            <a:pPr indent="0" marL="0">
              <a:buNone/>
            </a:pPr>
            <a:r>
              <a:rPr lang="en-US" sz="4000" b="1" dirty="0">
                <a:solidFill>
                  <a:schemeClr val="accent4"/>
                </a:solidFill>
                <a:latin typeface="Courier New" pitchFamily="34" charset="0"/>
                <a:ea typeface="Courier New" pitchFamily="34" charset="-122"/>
                <a:cs typeface="Courier New" pitchFamily="34" charset="-120"/>
              </a:rPr>
              <a:t>amp=50, freq=8Hz</a:t>
            </a:r>
            <a:pPr indent="0" marL="0">
              <a:buNone/>
            </a:pPr>
            <a:r>
              <a:rPr lang="en-US" sz="4000" b="1" dirty="0">
                <a:solidFill>
                  <a:schemeClr val="bg1"/>
                </a:solidFill>
                <a:latin typeface="Courier New" pitchFamily="34" charset="0"/>
                <a:ea typeface="Courier New" pitchFamily="34" charset="-122"/>
                <a:cs typeface="Courier New" pitchFamily="34" charset="-120"/>
              </a:rPr>
              <a:t>)</a:t>
            </a:r>
            <a:endParaRPr lang="en-US" sz="4000" dirty="0"/>
          </a:p>
        </p:txBody>
      </p:sp>
      <p:sp>
        <p:nvSpPr>
          <p:cNvPr id="5" name="pointer how long"/>
          <p:cNvSpPr/>
          <p:nvPr/>
        </p:nvSpPr>
        <p:spPr>
          <a:xfrm flipH="1">
            <a:off x="1097280" y="2926080"/>
            <a:ext cx="121920" cy="457200"/>
          </a:xfrm>
          <a:prstGeom prst="line">
            <a:avLst/>
          </a:prstGeom>
          <a:noFill/>
          <a:ln w="25400">
            <a:solidFill>
              <a:schemeClr val="accent2"/>
            </a:solidFill>
            <a:prstDash val="solid"/>
          </a:ln>
        </p:spPr>
      </p:sp>
      <p:sp>
        <p:nvSpPr>
          <p:cNvPr id="6" name="Text 4"/>
          <p:cNvSpPr txBox="1"/>
          <p:nvPr/>
        </p:nvSpPr>
        <p:spPr>
          <a:xfrm>
            <a:off x="822960" y="3474720"/>
            <a:ext cx="2468880" cy="411480"/>
          </a:xfrm>
          <a:prstGeom prst="rect">
            <a:avLst/>
          </a:prstGeom>
          <a:noFill/>
          <a:ln/>
        </p:spPr>
        <p:txBody>
          <a:bodyPr wrap="square" lIns="0" tIns="0" rIns="0" bIns="0" rtlCol="0" anchor="t"/>
          <a:lstStyle/>
          <a:p>
            <a:pPr indent="0" marL="0">
              <a:buNone/>
            </a:pPr>
            <a:r>
              <a:rPr lang="en-US" sz="2000" b="1" dirty="0">
                <a:solidFill>
                  <a:schemeClr val="accent2"/>
                </a:solidFill>
              </a:rPr>
              <a:t>how long</a:t>
            </a:r>
            <a:endParaRPr lang="en-US" sz="2000" dirty="0"/>
          </a:p>
        </p:txBody>
      </p:sp>
      <p:sp>
        <p:nvSpPr>
          <p:cNvPr id="7" name="Text 5"/>
          <p:cNvSpPr txBox="1"/>
          <p:nvPr/>
        </p:nvSpPr>
        <p:spPr>
          <a:xfrm>
            <a:off x="822960" y="3931920"/>
            <a:ext cx="2377440" cy="914400"/>
          </a:xfrm>
          <a:prstGeom prst="rect">
            <a:avLst/>
          </a:prstGeom>
          <a:noFill/>
          <a:ln/>
        </p:spPr>
        <p:txBody>
          <a:bodyPr wrap="square" lIns="0" tIns="0" rIns="0" bIns="0" rtlCol="0" anchor="t"/>
          <a:lstStyle/>
          <a:p>
            <a:pPr indent="0" marL="0">
              <a:buNone/>
            </a:pPr>
            <a:r>
              <a:rPr lang="en-US" sz="1500" dirty="0">
                <a:solidFill>
                  <a:schemeClr val="tx1"/>
                </a:solidFill>
              </a:rPr>
              <a:t>a duration, always with a unit: 500ms, 1s, 2min</a:t>
            </a:r>
            <a:endParaRPr lang="en-US" sz="1500" dirty="0"/>
          </a:p>
        </p:txBody>
      </p:sp>
      <p:sp>
        <p:nvSpPr>
          <p:cNvPr id="8" name="pointer what"/>
          <p:cNvSpPr/>
          <p:nvPr/>
        </p:nvSpPr>
        <p:spPr>
          <a:xfrm>
            <a:off x="2590800" y="2926080"/>
            <a:ext cx="1249680" cy="457200"/>
          </a:xfrm>
          <a:prstGeom prst="line">
            <a:avLst/>
          </a:prstGeom>
          <a:noFill/>
          <a:ln w="25400">
            <a:solidFill>
              <a:schemeClr val="accent2"/>
            </a:solidFill>
            <a:prstDash val="solid"/>
          </a:ln>
        </p:spPr>
      </p:sp>
      <p:sp>
        <p:nvSpPr>
          <p:cNvPr id="9" name="Text 7"/>
          <p:cNvSpPr txBox="1"/>
          <p:nvPr/>
        </p:nvSpPr>
        <p:spPr>
          <a:xfrm>
            <a:off x="3566160" y="3474720"/>
            <a:ext cx="2468880" cy="411480"/>
          </a:xfrm>
          <a:prstGeom prst="rect">
            <a:avLst/>
          </a:prstGeom>
          <a:noFill/>
          <a:ln/>
        </p:spPr>
        <p:txBody>
          <a:bodyPr wrap="square" lIns="0" tIns="0" rIns="0" bIns="0" rtlCol="0" anchor="t"/>
          <a:lstStyle/>
          <a:p>
            <a:pPr indent="0" marL="0">
              <a:buNone/>
            </a:pPr>
            <a:r>
              <a:rPr lang="en-US" sz="2000" b="1" dirty="0">
                <a:solidFill>
                  <a:schemeClr val="accent2"/>
                </a:solidFill>
              </a:rPr>
              <a:t>what</a:t>
            </a:r>
            <a:endParaRPr lang="en-US" sz="2000" dirty="0"/>
          </a:p>
        </p:txBody>
      </p:sp>
      <p:sp>
        <p:nvSpPr>
          <p:cNvPr id="10" name="Text 8"/>
          <p:cNvSpPr txBox="1"/>
          <p:nvPr/>
        </p:nvSpPr>
        <p:spPr>
          <a:xfrm>
            <a:off x="3566160" y="3931920"/>
            <a:ext cx="2377440" cy="914400"/>
          </a:xfrm>
          <a:prstGeom prst="rect">
            <a:avLst/>
          </a:prstGeom>
          <a:noFill/>
          <a:ln/>
        </p:spPr>
        <p:txBody>
          <a:bodyPr wrap="square" lIns="0" tIns="0" rIns="0" bIns="0" rtlCol="0" anchor="t"/>
          <a:lstStyle/>
          <a:p>
            <a:pPr indent="0" marL="0">
              <a:buNone/>
            </a:pPr>
            <a:r>
              <a:rPr lang="en-US" sz="1500" dirty="0">
                <a:solidFill>
                  <a:schemeClr val="tx1"/>
                </a:solidFill>
              </a:rPr>
              <a:t>a generator: dc, ramp, sine, pulses, ou, ...</a:t>
            </a:r>
            <a:endParaRPr lang="en-US" sz="1500" dirty="0"/>
          </a:p>
        </p:txBody>
      </p:sp>
      <p:sp>
        <p:nvSpPr>
          <p:cNvPr id="11" name="pointer how"/>
          <p:cNvSpPr/>
          <p:nvPr/>
        </p:nvSpPr>
        <p:spPr>
          <a:xfrm>
            <a:off x="6096000" y="2926080"/>
            <a:ext cx="487680" cy="457200"/>
          </a:xfrm>
          <a:prstGeom prst="line">
            <a:avLst/>
          </a:prstGeom>
          <a:noFill/>
          <a:ln w="25400">
            <a:solidFill>
              <a:schemeClr val="accent2"/>
            </a:solidFill>
            <a:prstDash val="solid"/>
          </a:ln>
        </p:spPr>
      </p:sp>
      <p:sp>
        <p:nvSpPr>
          <p:cNvPr id="12" name="Text 10"/>
          <p:cNvSpPr txBox="1"/>
          <p:nvPr/>
        </p:nvSpPr>
        <p:spPr>
          <a:xfrm>
            <a:off x="6309360" y="3474720"/>
            <a:ext cx="2468880" cy="411480"/>
          </a:xfrm>
          <a:prstGeom prst="rect">
            <a:avLst/>
          </a:prstGeom>
          <a:noFill/>
          <a:ln/>
        </p:spPr>
        <p:txBody>
          <a:bodyPr wrap="square" lIns="0" tIns="0" rIns="0" bIns="0" rtlCol="0" anchor="t"/>
          <a:lstStyle/>
          <a:p>
            <a:pPr indent="0" marL="0">
              <a:buNone/>
            </a:pPr>
            <a:r>
              <a:rPr lang="en-US" sz="2000" b="1" dirty="0">
                <a:solidFill>
                  <a:schemeClr val="accent2"/>
                </a:solidFill>
              </a:rPr>
              <a:t>how</a:t>
            </a:r>
            <a:endParaRPr lang="en-US" sz="2000" dirty="0"/>
          </a:p>
        </p:txBody>
      </p:sp>
      <p:sp>
        <p:nvSpPr>
          <p:cNvPr id="13" name="Text 11"/>
          <p:cNvSpPr txBox="1"/>
          <p:nvPr/>
        </p:nvSpPr>
        <p:spPr>
          <a:xfrm>
            <a:off x="6309360" y="3931920"/>
            <a:ext cx="2377440" cy="914400"/>
          </a:xfrm>
          <a:prstGeom prst="rect">
            <a:avLst/>
          </a:prstGeom>
          <a:noFill/>
          <a:ln/>
        </p:spPr>
        <p:txBody>
          <a:bodyPr wrap="square" lIns="0" tIns="0" rIns="0" bIns="0" rtlCol="0" anchor="t"/>
          <a:lstStyle/>
          <a:p>
            <a:pPr indent="0" marL="0">
              <a:buNone/>
            </a:pPr>
            <a:r>
              <a:rPr lang="en-US" sz="1500" dirty="0">
                <a:solidFill>
                  <a:schemeClr val="tx1"/>
                </a:solidFill>
              </a:rPr>
              <a:t>parameters by name (or by position); units are checked</a:t>
            </a:r>
            <a:endParaRPr lang="en-US" sz="1500" dirty="0"/>
          </a:p>
        </p:txBody>
      </p:sp>
      <p:sp>
        <p:nvSpPr>
          <p:cNvPr id="14" name="units card"/>
          <p:cNvSpPr/>
          <p:nvPr/>
        </p:nvSpPr>
        <p:spPr>
          <a:xfrm>
            <a:off x="9052560" y="3291840"/>
            <a:ext cx="2560320" cy="2651760"/>
          </a:xfrm>
          <a:prstGeom prst="roundRect">
            <a:avLst>
              <a:gd name="adj" fmla="val 4286"/>
            </a:avLst>
          </a:prstGeom>
          <a:solidFill>
            <a:schemeClr val="tx1"/>
          </a:solidFill>
          <a:ln w="12700">
            <a:solidFill>
              <a:schemeClr val="tx1"/>
            </a:solidFill>
            <a:prstDash val="solid"/>
          </a:ln>
        </p:spPr>
      </p:sp>
      <p:sp>
        <p:nvSpPr>
          <p:cNvPr id="15" name="units label"/>
          <p:cNvSpPr txBox="1"/>
          <p:nvPr/>
        </p:nvSpPr>
        <p:spPr>
          <a:xfrm>
            <a:off x="9281160" y="3401568"/>
            <a:ext cx="210312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units</a:t>
            </a:r>
            <a:endParaRPr lang="en-US" sz="1100" dirty="0"/>
          </a:p>
        </p:txBody>
      </p:sp>
      <p:sp>
        <p:nvSpPr>
          <p:cNvPr id="16" name="units text"/>
          <p:cNvSpPr txBox="1"/>
          <p:nvPr/>
        </p:nvSpPr>
        <p:spPr>
          <a:xfrm>
            <a:off x="9281160" y="3703320"/>
            <a:ext cx="2103120" cy="210312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 ms us min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Hz kHz</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rad deg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pA nA mV nS</a:t>
            </a:r>
            <a:endParaRPr lang="en-US" sz="1500" dirty="0"/>
          </a:p>
        </p:txBody>
      </p:sp>
      <p:sp>
        <p:nvSpPr>
          <p:cNvPr id="17" name="Text 15"/>
          <p:cNvSpPr txBox="1"/>
          <p:nvPr/>
        </p:nvSpPr>
        <p:spPr>
          <a:xfrm>
            <a:off x="548640" y="5212080"/>
            <a:ext cx="7863840" cy="731520"/>
          </a:xfrm>
          <a:prstGeom prst="rect">
            <a:avLst/>
          </a:prstGeom>
          <a:noFill/>
          <a:ln/>
        </p:spPr>
        <p:txBody>
          <a:bodyPr wrap="square" lIns="0" tIns="0" rIns="0" bIns="0" rtlCol="0" anchor="t"/>
          <a:lstStyle/>
          <a:p>
            <a:pPr indent="0" marL="0">
              <a:buNone/>
            </a:pPr>
            <a:r>
              <a:rPr lang="en-US" sz="1500" b="1" dirty="0">
                <a:solidFill>
                  <a:schemeClr val="tx1"/>
                </a:solidFill>
              </a:rPr>
              <a:t>Rules of thumb: </a:t>
            </a:r>
            <a:pPr indent="0" marL="0">
              <a:buNone/>
            </a:pPr>
            <a:r>
              <a:rPr lang="en-US" sz="1500" dirty="0">
                <a:solidFill>
                  <a:schemeClr val="tx1"/>
                </a:solidFill>
              </a:rPr>
              <a:t># starts a comment · ; separates segments on one line · a wrong unit (freq=10ms) is an error, never a guess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toolbox of 16 generators</a:t>
            </a:r>
            <a:endParaRPr lang="en-US" sz="3200" dirty="0"/>
          </a:p>
        </p:txBody>
      </p:sp>
      <p:pic>
        <p:nvPicPr>
          <p:cNvPr id="3" name="figure gallery" descr="Every generator of StimGen 2 rendered as a 400 ms segment">    </p:cNvPr>
          <p:cNvPicPr>
            <a:picLocks noChangeAspect="1"/>
          </p:cNvPicPr>
          <p:nvPr/>
        </p:nvPicPr>
        <p:blipFill>
          <a:blip r:embed="rId1"/>
          <a:stretch>
            <a:fillRect/>
          </a:stretch>
        </p:blipFill>
        <p:spPr>
          <a:xfrm>
            <a:off x="548640" y="1573030"/>
            <a:ext cx="7223760" cy="4352019"/>
          </a:xfrm>
          <a:prstGeom prst="rect">
            <a:avLst/>
          </a:prstGeom>
        </p:spPr>
      </p:pic>
      <p:sp>
        <p:nvSpPr>
          <p:cNvPr id="4" name="Text 1"/>
          <p:cNvSpPr txBox="1"/>
          <p:nvPr/>
        </p:nvSpPr>
        <p:spPr>
          <a:xfrm>
            <a:off x="8138160" y="1371600"/>
            <a:ext cx="3474720" cy="320040"/>
          </a:xfrm>
          <a:prstGeom prst="rect">
            <a:avLst/>
          </a:prstGeom>
          <a:noFill/>
          <a:ln/>
        </p:spPr>
        <p:txBody>
          <a:bodyPr wrap="square" lIns="0" tIns="0" rIns="0" bIns="0" rtlCol="0" anchor="t"/>
          <a:lstStyle/>
          <a:p>
            <a:pPr indent="0" marL="0">
              <a:buNone/>
            </a:pPr>
            <a:r>
              <a:rPr lang="en-US" sz="1500" b="1" dirty="0">
                <a:solidFill>
                  <a:schemeClr val="accent1"/>
                </a:solidFill>
              </a:rPr>
              <a:t>levels</a:t>
            </a:r>
            <a:endParaRPr lang="en-US" sz="1500" dirty="0"/>
          </a:p>
        </p:txBody>
      </p:sp>
      <p:sp>
        <p:nvSpPr>
          <p:cNvPr id="5" name="Text 2"/>
          <p:cNvSpPr txBox="1"/>
          <p:nvPr/>
        </p:nvSpPr>
        <p:spPr>
          <a:xfrm>
            <a:off x="8138160" y="1673352"/>
            <a:ext cx="3474720" cy="5486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dc  ramp  relax</a:t>
            </a:r>
            <a:endParaRPr lang="en-US" sz="1400" dirty="0"/>
          </a:p>
        </p:txBody>
      </p:sp>
      <p:sp>
        <p:nvSpPr>
          <p:cNvPr id="6" name="Text 3"/>
          <p:cNvSpPr txBox="1"/>
          <p:nvPr/>
        </p:nvSpPr>
        <p:spPr>
          <a:xfrm>
            <a:off x="8138160" y="2240280"/>
            <a:ext cx="3474720" cy="320040"/>
          </a:xfrm>
          <a:prstGeom prst="rect">
            <a:avLst/>
          </a:prstGeom>
          <a:noFill/>
          <a:ln/>
        </p:spPr>
        <p:txBody>
          <a:bodyPr wrap="square" lIns="0" tIns="0" rIns="0" bIns="0" rtlCol="0" anchor="t"/>
          <a:lstStyle/>
          <a:p>
            <a:pPr indent="0" marL="0">
              <a:buNone/>
            </a:pPr>
            <a:r>
              <a:rPr lang="en-US" sz="1500" b="1" dirty="0">
                <a:solidFill>
                  <a:schemeClr val="accent1"/>
                </a:solidFill>
              </a:rPr>
              <a:t>waves</a:t>
            </a:r>
            <a:endParaRPr lang="en-US" sz="1500" dirty="0"/>
          </a:p>
        </p:txBody>
      </p:sp>
      <p:sp>
        <p:nvSpPr>
          <p:cNvPr id="7" name="Text 4"/>
          <p:cNvSpPr txBox="1"/>
          <p:nvPr/>
        </p:nvSpPr>
        <p:spPr>
          <a:xfrm>
            <a:off x="8138160" y="2542032"/>
            <a:ext cx="3474720" cy="5486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sine  square  saw</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triangle  chirp</a:t>
            </a:r>
            <a:endParaRPr lang="en-US" sz="1400" dirty="0"/>
          </a:p>
        </p:txBody>
      </p:sp>
      <p:sp>
        <p:nvSpPr>
          <p:cNvPr id="8" name="Text 5"/>
          <p:cNvSpPr txBox="1"/>
          <p:nvPr/>
        </p:nvSpPr>
        <p:spPr>
          <a:xfrm>
            <a:off x="8138160" y="3108960"/>
            <a:ext cx="3474720" cy="320040"/>
          </a:xfrm>
          <a:prstGeom prst="rect">
            <a:avLst/>
          </a:prstGeom>
          <a:noFill/>
          <a:ln/>
        </p:spPr>
        <p:txBody>
          <a:bodyPr wrap="square" lIns="0" tIns="0" rIns="0" bIns="0" rtlCol="0" anchor="t"/>
          <a:lstStyle/>
          <a:p>
            <a:pPr indent="0" marL="0">
              <a:buNone/>
            </a:pPr>
            <a:r>
              <a:rPr lang="en-US" sz="1500" b="1" dirty="0">
                <a:solidFill>
                  <a:schemeClr val="accent1"/>
                </a:solidFill>
              </a:rPr>
              <a:t>synaptic, pulses</a:t>
            </a:r>
            <a:endParaRPr lang="en-US" sz="1500" dirty="0"/>
          </a:p>
        </p:txBody>
      </p:sp>
      <p:sp>
        <p:nvSpPr>
          <p:cNvPr id="9" name="Text 6"/>
          <p:cNvSpPr txBox="1"/>
          <p:nvPr/>
        </p:nvSpPr>
        <p:spPr>
          <a:xfrm>
            <a:off x="8138160" y="3410712"/>
            <a:ext cx="3474720" cy="5486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biexp  alpha  pulses</a:t>
            </a:r>
            <a:endParaRPr lang="en-US" sz="1400" dirty="0"/>
          </a:p>
        </p:txBody>
      </p:sp>
      <p:sp>
        <p:nvSpPr>
          <p:cNvPr id="10" name="Text 7"/>
          <p:cNvSpPr txBox="1"/>
          <p:nvPr/>
        </p:nvSpPr>
        <p:spPr>
          <a:xfrm>
            <a:off x="8138160" y="3977640"/>
            <a:ext cx="3474720" cy="320040"/>
          </a:xfrm>
          <a:prstGeom prst="rect">
            <a:avLst/>
          </a:prstGeom>
          <a:noFill/>
          <a:ln/>
        </p:spPr>
        <p:txBody>
          <a:bodyPr wrap="square" lIns="0" tIns="0" rIns="0" bIns="0" rtlCol="0" anchor="t"/>
          <a:lstStyle/>
          <a:p>
            <a:pPr indent="0" marL="0">
              <a:buNone/>
            </a:pPr>
            <a:r>
              <a:rPr lang="en-US" sz="1500" b="1" dirty="0">
                <a:solidFill>
                  <a:schemeClr val="accent1"/>
                </a:solidFill>
              </a:rPr>
              <a:t>noise</a:t>
            </a:r>
            <a:endParaRPr lang="en-US" sz="1500" dirty="0"/>
          </a:p>
        </p:txBody>
      </p:sp>
      <p:sp>
        <p:nvSpPr>
          <p:cNvPr id="11" name="Text 8"/>
          <p:cNvSpPr txBox="1"/>
          <p:nvPr/>
        </p:nvSpPr>
        <p:spPr>
          <a:xfrm>
            <a:off x="8138160" y="4279392"/>
            <a:ext cx="3474720" cy="5486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ou  wnoise  unoise  cnoise</a:t>
            </a:r>
            <a:endParaRPr lang="en-US" sz="1400" dirty="0"/>
          </a:p>
        </p:txBody>
      </p:sp>
      <p:sp>
        <p:nvSpPr>
          <p:cNvPr id="12" name="Text 9"/>
          <p:cNvSpPr txBox="1"/>
          <p:nvPr/>
        </p:nvSpPr>
        <p:spPr>
          <a:xfrm>
            <a:off x="8138160" y="4846320"/>
            <a:ext cx="3474720" cy="320040"/>
          </a:xfrm>
          <a:prstGeom prst="rect">
            <a:avLst/>
          </a:prstGeom>
          <a:noFill/>
          <a:ln/>
        </p:spPr>
        <p:txBody>
          <a:bodyPr wrap="square" lIns="0" tIns="0" rIns="0" bIns="0" rtlCol="0" anchor="t"/>
          <a:lstStyle/>
          <a:p>
            <a:pPr indent="0" marL="0">
              <a:buNone/>
            </a:pPr>
            <a:r>
              <a:rPr lang="en-US" sz="1500" b="1" dirty="0">
                <a:solidFill>
                  <a:schemeClr val="accent1"/>
                </a:solidFill>
              </a:rPr>
              <a:t>recorded</a:t>
            </a:r>
            <a:endParaRPr lang="en-US" sz="1500" dirty="0"/>
          </a:p>
        </p:txBody>
      </p:sp>
      <p:sp>
        <p:nvSpPr>
          <p:cNvPr id="13" name="Text 10"/>
          <p:cNvSpPr txBox="1"/>
          <p:nvPr/>
        </p:nvSpPr>
        <p:spPr>
          <a:xfrm>
            <a:off x="8138160" y="5148072"/>
            <a:ext cx="3474720" cy="5486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file</a:t>
            </a:r>
            <a:endParaRPr lang="en-US" sz="1400" dirty="0"/>
          </a:p>
        </p:txBody>
      </p:sp>
      <p:sp>
        <p:nvSpPr>
          <p:cNvPr id="14" name="help card"/>
          <p:cNvSpPr/>
          <p:nvPr/>
        </p:nvSpPr>
        <p:spPr>
          <a:xfrm>
            <a:off x="8138160" y="5669280"/>
            <a:ext cx="3474720" cy="548640"/>
          </a:xfrm>
          <a:prstGeom prst="roundRect">
            <a:avLst>
              <a:gd name="adj" fmla="val 20000"/>
            </a:avLst>
          </a:prstGeom>
          <a:solidFill>
            <a:schemeClr val="tx1"/>
          </a:solidFill>
          <a:ln w="12700">
            <a:solidFill>
              <a:schemeClr val="tx1"/>
            </a:solidFill>
            <a:prstDash val="solid"/>
          </a:ln>
        </p:spPr>
      </p:sp>
      <p:sp>
        <p:nvSpPr>
          <p:cNvPr id="15" name="help text"/>
          <p:cNvSpPr txBox="1"/>
          <p:nvPr/>
        </p:nvSpPr>
        <p:spPr>
          <a:xfrm>
            <a:off x="8366760" y="5852160"/>
            <a:ext cx="3017520" cy="228600"/>
          </a:xfrm>
          <a:prstGeom prst="rect">
            <a:avLst/>
          </a:prstGeom>
          <a:noFill/>
          <a:ln/>
        </p:spPr>
        <p:txBody>
          <a:bodyPr wrap="square" lIns="0" tIns="0" rIns="0" bIns="0" rtlCol="0" anchor="t"/>
          <a:lstStyle/>
          <a:p>
            <a:pPr indent="0" marL="0">
              <a:spcAft>
                <a:spcPts val="200"/>
              </a:spcAft>
              <a:buNone/>
            </a:pPr>
            <a:r>
              <a:rPr lang="en-US" sz="14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sg help sine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Noise you can repeat</a:t>
            </a:r>
            <a:endParaRPr lang="en-US" sz="3200" dirty="0"/>
          </a:p>
        </p:txBody>
      </p:sp>
      <p:pic>
        <p:nvPicPr>
          <p:cNvPr id="3" name="figure noise" descr="Three different noise realisations, and two identical ones with seed=17">    </p:cNvPr>
          <p:cNvPicPr>
            <a:picLocks noChangeAspect="1"/>
          </p:cNvPicPr>
          <p:nvPr/>
        </p:nvPicPr>
        <p:blipFill>
          <a:blip r:embed="rId1"/>
          <a:stretch>
            <a:fillRect/>
          </a:stretch>
        </p:blipFill>
        <p:spPr>
          <a:xfrm>
            <a:off x="548640" y="2307029"/>
            <a:ext cx="6583680" cy="2884021"/>
          </a:xfrm>
          <a:prstGeom prst="rect">
            <a:avLst/>
          </a:prstGeom>
        </p:spPr>
      </p:pic>
      <p:sp>
        <p:nvSpPr>
          <p:cNvPr id="4" name="noise 1 circle"/>
          <p:cNvSpPr/>
          <p:nvPr/>
        </p:nvSpPr>
        <p:spPr>
          <a:xfrm>
            <a:off x="7406640" y="1463040"/>
            <a:ext cx="731520" cy="731520"/>
          </a:xfrm>
          <a:prstGeom prst="ellipse">
            <a:avLst/>
          </a:prstGeom>
          <a:solidFill>
            <a:srgbClr val="0B7A75"/>
          </a:solidFill>
          <a:ln w="12700">
            <a:solidFill>
              <a:srgbClr val="0B7A75"/>
            </a:solidFill>
            <a:prstDash val="solid"/>
          </a:ln>
        </p:spPr>
      </p:sp>
      <p:pic>
        <p:nvPicPr>
          <p:cNvPr id="5" name="noise 1 icon" descr="noise 1">    </p:cNvPr>
          <p:cNvPicPr>
            <a:picLocks noChangeAspect="1"/>
          </p:cNvPicPr>
          <p:nvPr/>
        </p:nvPicPr>
        <p:blipFill>
          <a:blip r:embed="rId2"/>
          <a:stretch>
            <a:fillRect/>
          </a:stretch>
        </p:blipFill>
        <p:spPr>
          <a:xfrm>
            <a:off x="7589520" y="1645920"/>
            <a:ext cx="365760" cy="365760"/>
          </a:xfrm>
          <a:prstGeom prst="rect">
            <a:avLst/>
          </a:prstGeom>
        </p:spPr>
      </p:pic>
      <p:sp>
        <p:nvSpPr>
          <p:cNvPr id="6" name="Text 2"/>
          <p:cNvSpPr txBox="1"/>
          <p:nvPr/>
        </p:nvSpPr>
        <p:spPr>
          <a:xfrm>
            <a:off x="8321040" y="1463040"/>
            <a:ext cx="3291840" cy="365760"/>
          </a:xfrm>
          <a:prstGeom prst="rect">
            <a:avLst/>
          </a:prstGeom>
          <a:noFill/>
          <a:ln/>
        </p:spPr>
        <p:txBody>
          <a:bodyPr wrap="square" lIns="0" tIns="0" rIns="0" bIns="0" rtlCol="0" anchor="t"/>
          <a:lstStyle/>
          <a:p>
            <a:pPr indent="0" marL="0">
              <a:buNone/>
            </a:pPr>
            <a:r>
              <a:rPr lang="en-US" sz="1700" b="1" dirty="0">
                <a:solidFill>
                  <a:schemeClr val="tx1"/>
                </a:solidFill>
              </a:rPr>
              <a:t>new noise every time</a:t>
            </a:r>
            <a:endParaRPr lang="en-US" sz="1700" dirty="0"/>
          </a:p>
        </p:txBody>
      </p:sp>
      <p:sp>
        <p:nvSpPr>
          <p:cNvPr id="7" name="Text 3"/>
          <p:cNvSpPr txBox="1"/>
          <p:nvPr/>
        </p:nvSpPr>
        <p:spPr>
          <a:xfrm>
            <a:off x="8321040" y="1847088"/>
            <a:ext cx="3291840" cy="64008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10s ou(100, 50, 5ms)</a:t>
            </a:r>
            <a:endParaRPr lang="en-US" sz="1300" dirty="0"/>
          </a:p>
        </p:txBody>
      </p:sp>
      <p:sp>
        <p:nvSpPr>
          <p:cNvPr id="8" name="noise 2 circle"/>
          <p:cNvSpPr/>
          <p:nvPr/>
        </p:nvSpPr>
        <p:spPr>
          <a:xfrm>
            <a:off x="7406640" y="2788920"/>
            <a:ext cx="731520" cy="731520"/>
          </a:xfrm>
          <a:prstGeom prst="ellipse">
            <a:avLst/>
          </a:prstGeom>
          <a:solidFill>
            <a:srgbClr val="0B7A75"/>
          </a:solidFill>
          <a:ln w="12700">
            <a:solidFill>
              <a:srgbClr val="0B7A75"/>
            </a:solidFill>
            <a:prstDash val="solid"/>
          </a:ln>
        </p:spPr>
      </p:sp>
      <p:pic>
        <p:nvPicPr>
          <p:cNvPr id="9" name="noise 2 icon" descr="noise 2">    </p:cNvPr>
          <p:cNvPicPr>
            <a:picLocks noChangeAspect="1"/>
          </p:cNvPicPr>
          <p:nvPr/>
        </p:nvPicPr>
        <p:blipFill>
          <a:blip r:embed="rId3"/>
          <a:stretch>
            <a:fillRect/>
          </a:stretch>
        </p:blipFill>
        <p:spPr>
          <a:xfrm>
            <a:off x="7589520" y="2971800"/>
            <a:ext cx="365760" cy="365760"/>
          </a:xfrm>
          <a:prstGeom prst="rect">
            <a:avLst/>
          </a:prstGeom>
        </p:spPr>
      </p:pic>
      <p:sp>
        <p:nvSpPr>
          <p:cNvPr id="10" name="Text 5"/>
          <p:cNvSpPr txBox="1"/>
          <p:nvPr/>
        </p:nvSpPr>
        <p:spPr>
          <a:xfrm>
            <a:off x="8321040" y="2788920"/>
            <a:ext cx="3291840" cy="365760"/>
          </a:xfrm>
          <a:prstGeom prst="rect">
            <a:avLst/>
          </a:prstGeom>
          <a:noFill/>
          <a:ln/>
        </p:spPr>
        <p:txBody>
          <a:bodyPr wrap="square" lIns="0" tIns="0" rIns="0" bIns="0" rtlCol="0" anchor="t"/>
          <a:lstStyle/>
          <a:p>
            <a:pPr indent="0" marL="0">
              <a:buNone/>
            </a:pPr>
            <a:r>
              <a:rPr lang="en-US" sz="1700" b="1" dirty="0">
                <a:solidFill>
                  <a:schemeClr val="tx1"/>
                </a:solidFill>
              </a:rPr>
              <a:t>the same run again</a:t>
            </a:r>
            <a:endParaRPr lang="en-US" sz="1700" dirty="0"/>
          </a:p>
        </p:txBody>
      </p:sp>
      <p:sp>
        <p:nvSpPr>
          <p:cNvPr id="11" name="Text 6"/>
          <p:cNvSpPr txBox="1"/>
          <p:nvPr/>
        </p:nvSpPr>
        <p:spPr>
          <a:xfrm>
            <a:off x="8321040" y="3172968"/>
            <a:ext cx="3291840" cy="64008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sg render -s 42 ...</a:t>
            </a:r>
            <a:endParaRPr lang="en-US" sz="1300" dirty="0"/>
          </a:p>
        </p:txBody>
      </p:sp>
      <p:sp>
        <p:nvSpPr>
          <p:cNvPr id="12" name="noise 3 circle"/>
          <p:cNvSpPr/>
          <p:nvPr/>
        </p:nvSpPr>
        <p:spPr>
          <a:xfrm>
            <a:off x="7406640" y="4114800"/>
            <a:ext cx="731520" cy="731520"/>
          </a:xfrm>
          <a:prstGeom prst="ellipse">
            <a:avLst/>
          </a:prstGeom>
          <a:solidFill>
            <a:srgbClr val="0B7A75"/>
          </a:solidFill>
          <a:ln w="12700">
            <a:solidFill>
              <a:srgbClr val="0B7A75"/>
            </a:solidFill>
            <a:prstDash val="solid"/>
          </a:ln>
        </p:spPr>
      </p:sp>
      <p:pic>
        <p:nvPicPr>
          <p:cNvPr id="13" name="noise 3 icon" descr="noise 3">    </p:cNvPr>
          <p:cNvPicPr>
            <a:picLocks noChangeAspect="1"/>
          </p:cNvPicPr>
          <p:nvPr/>
        </p:nvPicPr>
        <p:blipFill>
          <a:blip r:embed="rId4"/>
          <a:stretch>
            <a:fillRect/>
          </a:stretch>
        </p:blipFill>
        <p:spPr>
          <a:xfrm>
            <a:off x="7589520" y="4297680"/>
            <a:ext cx="365760" cy="365760"/>
          </a:xfrm>
          <a:prstGeom prst="rect">
            <a:avLst/>
          </a:prstGeom>
        </p:spPr>
      </p:pic>
      <p:sp>
        <p:nvSpPr>
          <p:cNvPr id="14" name="Text 8"/>
          <p:cNvSpPr txBox="1"/>
          <p:nvPr/>
        </p:nvSpPr>
        <p:spPr>
          <a:xfrm>
            <a:off x="8321040" y="4114800"/>
            <a:ext cx="3291840" cy="365760"/>
          </a:xfrm>
          <a:prstGeom prst="rect">
            <a:avLst/>
          </a:prstGeom>
          <a:noFill/>
          <a:ln/>
        </p:spPr>
        <p:txBody>
          <a:bodyPr wrap="square" lIns="0" tIns="0" rIns="0" bIns="0" rtlCol="0" anchor="t"/>
          <a:lstStyle/>
          <a:p>
            <a:pPr indent="0" marL="0">
              <a:buNone/>
            </a:pPr>
            <a:r>
              <a:rPr lang="en-US" sz="1700" b="1" dirty="0">
                <a:solidFill>
                  <a:schemeClr val="tx1"/>
                </a:solidFill>
              </a:rPr>
              <a:t>frozen noise, always</a:t>
            </a:r>
            <a:endParaRPr lang="en-US" sz="1700" dirty="0"/>
          </a:p>
        </p:txBody>
      </p:sp>
      <p:sp>
        <p:nvSpPr>
          <p:cNvPr id="15" name="Text 9"/>
          <p:cNvSpPr txBox="1"/>
          <p:nvPr/>
        </p:nvSpPr>
        <p:spPr>
          <a:xfrm>
            <a:off x="8321040" y="4498848"/>
            <a:ext cx="3291840" cy="64008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10s ou(100, 50, 5ms, seed=17)</a:t>
            </a:r>
            <a:endParaRPr lang="en-US" sz="1300" dirty="0"/>
          </a:p>
        </p:txBody>
      </p:sp>
      <p:sp>
        <p:nvSpPr>
          <p:cNvPr id="16" name="Text 10"/>
          <p:cNvSpPr txBox="1"/>
          <p:nvPr/>
        </p:nvSpPr>
        <p:spPr>
          <a:xfrm>
            <a:off x="7406640" y="5486400"/>
            <a:ext cx="4206240" cy="640080"/>
          </a:xfrm>
          <a:prstGeom prst="rect">
            <a:avLst/>
          </a:prstGeom>
          <a:noFill/>
          <a:ln/>
        </p:spPr>
        <p:txBody>
          <a:bodyPr wrap="square" lIns="0" tIns="0" rIns="0" bIns="0" rtlCol="0" anchor="t"/>
          <a:lstStyle/>
          <a:p>
            <a:pPr indent="0" marL="0">
              <a:buNone/>
            </a:pPr>
            <a:r>
              <a:rPr lang="en-US" sz="1500" i="1" dirty="0">
                <a:solidFill>
                  <a:schemeClr val="accent2"/>
                </a:solidFill>
              </a:rPr>
              <a:t>The seed actually used is always saved in the output file.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Combine generators like arithmetic</a:t>
            </a:r>
            <a:endParaRPr lang="en-US" sz="3200" dirty="0"/>
          </a:p>
        </p:txBody>
      </p:sp>
      <p:sp>
        <p:nvSpPr>
          <p:cNvPr id="3" name="combine card"/>
          <p:cNvSpPr/>
          <p:nvPr/>
        </p:nvSpPr>
        <p:spPr>
          <a:xfrm>
            <a:off x="548640" y="1463040"/>
            <a:ext cx="5120640" cy="3291840"/>
          </a:xfrm>
          <a:prstGeom prst="roundRect">
            <a:avLst>
              <a:gd name="adj" fmla="val 3333"/>
            </a:avLst>
          </a:prstGeom>
          <a:solidFill>
            <a:schemeClr val="tx1"/>
          </a:solidFill>
          <a:ln w="12700">
            <a:solidFill>
              <a:schemeClr val="tx1"/>
            </a:solidFill>
            <a:prstDash val="solid"/>
          </a:ln>
        </p:spPr>
      </p:sp>
      <p:sp>
        <p:nvSpPr>
          <p:cNvPr id="4" name="combine label"/>
          <p:cNvSpPr txBox="1"/>
          <p:nvPr/>
        </p:nvSpPr>
        <p:spPr>
          <a:xfrm>
            <a:off x="777240" y="1572768"/>
            <a:ext cx="466344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examples</a:t>
            </a:r>
            <a:endParaRPr lang="en-US" sz="1100" dirty="0"/>
          </a:p>
        </p:txBody>
      </p:sp>
      <p:sp>
        <p:nvSpPr>
          <p:cNvPr id="5" name="combine text"/>
          <p:cNvSpPr txBox="1"/>
          <p:nvPr/>
        </p:nvSpPr>
        <p:spPr>
          <a:xfrm>
            <a:off x="777240" y="1874520"/>
            <a:ext cx="4663440" cy="2743200"/>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5s sine(50, 8Hz) + ou(0, 20, 5ms)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5s (1 + 0.5*sine(1, 2Hz)) * sine(80, 40Hz)</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10s pos(ou(10, 5, 3ms))   </a:t>
            </a:r>
            <a:pPr indent="0" marL="0">
              <a:spcAft>
                <a:spcPts val="200"/>
              </a:spcAft>
              <a:buNone/>
            </a:pPr>
            <a:r>
              <a:rPr lang="en-US" sz="1400" dirty="0">
                <a:solidFill>
                  <a:schemeClr val="accent4"/>
                </a:solidFill>
                <a:latin typeface="Courier New" pitchFamily="34" charset="0"/>
                <a:ea typeface="Courier New" pitchFamily="34" charset="-122"/>
                <a:cs typeface="Courier New" pitchFamily="34" charset="-120"/>
              </a:rPr>
              <a:t># never &lt; 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repeat 10 {2ms dc(1000); 48ms dc(0)}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{1s ramp(0,1); 3s dc(1); 1s ramp(1,0)}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sine(80, 8Hz)       </a:t>
            </a:r>
            <a:pPr indent="0" marL="0">
              <a:spcAft>
                <a:spcPts val="200"/>
              </a:spcAft>
              <a:buNone/>
            </a:pPr>
            <a:r>
              <a:rPr lang="en-US" sz="1400" dirty="0">
                <a:solidFill>
                  <a:schemeClr val="accent4"/>
                </a:solidFill>
                <a:latin typeface="Courier New" pitchFamily="34" charset="0"/>
                <a:ea typeface="Courier New" pitchFamily="34" charset="-122"/>
                <a:cs typeface="Courier New" pitchFamily="34" charset="-120"/>
              </a:rPr>
              <a:t># envelope</a:t>
            </a:r>
            <a:endParaRPr lang="en-US" sz="1400" dirty="0"/>
          </a:p>
        </p:txBody>
      </p:sp>
      <p:sp>
        <p:nvSpPr>
          <p:cNvPr id="6" name="Text 4"/>
          <p:cNvSpPr txBox="1"/>
          <p:nvPr/>
        </p:nvSpPr>
        <p:spPr>
          <a:xfrm>
            <a:off x="548640" y="4983480"/>
            <a:ext cx="5120640" cy="100584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 − × ÷</a:t>
            </a:r>
            <a:pPr indent="0" marL="0">
              <a:buNone/>
            </a:pPr>
            <a:r>
              <a:rPr lang="en-US" sz="1500" dirty="0">
                <a:solidFill>
                  <a:schemeClr val="tx1"/>
                </a:solidFill>
              </a:rPr>
              <a:t> act sample by sample.  </a:t>
            </a:r>
            <a:pPr indent="0" marL="0">
              <a:buNone/>
            </a:pPr>
            <a:r>
              <a:rPr lang="en-US" sz="1500" b="1" dirty="0">
                <a:solidFill>
                  <a:schemeClr val="tx1"/>
                </a:solidFill>
                <a:latin typeface="Courier New" pitchFamily="34" charset="0"/>
                <a:ea typeface="Courier New" pitchFamily="34" charset="-122"/>
                <a:cs typeface="Courier New" pitchFamily="34" charset="-120"/>
              </a:rPr>
              <a:t>{ … }</a:t>
            </a:r>
            <a:pPr indent="0" marL="0">
              <a:buNone/>
            </a:pPr>
            <a:r>
              <a:rPr lang="en-US" sz="1500" dirty="0">
                <a:solidFill>
                  <a:schemeClr val="tx1"/>
                </a:solidFill>
              </a:rPr>
              <a:t> groups segments into a block you can multiply.</a:t>
            </a:r>
            <a:endParaRPr lang="en-US" sz="1500" dirty="0"/>
          </a:p>
        </p:txBody>
      </p:sp>
      <p:pic>
        <p:nvPicPr>
          <p:cNvPr id="7" name="figure envelope" descr="A trapezoidal block, a sine carrier, and their product">    </p:cNvPr>
          <p:cNvPicPr>
            <a:picLocks noChangeAspect="1"/>
          </p:cNvPicPr>
          <p:nvPr/>
        </p:nvPicPr>
        <p:blipFill>
          <a:blip r:embed="rId1"/>
          <a:stretch>
            <a:fillRect/>
          </a:stretch>
        </p:blipFill>
        <p:spPr>
          <a:xfrm>
            <a:off x="5943600" y="2549192"/>
            <a:ext cx="5669280" cy="2399695"/>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Several outputs at once</a:t>
            </a:r>
            <a:endParaRPr lang="en-US" sz="3200" dirty="0"/>
          </a:p>
        </p:txBody>
      </p:sp>
      <p:sp>
        <p:nvSpPr>
          <p:cNvPr id="3" name="pair card"/>
          <p:cNvSpPr/>
          <p:nvPr/>
        </p:nvSpPr>
        <p:spPr>
          <a:xfrm>
            <a:off x="548640" y="1463040"/>
            <a:ext cx="5486400" cy="3840480"/>
          </a:xfrm>
          <a:prstGeom prst="roundRect">
            <a:avLst>
              <a:gd name="adj" fmla="val 2857"/>
            </a:avLst>
          </a:prstGeom>
          <a:solidFill>
            <a:schemeClr val="tx1"/>
          </a:solidFill>
          <a:ln w="12700">
            <a:solidFill>
              <a:schemeClr val="tx1"/>
            </a:solidFill>
            <a:prstDash val="solid"/>
          </a:ln>
        </p:spPr>
      </p:sp>
      <p:sp>
        <p:nvSpPr>
          <p:cNvPr id="4" name="pair label"/>
          <p:cNvSpPr txBox="1"/>
          <p:nvPr/>
        </p:nvSpPr>
        <p:spPr>
          <a:xfrm>
            <a:off x="777240" y="1572768"/>
            <a:ext cx="502920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pair.sg</a:t>
            </a:r>
            <a:endParaRPr lang="en-US" sz="1100" dirty="0"/>
          </a:p>
        </p:txBody>
      </p:sp>
      <p:sp>
        <p:nvSpPr>
          <p:cNvPr id="5" name="pair text"/>
          <p:cNvSpPr txBox="1"/>
          <p:nvPr/>
        </p:nvSpPr>
        <p:spPr>
          <a:xfrm>
            <a:off x="777240" y="1874520"/>
            <a:ext cx="5029200" cy="329184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2 stimulus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channel pre unit=pA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1s     dc(0)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@train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a marker</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500ms  pulses(2000, 20Hz,</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width=1ms)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1s     dc(0)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channel post unit=pA { 2.5s dc(-50) }</a:t>
            </a:r>
            <a:endParaRPr lang="en-US" sz="1500" dirty="0"/>
          </a:p>
        </p:txBody>
      </p:sp>
      <p:pic>
        <p:nvPicPr>
          <p:cNvPr id="6" name="figure pair" descr="Two channels on a common time base with the marker pre.train">    </p:cNvPr>
          <p:cNvPicPr>
            <a:picLocks noChangeAspect="1"/>
          </p:cNvPicPr>
          <p:nvPr/>
        </p:nvPicPr>
        <p:blipFill>
          <a:blip r:embed="rId1"/>
          <a:stretch>
            <a:fillRect/>
          </a:stretch>
        </p:blipFill>
        <p:spPr>
          <a:xfrm>
            <a:off x="6309360" y="2239560"/>
            <a:ext cx="5303520" cy="1738800"/>
          </a:xfrm>
          <a:prstGeom prst="rect">
            <a:avLst/>
          </a:prstGeom>
        </p:spPr>
      </p:pic>
      <p:sp>
        <p:nvSpPr>
          <p:cNvPr id="7" name="Text 4"/>
          <p:cNvSpPr txBox="1"/>
          <p:nvPr/>
        </p:nvSpPr>
        <p:spPr>
          <a:xfrm>
            <a:off x="6309360" y="4937760"/>
            <a:ext cx="5303520" cy="1188720"/>
          </a:xfrm>
          <a:prstGeom prst="rect">
            <a:avLst/>
          </a:prstGeom>
          <a:noFill/>
          <a:ln/>
        </p:spPr>
        <p:txBody>
          <a:bodyPr wrap="square" lIns="0" tIns="0" rIns="0" bIns="0" rtlCol="0" anchor="t"/>
          <a:lstStyle/>
          <a:p>
            <a:pPr indent="0" marL="0">
              <a:buNone/>
            </a:pPr>
            <a:r>
              <a:rPr lang="en-US" sz="1500" b="1" dirty="0">
                <a:solidFill>
                  <a:schemeClr val="tx1"/>
                </a:solidFill>
              </a:rPr>
              <a:t>Channels have names, not wires. </a:t>
            </a:r>
            <a:pPr indent="0" marL="0">
              <a:buNone/>
            </a:pPr>
            <a:r>
              <a:rPr lang="en-US" sz="1500" dirty="0">
                <a:solidFill>
                  <a:schemeClr val="tx1"/>
                </a:solidFill>
              </a:rPr>
              <a:t>Which board output each name uses is set once, in the rig file of sgplay. </a:t>
            </a:r>
            <a:pPr indent="0" marL="0">
              <a:buNone/>
            </a:pPr>
            <a:r>
              <a:rPr lang="en-US" sz="1500" b="1" dirty="0">
                <a:solidFill>
                  <a:schemeClr val="tx1"/>
                </a:solidFill>
                <a:latin typeface="Courier New" pitchFamily="34" charset="0"/>
                <a:ea typeface="Courier New" pitchFamily="34" charset="-122"/>
                <a:cs typeface="Courier New" pitchFamily="34" charset="-120"/>
              </a:rPr>
              <a:t>@train</a:t>
            </a:r>
            <a:pPr indent="0" marL="0">
              <a:buNone/>
            </a:pPr>
            <a:r>
              <a:rPr lang="en-US" sz="1500" dirty="0">
                <a:solidFill>
                  <a:schemeClr val="tx1"/>
                </a:solidFill>
              </a:rPr>
              <a:t> saves a marker for the analysis.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Families of trials: protocols</a:t>
            </a:r>
            <a:endParaRPr lang="en-US" sz="3200" dirty="0"/>
          </a:p>
        </p:txBody>
      </p:sp>
      <p:sp>
        <p:nvSpPr>
          <p:cNvPr id="3" name="protocol card"/>
          <p:cNvSpPr/>
          <p:nvPr/>
        </p:nvSpPr>
        <p:spPr>
          <a:xfrm>
            <a:off x="548640" y="1463040"/>
            <a:ext cx="4937760" cy="4206240"/>
          </a:xfrm>
          <a:prstGeom prst="roundRect">
            <a:avLst>
              <a:gd name="adj" fmla="val 2609"/>
            </a:avLst>
          </a:prstGeom>
          <a:solidFill>
            <a:schemeClr val="tx1"/>
          </a:solidFill>
          <a:ln w="12700">
            <a:solidFill>
              <a:schemeClr val="tx1"/>
            </a:solidFill>
            <a:prstDash val="solid"/>
          </a:ln>
        </p:spPr>
      </p:sp>
      <p:sp>
        <p:nvSpPr>
          <p:cNvPr id="4" name="protocol label"/>
          <p:cNvSpPr txBox="1"/>
          <p:nvPr/>
        </p:nvSpPr>
        <p:spPr>
          <a:xfrm>
            <a:off x="777240" y="1572768"/>
            <a:ext cx="448056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steps.sg</a:t>
            </a:r>
            <a:endParaRPr lang="en-US" sz="1100" dirty="0"/>
          </a:p>
        </p:txBody>
      </p:sp>
      <p:sp>
        <p:nvSpPr>
          <p:cNvPr id="5" name="protocol text"/>
          <p:cNvSpPr txBox="1"/>
          <p:nvPr/>
        </p:nvSpPr>
        <p:spPr>
          <a:xfrm>
            <a:off x="777240" y="1874520"/>
            <a:ext cx="4480560" cy="365760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2 protocol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sweep  amp = from -300pA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to 300pA step 50pA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repeat 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order  shuffled-blocks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period 5s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stimulus { channel Iinj unit=pA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500ms dc(0); 1s dc($amp)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500ms dc(0) } }</a:t>
            </a:r>
            <a:endParaRPr lang="en-US" sz="1500" dirty="0"/>
          </a:p>
        </p:txBody>
      </p:sp>
      <p:pic>
        <p:nvPicPr>
          <p:cNvPr id="6" name="figure steps" descr="Thirteen current steps and the shuffled order of 39 trials">    </p:cNvPr>
          <p:cNvPicPr>
            <a:picLocks noChangeAspect="1"/>
          </p:cNvPicPr>
          <p:nvPr/>
        </p:nvPicPr>
        <p:blipFill>
          <a:blip r:embed="rId1"/>
          <a:stretch>
            <a:fillRect/>
          </a:stretch>
        </p:blipFill>
        <p:spPr>
          <a:xfrm>
            <a:off x="5760720" y="2204182"/>
            <a:ext cx="5852160" cy="1626676"/>
          </a:xfrm>
          <a:prstGeom prst="rect">
            <a:avLst/>
          </a:prstGeom>
        </p:spPr>
      </p:pic>
      <p:sp>
        <p:nvSpPr>
          <p:cNvPr id="7" name="Text 4"/>
          <p:cNvSpPr txBox="1"/>
          <p:nvPr/>
        </p:nvSpPr>
        <p:spPr>
          <a:xfrm>
            <a:off x="5760720" y="4800600"/>
            <a:ext cx="5852160" cy="1097280"/>
          </a:xfrm>
          <a:prstGeom prst="rect">
            <a:avLst/>
          </a:prstGeom>
          <a:noFill/>
          <a:ln/>
        </p:spPr>
        <p:txBody>
          <a:bodyPr wrap="square" lIns="0" tIns="0" rIns="0" bIns="0" rtlCol="0" anchor="t"/>
          <a:lstStyle/>
          <a:p>
            <a:pPr indent="0" marL="0">
              <a:buNone/>
            </a:pPr>
            <a:r>
              <a:rPr lang="en-US" sz="1500" b="1" dirty="0">
                <a:solidFill>
                  <a:schemeClr val="tx1"/>
                </a:solidFill>
              </a:rPr>
              <a:t>One file, 39 trials: </a:t>
            </a:r>
            <a:pPr indent="0" marL="0">
              <a:buNone/>
            </a:pPr>
            <a:r>
              <a:rPr lang="en-US" sz="1500" dirty="0">
                <a:solidFill>
                  <a:schemeClr val="tx1"/>
                </a:solidFill>
              </a:rPr>
              <a:t>13 amplitudes × 3 repetitions, in a random but recorded order, one every 5 s. </a:t>
            </a:r>
            <a:pPr indent="0" marL="0">
              <a:buNone/>
            </a:pPr>
            <a:r>
              <a:rPr lang="en-US" sz="1500" b="1" dirty="0">
                <a:solidFill>
                  <a:schemeClr val="tx1"/>
                </a:solidFill>
                <a:latin typeface="Courier New" pitchFamily="34" charset="0"/>
                <a:ea typeface="Courier New" pitchFamily="34" charset="-122"/>
                <a:cs typeface="Courier New" pitchFamily="34" charset="-120"/>
              </a:rPr>
              <a:t>$amp</a:t>
            </a:r>
            <a:pPr indent="0" marL="0">
              <a:buNone/>
            </a:pPr>
            <a:r>
              <a:rPr lang="en-US" sz="1500" dirty="0">
                <a:solidFill>
                  <a:schemeClr val="tx1"/>
                </a:solidFill>
              </a:rPr>
              <a:t> is replaced by each value.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Before the cell: check, look, render</a:t>
            </a:r>
            <a:endParaRPr lang="en-US" sz="3200" dirty="0"/>
          </a:p>
        </p:txBody>
      </p:sp>
      <p:sp>
        <p:nvSpPr>
          <p:cNvPr id="3" name="Check circle"/>
          <p:cNvSpPr/>
          <p:nvPr/>
        </p:nvSpPr>
        <p:spPr>
          <a:xfrm>
            <a:off x="548640" y="1463040"/>
            <a:ext cx="731520" cy="731520"/>
          </a:xfrm>
          <a:prstGeom prst="ellipse">
            <a:avLst/>
          </a:prstGeom>
          <a:solidFill>
            <a:srgbClr val="F26419"/>
          </a:solidFill>
          <a:ln w="12700">
            <a:solidFill>
              <a:srgbClr val="F26419"/>
            </a:solidFill>
            <a:prstDash val="solid"/>
          </a:ln>
        </p:spPr>
      </p:sp>
      <p:pic>
        <p:nvPicPr>
          <p:cNvPr id="4" name="Check icon" descr="Check">    </p:cNvPr>
          <p:cNvPicPr>
            <a:picLocks noChangeAspect="1"/>
          </p:cNvPicPr>
          <p:nvPr/>
        </p:nvPicPr>
        <p:blipFill>
          <a:blip r:embed="rId1"/>
          <a:stretch>
            <a:fillRect/>
          </a:stretch>
        </p:blipFill>
        <p:spPr>
          <a:xfrm>
            <a:off x="731520" y="1645920"/>
            <a:ext cx="365760" cy="365760"/>
          </a:xfrm>
          <a:prstGeom prst="rect">
            <a:avLst/>
          </a:prstGeom>
        </p:spPr>
      </p:pic>
      <p:sp>
        <p:nvSpPr>
          <p:cNvPr id="5" name="Text 2"/>
          <p:cNvSpPr txBox="1"/>
          <p:nvPr/>
        </p:nvSpPr>
        <p:spPr>
          <a:xfrm>
            <a:off x="1463040" y="1600200"/>
            <a:ext cx="25603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Check</a:t>
            </a:r>
            <a:endParaRPr lang="en-US" sz="2200" dirty="0"/>
          </a:p>
        </p:txBody>
      </p:sp>
      <p:sp>
        <p:nvSpPr>
          <p:cNvPr id="6" name="Check card"/>
          <p:cNvSpPr/>
          <p:nvPr/>
        </p:nvSpPr>
        <p:spPr>
          <a:xfrm>
            <a:off x="548640" y="2468880"/>
            <a:ext cx="3474720" cy="1371600"/>
          </a:xfrm>
          <a:prstGeom prst="roundRect">
            <a:avLst>
              <a:gd name="adj" fmla="val 8000"/>
            </a:avLst>
          </a:prstGeom>
          <a:solidFill>
            <a:schemeClr val="tx1"/>
          </a:solidFill>
          <a:ln w="12700">
            <a:solidFill>
              <a:schemeClr val="tx1"/>
            </a:solidFill>
            <a:prstDash val="solid"/>
          </a:ln>
        </p:spPr>
      </p:sp>
      <p:sp>
        <p:nvSpPr>
          <p:cNvPr id="7" name="Check text"/>
          <p:cNvSpPr txBox="1"/>
          <p:nvPr/>
        </p:nvSpPr>
        <p:spPr>
          <a:xfrm>
            <a:off x="777240" y="2651760"/>
            <a:ext cx="3017520" cy="1051560"/>
          </a:xfrm>
          <a:prstGeom prst="rect">
            <a:avLst/>
          </a:prstGeom>
          <a:noFill/>
          <a:ln/>
        </p:spPr>
        <p:txBody>
          <a:bodyPr wrap="square" lIns="0" tIns="0" rIns="0" bIns="0" rtlCol="0" anchor="t"/>
          <a:lstStyle/>
          <a:p>
            <a:pPr indent="0" marL="0">
              <a:spcAft>
                <a:spcPts val="200"/>
              </a:spcAft>
              <a:buNone/>
            </a:pPr>
            <a:r>
              <a:rPr lang="en-US" sz="13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sg check steps.sg</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steps.sg: ok, 39 trial(s)</a:t>
            </a:r>
            <a:endParaRPr lang="en-US" sz="1300" dirty="0"/>
          </a:p>
        </p:txBody>
      </p:sp>
      <p:sp>
        <p:nvSpPr>
          <p:cNvPr id="8" name="Text 5"/>
          <p:cNvSpPr txBox="1"/>
          <p:nvPr/>
        </p:nvSpPr>
        <p:spPr>
          <a:xfrm>
            <a:off x="548640" y="4069080"/>
            <a:ext cx="3474720" cy="731520"/>
          </a:xfrm>
          <a:prstGeom prst="rect">
            <a:avLst/>
          </a:prstGeom>
          <a:noFill/>
          <a:ln/>
        </p:spPr>
        <p:txBody>
          <a:bodyPr wrap="square" lIns="0" tIns="0" rIns="0" bIns="0" rtlCol="0" anchor="t"/>
          <a:lstStyle/>
          <a:p>
            <a:pPr indent="0" marL="0">
              <a:buNone/>
            </a:pPr>
            <a:r>
              <a:rPr lang="en-US" sz="1600" dirty="0">
                <a:solidFill>
                  <a:schemeClr val="tx1"/>
                </a:solidFill>
              </a:rPr>
              <a:t>Syntax, units, durations, every trial.</a:t>
            </a:r>
            <a:endParaRPr lang="en-US" sz="1600" dirty="0"/>
          </a:p>
        </p:txBody>
      </p:sp>
      <p:sp>
        <p:nvSpPr>
          <p:cNvPr id="9" name="Look circle"/>
          <p:cNvSpPr/>
          <p:nvPr/>
        </p:nvSpPr>
        <p:spPr>
          <a:xfrm>
            <a:off x="4297680" y="1463040"/>
            <a:ext cx="731520" cy="731520"/>
          </a:xfrm>
          <a:prstGeom prst="ellipse">
            <a:avLst/>
          </a:prstGeom>
          <a:solidFill>
            <a:srgbClr val="F26419"/>
          </a:solidFill>
          <a:ln w="12700">
            <a:solidFill>
              <a:srgbClr val="F26419"/>
            </a:solidFill>
            <a:prstDash val="solid"/>
          </a:ln>
        </p:spPr>
      </p:sp>
      <p:pic>
        <p:nvPicPr>
          <p:cNvPr id="10" name="Look icon" descr="Look">    </p:cNvPr>
          <p:cNvPicPr>
            <a:picLocks noChangeAspect="1"/>
          </p:cNvPicPr>
          <p:nvPr/>
        </p:nvPicPr>
        <p:blipFill>
          <a:blip r:embed="rId2"/>
          <a:stretch>
            <a:fillRect/>
          </a:stretch>
        </p:blipFill>
        <p:spPr>
          <a:xfrm>
            <a:off x="4480560" y="1645920"/>
            <a:ext cx="365760" cy="365760"/>
          </a:xfrm>
          <a:prstGeom prst="rect">
            <a:avLst/>
          </a:prstGeom>
        </p:spPr>
      </p:pic>
      <p:sp>
        <p:nvSpPr>
          <p:cNvPr id="11" name="Text 7"/>
          <p:cNvSpPr txBox="1"/>
          <p:nvPr/>
        </p:nvSpPr>
        <p:spPr>
          <a:xfrm>
            <a:off x="5212080" y="1600200"/>
            <a:ext cx="25603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Look</a:t>
            </a:r>
            <a:endParaRPr lang="en-US" sz="2200" dirty="0"/>
          </a:p>
        </p:txBody>
      </p:sp>
      <p:sp>
        <p:nvSpPr>
          <p:cNvPr id="12" name="Look card"/>
          <p:cNvSpPr/>
          <p:nvPr/>
        </p:nvSpPr>
        <p:spPr>
          <a:xfrm>
            <a:off x="4297680" y="2468880"/>
            <a:ext cx="3474720" cy="1371600"/>
          </a:xfrm>
          <a:prstGeom prst="roundRect">
            <a:avLst>
              <a:gd name="adj" fmla="val 8000"/>
            </a:avLst>
          </a:prstGeom>
          <a:solidFill>
            <a:schemeClr val="tx1"/>
          </a:solidFill>
          <a:ln w="12700">
            <a:solidFill>
              <a:schemeClr val="tx1"/>
            </a:solidFill>
            <a:prstDash val="solid"/>
          </a:ln>
        </p:spPr>
      </p:sp>
      <p:sp>
        <p:nvSpPr>
          <p:cNvPr id="13" name="Look text"/>
          <p:cNvSpPr txBox="1"/>
          <p:nvPr/>
        </p:nvSpPr>
        <p:spPr>
          <a:xfrm>
            <a:off x="4526280" y="2651760"/>
            <a:ext cx="3017520" cy="1051560"/>
          </a:xfrm>
          <a:prstGeom prst="rect">
            <a:avLst/>
          </a:prstGeom>
          <a:noFill/>
          <a:ln/>
        </p:spPr>
        <p:txBody>
          <a:bodyPr wrap="square" lIns="0" tIns="0" rIns="0" bIns="0" rtlCol="0" anchor="t"/>
          <a:lstStyle/>
          <a:p>
            <a:pPr indent="0" marL="0">
              <a:spcAft>
                <a:spcPts val="200"/>
              </a:spcAft>
              <a:buNone/>
            </a:pPr>
            <a:r>
              <a:rPr lang="en-US" sz="13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sg render -r 20kHz step.sg</a:t>
            </a:r>
            <a:endParaRPr lang="en-US" sz="1300" dirty="0"/>
          </a:p>
          <a:p>
            <a:pPr indent="0" marL="0">
              <a:spcAft>
                <a:spcPts val="200"/>
              </a:spcAft>
              <a:buNone/>
            </a:pPr>
            <a:r>
              <a:rPr lang="en-US" sz="13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python3 tools/sgplot.py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step.sgb</a:t>
            </a:r>
            <a:endParaRPr lang="en-US" sz="1300" dirty="0"/>
          </a:p>
        </p:txBody>
      </p:sp>
      <p:sp>
        <p:nvSpPr>
          <p:cNvPr id="14" name="Text 10"/>
          <p:cNvSpPr txBox="1"/>
          <p:nvPr/>
        </p:nvSpPr>
        <p:spPr>
          <a:xfrm>
            <a:off x="4297680" y="4069080"/>
            <a:ext cx="3474720" cy="731520"/>
          </a:xfrm>
          <a:prstGeom prst="rect">
            <a:avLst/>
          </a:prstGeom>
          <a:noFill/>
          <a:ln/>
        </p:spPr>
        <p:txBody>
          <a:bodyPr wrap="square" lIns="0" tIns="0" rIns="0" bIns="0" rtlCol="0" anchor="t"/>
          <a:lstStyle/>
          <a:p>
            <a:pPr indent="0" marL="0">
              <a:buNone/>
            </a:pPr>
            <a:r>
              <a:rPr lang="en-US" sz="1600" dirty="0">
                <a:solidFill>
                  <a:schemeClr val="tx1"/>
                </a:solidFill>
              </a:rPr>
              <a:t>See the waveform before a cell sees it.</a:t>
            </a:r>
            <a:endParaRPr lang="en-US" sz="1600" dirty="0"/>
          </a:p>
        </p:txBody>
      </p:sp>
      <p:sp>
        <p:nvSpPr>
          <p:cNvPr id="15" name="Keep circle"/>
          <p:cNvSpPr/>
          <p:nvPr/>
        </p:nvSpPr>
        <p:spPr>
          <a:xfrm>
            <a:off x="8046720" y="1463040"/>
            <a:ext cx="731520" cy="731520"/>
          </a:xfrm>
          <a:prstGeom prst="ellipse">
            <a:avLst/>
          </a:prstGeom>
          <a:solidFill>
            <a:srgbClr val="F26419"/>
          </a:solidFill>
          <a:ln w="12700">
            <a:solidFill>
              <a:srgbClr val="F26419"/>
            </a:solidFill>
            <a:prstDash val="solid"/>
          </a:ln>
        </p:spPr>
      </p:sp>
      <p:pic>
        <p:nvPicPr>
          <p:cNvPr id="16" name="Keep icon" descr="Keep">    </p:cNvPr>
          <p:cNvPicPr>
            <a:picLocks noChangeAspect="1"/>
          </p:cNvPicPr>
          <p:nvPr/>
        </p:nvPicPr>
        <p:blipFill>
          <a:blip r:embed="rId3"/>
          <a:stretch>
            <a:fillRect/>
          </a:stretch>
        </p:blipFill>
        <p:spPr>
          <a:xfrm>
            <a:off x="8229600" y="1645920"/>
            <a:ext cx="365760" cy="365760"/>
          </a:xfrm>
          <a:prstGeom prst="rect">
            <a:avLst/>
          </a:prstGeom>
        </p:spPr>
      </p:pic>
      <p:sp>
        <p:nvSpPr>
          <p:cNvPr id="17" name="Text 12"/>
          <p:cNvSpPr txBox="1"/>
          <p:nvPr/>
        </p:nvSpPr>
        <p:spPr>
          <a:xfrm>
            <a:off x="8961120" y="1600200"/>
            <a:ext cx="25603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Keep</a:t>
            </a:r>
            <a:endParaRPr lang="en-US" sz="2200" dirty="0"/>
          </a:p>
        </p:txBody>
      </p:sp>
      <p:sp>
        <p:nvSpPr>
          <p:cNvPr id="18" name="Keep card"/>
          <p:cNvSpPr/>
          <p:nvPr/>
        </p:nvSpPr>
        <p:spPr>
          <a:xfrm>
            <a:off x="8046720" y="2468880"/>
            <a:ext cx="3474720" cy="1371600"/>
          </a:xfrm>
          <a:prstGeom prst="roundRect">
            <a:avLst>
              <a:gd name="adj" fmla="val 8000"/>
            </a:avLst>
          </a:prstGeom>
          <a:solidFill>
            <a:schemeClr val="tx1"/>
          </a:solidFill>
          <a:ln w="12700">
            <a:solidFill>
              <a:schemeClr val="tx1"/>
            </a:solidFill>
            <a:prstDash val="solid"/>
          </a:ln>
        </p:spPr>
      </p:sp>
      <p:sp>
        <p:nvSpPr>
          <p:cNvPr id="19" name="Keep text"/>
          <p:cNvSpPr txBox="1"/>
          <p:nvPr/>
        </p:nvSpPr>
        <p:spPr>
          <a:xfrm>
            <a:off x="8275320" y="2651760"/>
            <a:ext cx="3017520" cy="1051560"/>
          </a:xfrm>
          <a:prstGeom prst="rect">
            <a:avLst/>
          </a:prstGeom>
          <a:noFill/>
          <a:ln/>
        </p:spPr>
        <p:txBody>
          <a:bodyPr wrap="square" lIns="0" tIns="0" rIns="0" bIns="0" rtlCol="0" anchor="t"/>
          <a:lstStyle/>
          <a:p>
            <a:pPr indent="0" marL="0">
              <a:spcAft>
                <a:spcPts val="200"/>
              </a:spcAft>
              <a:buNone/>
            </a:pPr>
            <a:r>
              <a:rPr lang="en-US" sz="13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sg expand steps.sg steps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steps/0000.sg ... 0038.sg</a:t>
            </a:r>
            <a:endParaRPr lang="en-US" sz="1300" dirty="0"/>
          </a:p>
        </p:txBody>
      </p:sp>
      <p:sp>
        <p:nvSpPr>
          <p:cNvPr id="20" name="Text 15"/>
          <p:cNvSpPr txBox="1"/>
          <p:nvPr/>
        </p:nvSpPr>
        <p:spPr>
          <a:xfrm>
            <a:off x="8046720" y="4069080"/>
            <a:ext cx="3474720" cy="731520"/>
          </a:xfrm>
          <a:prstGeom prst="rect">
            <a:avLst/>
          </a:prstGeom>
          <a:noFill/>
          <a:ln/>
        </p:spPr>
        <p:txBody>
          <a:bodyPr wrap="square" lIns="0" tIns="0" rIns="0" bIns="0" rtlCol="0" anchor="t"/>
          <a:lstStyle/>
          <a:p>
            <a:pPr indent="0" marL="0">
              <a:buNone/>
            </a:pPr>
            <a:r>
              <a:rPr lang="en-US" sz="1600" dirty="0">
                <a:solidFill>
                  <a:schemeClr val="tx1"/>
                </a:solidFill>
              </a:rPr>
              <a:t>Every trial as a plain file, if you want.</a:t>
            </a:r>
            <a:endParaRPr lang="en-US" sz="1600" dirty="0"/>
          </a:p>
        </p:txBody>
      </p:sp>
      <p:sp>
        <p:nvSpPr>
          <p:cNvPr id="21" name="examples card"/>
          <p:cNvSpPr/>
          <p:nvPr/>
        </p:nvSpPr>
        <p:spPr>
          <a:xfrm>
            <a:off x="548640" y="5394960"/>
            <a:ext cx="11064240" cy="685800"/>
          </a:xfrm>
          <a:prstGeom prst="roundRect">
            <a:avLst>
              <a:gd name="adj" fmla="val 16000"/>
            </a:avLst>
          </a:prstGeom>
          <a:solidFill>
            <a:schemeClr val="tx1"/>
          </a:solidFill>
          <a:ln w="12700">
            <a:solidFill>
              <a:schemeClr val="tx1"/>
            </a:solidFill>
            <a:prstDash val="solid"/>
          </a:ln>
        </p:spPr>
      </p:sp>
      <p:sp>
        <p:nvSpPr>
          <p:cNvPr id="22" name="examples text"/>
          <p:cNvSpPr txBox="1"/>
          <p:nvPr/>
        </p:nvSpPr>
        <p:spPr>
          <a:xfrm>
            <a:off x="777240" y="5577840"/>
            <a:ext cx="10607040" cy="365760"/>
          </a:xfrm>
          <a:prstGeom prst="rect">
            <a:avLst/>
          </a:prstGeom>
          <a:noFill/>
          <a:ln/>
        </p:spPr>
        <p:txBody>
          <a:bodyPr wrap="square" lIns="0" tIns="0" rIns="0" bIns="0" rtlCol="0" anchor="t"/>
          <a:lstStyle/>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examples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40 ready-to-run commands, from a first step to protocols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Playing it on the NI board with sgplay</a:t>
            </a:r>
            <a:endParaRPr lang="en-US" sz="3200" dirty="0"/>
          </a:p>
        </p:txBody>
      </p:sp>
      <p:sp>
        <p:nvSpPr>
          <p:cNvPr id="3" name="sgplay card"/>
          <p:cNvSpPr/>
          <p:nvPr/>
        </p:nvSpPr>
        <p:spPr>
          <a:xfrm>
            <a:off x="548640" y="1463040"/>
            <a:ext cx="6035040" cy="3017520"/>
          </a:xfrm>
          <a:prstGeom prst="roundRect">
            <a:avLst>
              <a:gd name="adj" fmla="val 3636"/>
            </a:avLst>
          </a:prstGeom>
          <a:solidFill>
            <a:schemeClr val="tx1"/>
          </a:solidFill>
          <a:ln w="12700">
            <a:solidFill>
              <a:schemeClr val="tx1"/>
            </a:solidFill>
            <a:prstDash val="solid"/>
          </a:ln>
        </p:spPr>
      </p:sp>
      <p:sp>
        <p:nvSpPr>
          <p:cNvPr id="4" name="sgplay label"/>
          <p:cNvSpPr txBox="1"/>
          <p:nvPr/>
        </p:nvSpPr>
        <p:spPr>
          <a:xfrm>
            <a:off x="777240" y="1572768"/>
            <a:ext cx="557784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terminal (proposed interface)</a:t>
            </a:r>
            <a:endParaRPr lang="en-US" sz="1100" dirty="0"/>
          </a:p>
        </p:txBody>
      </p:sp>
      <p:sp>
        <p:nvSpPr>
          <p:cNvPr id="5" name="sgplay text"/>
          <p:cNvSpPr txBox="1"/>
          <p:nvPr/>
        </p:nvSpPr>
        <p:spPr>
          <a:xfrm>
            <a:off x="777240" y="1874520"/>
            <a:ext cx="5577840" cy="2468880"/>
          </a:xfrm>
          <a:prstGeom prst="rect">
            <a:avLst/>
          </a:prstGeom>
          <a:noFill/>
          <a:ln/>
        </p:spPr>
        <p:txBody>
          <a:bodyPr wrap="square" lIns="0" tIns="0" rIns="0" bIns="0" rtlCol="0" anchor="t"/>
          <a:lstStyle/>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step.sg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play once</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-n 10 -i 5s step.sg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10 times</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steps.sg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a protocol</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steps/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its directory</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--dry-run pair.sg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show the map</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sgplay --rig rig2.cfg pair.sg</a:t>
            </a:r>
            <a:endParaRPr lang="en-US" sz="1500" dirty="0"/>
          </a:p>
        </p:txBody>
      </p:sp>
      <p:sp>
        <p:nvSpPr>
          <p:cNvPr id="6" name="sgplay step 1 circle"/>
          <p:cNvSpPr/>
          <p:nvPr/>
        </p:nvSpPr>
        <p:spPr>
          <a:xfrm>
            <a:off x="6949440" y="1463040"/>
            <a:ext cx="548640" cy="548640"/>
          </a:xfrm>
          <a:prstGeom prst="ellipse">
            <a:avLst/>
          </a:prstGeom>
          <a:solidFill>
            <a:srgbClr val="0B7A75"/>
          </a:solidFill>
          <a:ln w="12700">
            <a:solidFill>
              <a:srgbClr val="0B7A75"/>
            </a:solidFill>
            <a:prstDash val="solid"/>
          </a:ln>
        </p:spPr>
      </p:sp>
      <p:pic>
        <p:nvPicPr>
          <p:cNvPr id="7" name="sgplay step 1 icon" descr="sgplay step 1">    </p:cNvPr>
          <p:cNvPicPr>
            <a:picLocks noChangeAspect="1"/>
          </p:cNvPicPr>
          <p:nvPr/>
        </p:nvPicPr>
        <p:blipFill>
          <a:blip r:embed="rId1"/>
          <a:stretch>
            <a:fillRect/>
          </a:stretch>
        </p:blipFill>
        <p:spPr>
          <a:xfrm>
            <a:off x="7086600" y="1600200"/>
            <a:ext cx="274320" cy="274320"/>
          </a:xfrm>
          <a:prstGeom prst="rect">
            <a:avLst/>
          </a:prstGeom>
        </p:spPr>
      </p:pic>
      <p:sp>
        <p:nvSpPr>
          <p:cNvPr id="8" name="Text 5"/>
          <p:cNvSpPr txBox="1"/>
          <p:nvPr/>
        </p:nvSpPr>
        <p:spPr>
          <a:xfrm>
            <a:off x="7680960" y="1508760"/>
            <a:ext cx="3931920" cy="548640"/>
          </a:xfrm>
          <a:prstGeom prst="rect">
            <a:avLst/>
          </a:prstGeom>
          <a:noFill/>
          <a:ln/>
        </p:spPr>
        <p:txBody>
          <a:bodyPr wrap="square" lIns="0" tIns="0" rIns="0" bIns="0" rtlCol="0" anchor="ctr"/>
          <a:lstStyle/>
          <a:p>
            <a:pPr indent="0" marL="0">
              <a:buNone/>
            </a:pPr>
            <a:r>
              <a:rPr lang="en-US" sz="1500" dirty="0">
                <a:solidFill>
                  <a:schemeClr val="tx1"/>
                </a:solidFill>
              </a:rPr>
              <a:t>reads the .sg text, renders it with sg's rules at the board's rate</a:t>
            </a:r>
            <a:endParaRPr lang="en-US" sz="1500" dirty="0"/>
          </a:p>
        </p:txBody>
      </p:sp>
      <p:sp>
        <p:nvSpPr>
          <p:cNvPr id="9" name="sgplay step 2 circle"/>
          <p:cNvSpPr/>
          <p:nvPr/>
        </p:nvSpPr>
        <p:spPr>
          <a:xfrm>
            <a:off x="6949440" y="2240280"/>
            <a:ext cx="548640" cy="548640"/>
          </a:xfrm>
          <a:prstGeom prst="ellipse">
            <a:avLst/>
          </a:prstGeom>
          <a:solidFill>
            <a:srgbClr val="0B7A75"/>
          </a:solidFill>
          <a:ln w="12700">
            <a:solidFill>
              <a:srgbClr val="0B7A75"/>
            </a:solidFill>
            <a:prstDash val="solid"/>
          </a:ln>
        </p:spPr>
      </p:sp>
      <p:pic>
        <p:nvPicPr>
          <p:cNvPr id="10" name="sgplay step 2 icon" descr="sgplay step 2">    </p:cNvPr>
          <p:cNvPicPr>
            <a:picLocks noChangeAspect="1"/>
          </p:cNvPicPr>
          <p:nvPr/>
        </p:nvPicPr>
        <p:blipFill>
          <a:blip r:embed="rId2"/>
          <a:stretch>
            <a:fillRect/>
          </a:stretch>
        </p:blipFill>
        <p:spPr>
          <a:xfrm>
            <a:off x="7086600" y="2377440"/>
            <a:ext cx="274320" cy="274320"/>
          </a:xfrm>
          <a:prstGeom prst="rect">
            <a:avLst/>
          </a:prstGeom>
        </p:spPr>
      </p:pic>
      <p:sp>
        <p:nvSpPr>
          <p:cNvPr id="11" name="Text 7"/>
          <p:cNvSpPr txBox="1"/>
          <p:nvPr/>
        </p:nvSpPr>
        <p:spPr>
          <a:xfrm>
            <a:off x="7680960" y="2286000"/>
            <a:ext cx="3931920" cy="548640"/>
          </a:xfrm>
          <a:prstGeom prst="rect">
            <a:avLst/>
          </a:prstGeom>
          <a:noFill/>
          <a:ln/>
        </p:spPr>
        <p:txBody>
          <a:bodyPr wrap="square" lIns="0" tIns="0" rIns="0" bIns="0" rtlCol="0" anchor="ctr"/>
          <a:lstStyle/>
          <a:p>
            <a:pPr indent="0" marL="0">
              <a:buNone/>
            </a:pPr>
            <a:r>
              <a:rPr lang="en-US" sz="1500" dirty="0">
                <a:solidFill>
                  <a:schemeClr val="tx1"/>
                </a:solidFill>
              </a:rPr>
              <a:t>maps channel names to board lines with the rig file</a:t>
            </a:r>
            <a:endParaRPr lang="en-US" sz="1500" dirty="0"/>
          </a:p>
        </p:txBody>
      </p:sp>
      <p:sp>
        <p:nvSpPr>
          <p:cNvPr id="12" name="sgplay step 3 circle"/>
          <p:cNvSpPr/>
          <p:nvPr/>
        </p:nvSpPr>
        <p:spPr>
          <a:xfrm>
            <a:off x="6949440" y="3017520"/>
            <a:ext cx="548640" cy="548640"/>
          </a:xfrm>
          <a:prstGeom prst="ellipse">
            <a:avLst/>
          </a:prstGeom>
          <a:solidFill>
            <a:srgbClr val="0B7A75"/>
          </a:solidFill>
          <a:ln w="12700">
            <a:solidFill>
              <a:srgbClr val="0B7A75"/>
            </a:solidFill>
            <a:prstDash val="solid"/>
          </a:ln>
        </p:spPr>
      </p:sp>
      <p:pic>
        <p:nvPicPr>
          <p:cNvPr id="13" name="sgplay step 3 icon" descr="sgplay step 3">    </p:cNvPr>
          <p:cNvPicPr>
            <a:picLocks noChangeAspect="1"/>
          </p:cNvPicPr>
          <p:nvPr/>
        </p:nvPicPr>
        <p:blipFill>
          <a:blip r:embed="rId3"/>
          <a:stretch>
            <a:fillRect/>
          </a:stretch>
        </p:blipFill>
        <p:spPr>
          <a:xfrm>
            <a:off x="7086600" y="3154680"/>
            <a:ext cx="274320" cy="274320"/>
          </a:xfrm>
          <a:prstGeom prst="rect">
            <a:avLst/>
          </a:prstGeom>
        </p:spPr>
      </p:pic>
      <p:sp>
        <p:nvSpPr>
          <p:cNvPr id="14" name="Text 9"/>
          <p:cNvSpPr txBox="1"/>
          <p:nvPr/>
        </p:nvSpPr>
        <p:spPr>
          <a:xfrm>
            <a:off x="7680960" y="3063240"/>
            <a:ext cx="3931920" cy="548640"/>
          </a:xfrm>
          <a:prstGeom prst="rect">
            <a:avLst/>
          </a:prstGeom>
          <a:noFill/>
          <a:ln/>
        </p:spPr>
        <p:txBody>
          <a:bodyPr wrap="square" lIns="0" tIns="0" rIns="0" bIns="0" rtlCol="0" anchor="ctr"/>
          <a:lstStyle/>
          <a:p>
            <a:pPr indent="0" marL="0">
              <a:buNone/>
            </a:pPr>
            <a:r>
              <a:rPr lang="en-US" sz="1500" dirty="0">
                <a:solidFill>
                  <a:schemeClr val="tx1"/>
                </a:solidFill>
              </a:rPr>
              <a:t>converts to volts with the amplifier gains; refuses clipping</a:t>
            </a:r>
            <a:endParaRPr lang="en-US" sz="1500" dirty="0"/>
          </a:p>
        </p:txBody>
      </p:sp>
      <p:sp>
        <p:nvSpPr>
          <p:cNvPr id="15" name="sgplay step 4 circle"/>
          <p:cNvSpPr/>
          <p:nvPr/>
        </p:nvSpPr>
        <p:spPr>
          <a:xfrm>
            <a:off x="6949440" y="3794760"/>
            <a:ext cx="548640" cy="548640"/>
          </a:xfrm>
          <a:prstGeom prst="ellipse">
            <a:avLst/>
          </a:prstGeom>
          <a:solidFill>
            <a:srgbClr val="0B7A75"/>
          </a:solidFill>
          <a:ln w="12700">
            <a:solidFill>
              <a:srgbClr val="0B7A75"/>
            </a:solidFill>
            <a:prstDash val="solid"/>
          </a:ln>
        </p:spPr>
      </p:sp>
      <p:pic>
        <p:nvPicPr>
          <p:cNvPr id="16" name="sgplay step 4 icon" descr="sgplay step 4">    </p:cNvPr>
          <p:cNvPicPr>
            <a:picLocks noChangeAspect="1"/>
          </p:cNvPicPr>
          <p:nvPr/>
        </p:nvPicPr>
        <p:blipFill>
          <a:blip r:embed="rId4"/>
          <a:stretch>
            <a:fillRect/>
          </a:stretch>
        </p:blipFill>
        <p:spPr>
          <a:xfrm>
            <a:off x="7086600" y="3931920"/>
            <a:ext cx="274320" cy="274320"/>
          </a:xfrm>
          <a:prstGeom prst="rect">
            <a:avLst/>
          </a:prstGeom>
        </p:spPr>
      </p:pic>
      <p:sp>
        <p:nvSpPr>
          <p:cNvPr id="17" name="Text 11"/>
          <p:cNvSpPr txBox="1"/>
          <p:nvPr/>
        </p:nvSpPr>
        <p:spPr>
          <a:xfrm>
            <a:off x="7680960" y="3840480"/>
            <a:ext cx="3931920" cy="548640"/>
          </a:xfrm>
          <a:prstGeom prst="rect">
            <a:avLst/>
          </a:prstGeom>
          <a:noFill/>
          <a:ln/>
        </p:spPr>
        <p:txBody>
          <a:bodyPr wrap="square" lIns="0" tIns="0" rIns="0" bIns="0" rtlCol="0" anchor="ctr"/>
          <a:lstStyle/>
          <a:p>
            <a:pPr indent="0" marL="0">
              <a:buNone/>
            </a:pPr>
            <a:r>
              <a:rPr lang="en-US" sz="1500" dirty="0">
                <a:solidFill>
                  <a:schemeClr val="tx1"/>
                </a:solidFill>
              </a:rPr>
              <a:t>streams AO, records AI, sends triggers on DO</a:t>
            </a:r>
            <a:endParaRPr lang="en-US" sz="1500" dirty="0"/>
          </a:p>
        </p:txBody>
      </p:sp>
      <p:sp>
        <p:nvSpPr>
          <p:cNvPr id="18" name="sgplay step 5 circle"/>
          <p:cNvSpPr/>
          <p:nvPr/>
        </p:nvSpPr>
        <p:spPr>
          <a:xfrm>
            <a:off x="6949440" y="4572000"/>
            <a:ext cx="548640" cy="548640"/>
          </a:xfrm>
          <a:prstGeom prst="ellipse">
            <a:avLst/>
          </a:prstGeom>
          <a:solidFill>
            <a:srgbClr val="0B7A75"/>
          </a:solidFill>
          <a:ln w="12700">
            <a:solidFill>
              <a:srgbClr val="0B7A75"/>
            </a:solidFill>
            <a:prstDash val="solid"/>
          </a:ln>
        </p:spPr>
      </p:sp>
      <p:pic>
        <p:nvPicPr>
          <p:cNvPr id="19" name="sgplay step 5 icon" descr="sgplay step 5">    </p:cNvPr>
          <p:cNvPicPr>
            <a:picLocks noChangeAspect="1"/>
          </p:cNvPicPr>
          <p:nvPr/>
        </p:nvPicPr>
        <p:blipFill>
          <a:blip r:embed="rId5"/>
          <a:stretch>
            <a:fillRect/>
          </a:stretch>
        </p:blipFill>
        <p:spPr>
          <a:xfrm>
            <a:off x="7086600" y="4709160"/>
            <a:ext cx="274320" cy="274320"/>
          </a:xfrm>
          <a:prstGeom prst="rect">
            <a:avLst/>
          </a:prstGeom>
        </p:spPr>
      </p:pic>
      <p:sp>
        <p:nvSpPr>
          <p:cNvPr id="20" name="Text 13"/>
          <p:cNvSpPr txBox="1"/>
          <p:nvPr/>
        </p:nvSpPr>
        <p:spPr>
          <a:xfrm>
            <a:off x="7680960" y="4617720"/>
            <a:ext cx="3931920" cy="548640"/>
          </a:xfrm>
          <a:prstGeom prst="rect">
            <a:avLst/>
          </a:prstGeom>
          <a:noFill/>
          <a:ln/>
        </p:spPr>
        <p:txBody>
          <a:bodyPr wrap="square" lIns="0" tIns="0" rIns="0" bIns="0" rtlCol="0" anchor="ctr"/>
          <a:lstStyle/>
          <a:p>
            <a:pPr indent="0" marL="0">
              <a:buNone/>
            </a:pPr>
            <a:r>
              <a:rPr lang="en-US" sz="1500" dirty="0">
                <a:solidFill>
                  <a:schemeClr val="tx1"/>
                </a:solidFill>
              </a:rPr>
              <a:t>saves the recording together with the stimulus record</a:t>
            </a:r>
            <a:endParaRPr lang="en-US" sz="1500" dirty="0"/>
          </a:p>
        </p:txBody>
      </p:sp>
      <p:sp>
        <p:nvSpPr>
          <p:cNvPr id="21" name="Text 14"/>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300" i="1" dirty="0">
                <a:solidFill>
                  <a:schemeClr val="accent6"/>
                </a:solidFill>
              </a:rPr>
              <a:t>sgplay is the acquisition program assumed by this tutorial: it receives the same text files, and is the only part that knows the National Instruments board.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rig file connects names to wires</a:t>
            </a:r>
            <a:endParaRPr lang="en-US" sz="3200" dirty="0"/>
          </a:p>
        </p:txBody>
      </p:sp>
      <p:graphicFrame>
        <p:nvGraphicFramePr>
          <p:cNvPr id="14" name="rig table"/>
          <p:cNvGraphicFramePr>
            <a:graphicFrameLocks noGrp="1"/>
          </p:cNvGraphicFramePr>
          <p:nvPr>
            <p:extLst>
              <p:ext uri="{D42A27DB-BD31-4B8C-83A1-F6EECF244321}">
                <p14:modId xmlns:p14="http://schemas.microsoft.com/office/powerpoint/2010/main" val="1579011935"/>
              </p:ext>
            </p:extLst>
          </p:nvPr>
        </p:nvGraphicFramePr>
        <p:xfrm>
          <a:off x="548640" y="1508760"/>
          <a:ext cx="6949440" cy="914400"/>
        </p:xfrm>
        <a:graphic>
          <a:graphicData uri="http://schemas.openxmlformats.org/drawingml/2006/table">
            <a:tbl>
              <a:tblPr/>
              <a:tblGrid>
                <a:gridCol w="1828800"/>
                <a:gridCol w="2103120"/>
                <a:gridCol w="1188720"/>
                <a:gridCol w="1828800"/>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channel in the .sg</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NI board line</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Iinj</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Dev1/ao0</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400 pA/V</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current command</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Vcmd</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Dev1/ao1</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 mV/V</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voltage command</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 (digital)</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Dev1/port0/line0</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camera trigger</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Vm (recorded)</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Dev1/ai0</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mV/V</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membrane potential</a:t>
                      </a:r>
                      <a:endParaRPr lang="en-US" sz="14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bg1"/>
                    </a:solidFill>
                  </a:tcPr>
                </a:tc>
              </a:tr>
            </a:tbl>
          </a:graphicData>
        </a:graphic>
      </p:graphicFrame>
      <p:sp>
        <p:nvSpPr>
          <p:cNvPr id="4" name="rig card"/>
          <p:cNvSpPr/>
          <p:nvPr/>
        </p:nvSpPr>
        <p:spPr>
          <a:xfrm>
            <a:off x="7863840" y="1508760"/>
            <a:ext cx="3749040" cy="2743200"/>
          </a:xfrm>
          <a:prstGeom prst="roundRect">
            <a:avLst>
              <a:gd name="adj" fmla="val 4000"/>
            </a:avLst>
          </a:prstGeom>
          <a:solidFill>
            <a:schemeClr val="tx1"/>
          </a:solidFill>
          <a:ln w="12700">
            <a:solidFill>
              <a:schemeClr val="tx1"/>
            </a:solidFill>
            <a:prstDash val="solid"/>
          </a:ln>
        </p:spPr>
      </p:sp>
      <p:sp>
        <p:nvSpPr>
          <p:cNvPr id="5" name="rig label"/>
          <p:cNvSpPr txBox="1"/>
          <p:nvPr/>
        </p:nvSpPr>
        <p:spPr>
          <a:xfrm>
            <a:off x="8092440" y="1618488"/>
            <a:ext cx="329184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rig.cfg (proposed)</a:t>
            </a:r>
            <a:endParaRPr lang="en-US" sz="1100" dirty="0"/>
          </a:p>
        </p:txBody>
      </p:sp>
      <p:sp>
        <p:nvSpPr>
          <p:cNvPr id="6" name="rig text"/>
          <p:cNvSpPr txBox="1"/>
          <p:nvPr/>
        </p:nvSpPr>
        <p:spPr>
          <a:xfrm>
            <a:off x="8092440" y="1920240"/>
            <a:ext cx="3291840" cy="2194560"/>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board  Dev1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rate   20kHz</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Iinj   ao0  400pA/V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Vcmd   ao1  20mV/V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cam    port0/line0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Vm     ai0  100mV/V</a:t>
            </a:r>
            <a:endParaRPr lang="en-US" sz="1400" dirty="0"/>
          </a:p>
        </p:txBody>
      </p:sp>
      <p:sp>
        <p:nvSpPr>
          <p:cNvPr id="7" name="portable circle"/>
          <p:cNvSpPr/>
          <p:nvPr/>
        </p:nvSpPr>
        <p:spPr>
          <a:xfrm>
            <a:off x="548640" y="4572000"/>
            <a:ext cx="731520" cy="731520"/>
          </a:xfrm>
          <a:prstGeom prst="ellipse">
            <a:avLst/>
          </a:prstGeom>
          <a:solidFill>
            <a:srgbClr val="F26419"/>
          </a:solidFill>
          <a:ln w="12700">
            <a:solidFill>
              <a:srgbClr val="F26419"/>
            </a:solidFill>
            <a:prstDash val="solid"/>
          </a:ln>
        </p:spPr>
      </p:sp>
      <p:pic>
        <p:nvPicPr>
          <p:cNvPr id="8" name="portable icon" descr="portable">    </p:cNvPr>
          <p:cNvPicPr>
            <a:picLocks noChangeAspect="1"/>
          </p:cNvPicPr>
          <p:nvPr/>
        </p:nvPicPr>
        <p:blipFill>
          <a:blip r:embed="rId1"/>
          <a:stretch>
            <a:fillRect/>
          </a:stretch>
        </p:blipFill>
        <p:spPr>
          <a:xfrm>
            <a:off x="731520" y="4754880"/>
            <a:ext cx="365760" cy="365760"/>
          </a:xfrm>
          <a:prstGeom prst="rect">
            <a:avLst/>
          </a:prstGeom>
        </p:spPr>
      </p:pic>
      <p:sp>
        <p:nvSpPr>
          <p:cNvPr id="9" name="Text 5"/>
          <p:cNvSpPr txBox="1"/>
          <p:nvPr/>
        </p:nvSpPr>
        <p:spPr>
          <a:xfrm>
            <a:off x="1463040" y="4572000"/>
            <a:ext cx="10149840" cy="822960"/>
          </a:xfrm>
          <a:prstGeom prst="rect">
            <a:avLst/>
          </a:prstGeom>
          <a:noFill/>
          <a:ln/>
        </p:spPr>
        <p:txBody>
          <a:bodyPr wrap="square" lIns="0" tIns="0" rIns="0" bIns="0" rtlCol="0" anchor="t"/>
          <a:lstStyle/>
          <a:p>
            <a:pPr indent="0" marL="0">
              <a:buNone/>
            </a:pPr>
            <a:r>
              <a:rPr lang="en-US" sz="1600" b="1" dirty="0">
                <a:solidFill>
                  <a:schemeClr val="tx1"/>
                </a:solidFill>
              </a:rPr>
              <a:t>Same stimulus, any rig. </a:t>
            </a:r>
            <a:pPr indent="0" marL="0">
              <a:buNone/>
            </a:pPr>
            <a:r>
              <a:rPr lang="en-US" sz="1600" dirty="0">
                <a:solidFill>
                  <a:schemeClr val="tx1"/>
                </a:solidFill>
              </a:rPr>
              <a:t>Move to another set-up and change only the rig file: the .sg files, and the stimuli they describe, stay identical.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Nothing gets lost</a:t>
            </a:r>
            <a:endParaRPr lang="en-US" sz="3200" dirty="0"/>
          </a:p>
        </p:txBody>
      </p:sp>
      <p:sp>
        <p:nvSpPr>
          <p:cNvPr id="3" name="kept 1"/>
          <p:cNvSpPr/>
          <p:nvPr/>
        </p:nvSpPr>
        <p:spPr>
          <a:xfrm>
            <a:off x="548640" y="1554480"/>
            <a:ext cx="2834640" cy="1737360"/>
          </a:xfrm>
          <a:prstGeom prst="roundRect">
            <a:avLst>
              <a:gd name="adj" fmla="val 6316"/>
            </a:avLst>
          </a:prstGeom>
          <a:solidFill>
            <a:schemeClr val="bg2"/>
          </a:solidFill>
          <a:ln w="12700">
            <a:solidFill>
              <a:schemeClr val="bg2"/>
            </a:solidFill>
            <a:prstDash val="solid"/>
          </a:ln>
        </p:spPr>
      </p:sp>
      <p:sp>
        <p:nvSpPr>
          <p:cNvPr id="4" name="kept 1 circle"/>
          <p:cNvSpPr/>
          <p:nvPr/>
        </p:nvSpPr>
        <p:spPr>
          <a:xfrm>
            <a:off x="777240" y="1828800"/>
            <a:ext cx="640080" cy="640080"/>
          </a:xfrm>
          <a:prstGeom prst="ellipse">
            <a:avLst/>
          </a:prstGeom>
          <a:solidFill>
            <a:srgbClr val="0B7A75"/>
          </a:solidFill>
          <a:ln w="12700">
            <a:solidFill>
              <a:srgbClr val="0B7A75"/>
            </a:solidFill>
            <a:prstDash val="solid"/>
          </a:ln>
        </p:spPr>
      </p:sp>
      <p:pic>
        <p:nvPicPr>
          <p:cNvPr id="5" name="kept 1 icon" descr="kept 1">    </p:cNvPr>
          <p:cNvPicPr>
            <a:picLocks noChangeAspect="1"/>
          </p:cNvPicPr>
          <p:nvPr/>
        </p:nvPicPr>
        <p:blipFill>
          <a:blip r:embed="rId1"/>
          <a:stretch>
            <a:fillRect/>
          </a:stretch>
        </p:blipFill>
        <p:spPr>
          <a:xfrm>
            <a:off x="937260" y="1988820"/>
            <a:ext cx="320040" cy="320040"/>
          </a:xfrm>
          <a:prstGeom prst="rect">
            <a:avLst/>
          </a:prstGeom>
        </p:spPr>
      </p:pic>
      <p:sp>
        <p:nvSpPr>
          <p:cNvPr id="6" name="Text 3"/>
          <p:cNvSpPr txBox="1"/>
          <p:nvPr/>
        </p:nvSpPr>
        <p:spPr>
          <a:xfrm>
            <a:off x="1554480" y="18288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the stimulus text</a:t>
            </a:r>
            <a:endParaRPr lang="en-US" sz="1700" dirty="0"/>
          </a:p>
        </p:txBody>
      </p:sp>
      <p:sp>
        <p:nvSpPr>
          <p:cNvPr id="7" name="Text 4"/>
          <p:cNvSpPr txBox="1"/>
          <p:nvPr/>
        </p:nvSpPr>
        <p:spPr>
          <a:xfrm>
            <a:off x="777240" y="2606040"/>
            <a:ext cx="2468880" cy="548640"/>
          </a:xfrm>
          <a:prstGeom prst="rect">
            <a:avLst/>
          </a:prstGeom>
          <a:noFill/>
          <a:ln/>
        </p:spPr>
        <p:txBody>
          <a:bodyPr wrap="square" lIns="0" tIns="0" rIns="0" bIns="0" rtlCol="0" anchor="t"/>
          <a:lstStyle/>
          <a:p>
            <a:pPr indent="0" marL="0">
              <a:buNone/>
            </a:pPr>
            <a:r>
              <a:rPr lang="en-US" sz="1400" dirty="0">
                <a:solidFill>
                  <a:schemeClr val="accent6"/>
                </a:solidFill>
              </a:rPr>
              <a:t>every line you wrote</a:t>
            </a:r>
            <a:endParaRPr lang="en-US" sz="1400" dirty="0"/>
          </a:p>
        </p:txBody>
      </p:sp>
      <p:sp>
        <p:nvSpPr>
          <p:cNvPr id="8" name="kept 2"/>
          <p:cNvSpPr/>
          <p:nvPr/>
        </p:nvSpPr>
        <p:spPr>
          <a:xfrm>
            <a:off x="3657600" y="1554480"/>
            <a:ext cx="2834640" cy="1737360"/>
          </a:xfrm>
          <a:prstGeom prst="roundRect">
            <a:avLst>
              <a:gd name="adj" fmla="val 6316"/>
            </a:avLst>
          </a:prstGeom>
          <a:solidFill>
            <a:schemeClr val="bg2"/>
          </a:solidFill>
          <a:ln w="12700">
            <a:solidFill>
              <a:schemeClr val="bg2"/>
            </a:solidFill>
            <a:prstDash val="solid"/>
          </a:ln>
        </p:spPr>
      </p:sp>
      <p:sp>
        <p:nvSpPr>
          <p:cNvPr id="9" name="kept 2 circle"/>
          <p:cNvSpPr/>
          <p:nvPr/>
        </p:nvSpPr>
        <p:spPr>
          <a:xfrm>
            <a:off x="3886200" y="1828800"/>
            <a:ext cx="640080" cy="640080"/>
          </a:xfrm>
          <a:prstGeom prst="ellipse">
            <a:avLst/>
          </a:prstGeom>
          <a:solidFill>
            <a:srgbClr val="0B7A75"/>
          </a:solidFill>
          <a:ln w="12700">
            <a:solidFill>
              <a:srgbClr val="0B7A75"/>
            </a:solidFill>
            <a:prstDash val="solid"/>
          </a:ln>
        </p:spPr>
      </p:sp>
      <p:pic>
        <p:nvPicPr>
          <p:cNvPr id="10" name="kept 2 icon" descr="kept 2">    </p:cNvPr>
          <p:cNvPicPr>
            <a:picLocks noChangeAspect="1"/>
          </p:cNvPicPr>
          <p:nvPr/>
        </p:nvPicPr>
        <p:blipFill>
          <a:blip r:embed="rId2"/>
          <a:stretch>
            <a:fillRect/>
          </a:stretch>
        </p:blipFill>
        <p:spPr>
          <a:xfrm>
            <a:off x="4046220" y="1988820"/>
            <a:ext cx="320040" cy="320040"/>
          </a:xfrm>
          <a:prstGeom prst="rect">
            <a:avLst/>
          </a:prstGeom>
        </p:spPr>
      </p:pic>
      <p:sp>
        <p:nvSpPr>
          <p:cNvPr id="11" name="Text 7"/>
          <p:cNvSpPr txBox="1"/>
          <p:nvPr/>
        </p:nvSpPr>
        <p:spPr>
          <a:xfrm>
            <a:off x="4663440" y="1828800"/>
            <a:ext cx="1737360" cy="640080"/>
          </a:xfrm>
          <a:prstGeom prst="rect">
            <a:avLst/>
          </a:prstGeom>
          <a:noFill/>
          <a:ln/>
        </p:spPr>
        <p:txBody>
          <a:bodyPr wrap="square" lIns="0" tIns="0" rIns="0" bIns="0" rtlCol="0" anchor="t"/>
          <a:lstStyle/>
          <a:p>
            <a:pPr indent="0" marL="0">
              <a:buNone/>
            </a:pPr>
            <a:r>
              <a:rPr lang="en-US" sz="1700" b="1" dirty="0">
                <a:solidFill>
                  <a:schemeClr val="tx1"/>
                </a:solidFill>
              </a:rPr>
              <a:t>the seed</a:t>
            </a:r>
            <a:endParaRPr lang="en-US" sz="1700" dirty="0"/>
          </a:p>
        </p:txBody>
      </p:sp>
      <p:sp>
        <p:nvSpPr>
          <p:cNvPr id="12" name="Text 8"/>
          <p:cNvSpPr txBox="1"/>
          <p:nvPr/>
        </p:nvSpPr>
        <p:spPr>
          <a:xfrm>
            <a:off x="3886200" y="2606040"/>
            <a:ext cx="2468880" cy="548640"/>
          </a:xfrm>
          <a:prstGeom prst="rect">
            <a:avLst/>
          </a:prstGeom>
          <a:noFill/>
          <a:ln/>
        </p:spPr>
        <p:txBody>
          <a:bodyPr wrap="square" lIns="0" tIns="0" rIns="0" bIns="0" rtlCol="0" anchor="t"/>
          <a:lstStyle/>
          <a:p>
            <a:pPr indent="0" marL="0">
              <a:buNone/>
            </a:pPr>
            <a:r>
              <a:rPr lang="en-US" sz="1400" dirty="0">
                <a:solidFill>
                  <a:schemeClr val="accent6"/>
                </a:solidFill>
              </a:rPr>
              <a:t>of every noise segment</a:t>
            </a:r>
            <a:endParaRPr lang="en-US" sz="1400" dirty="0"/>
          </a:p>
        </p:txBody>
      </p:sp>
      <p:sp>
        <p:nvSpPr>
          <p:cNvPr id="13" name="kept 3"/>
          <p:cNvSpPr/>
          <p:nvPr/>
        </p:nvSpPr>
        <p:spPr>
          <a:xfrm>
            <a:off x="548640" y="3566160"/>
            <a:ext cx="2834640" cy="1737360"/>
          </a:xfrm>
          <a:prstGeom prst="roundRect">
            <a:avLst>
              <a:gd name="adj" fmla="val 6316"/>
            </a:avLst>
          </a:prstGeom>
          <a:solidFill>
            <a:schemeClr val="bg2"/>
          </a:solidFill>
          <a:ln w="12700">
            <a:solidFill>
              <a:schemeClr val="bg2"/>
            </a:solidFill>
            <a:prstDash val="solid"/>
          </a:ln>
        </p:spPr>
      </p:sp>
      <p:sp>
        <p:nvSpPr>
          <p:cNvPr id="14" name="kept 3 circle"/>
          <p:cNvSpPr/>
          <p:nvPr/>
        </p:nvSpPr>
        <p:spPr>
          <a:xfrm>
            <a:off x="777240" y="3840480"/>
            <a:ext cx="640080" cy="640080"/>
          </a:xfrm>
          <a:prstGeom prst="ellipse">
            <a:avLst/>
          </a:prstGeom>
          <a:solidFill>
            <a:srgbClr val="0B7A75"/>
          </a:solidFill>
          <a:ln w="12700">
            <a:solidFill>
              <a:srgbClr val="0B7A75"/>
            </a:solidFill>
            <a:prstDash val="solid"/>
          </a:ln>
        </p:spPr>
      </p:sp>
      <p:pic>
        <p:nvPicPr>
          <p:cNvPr id="15" name="kept 3 icon" descr="kept 3">    </p:cNvPr>
          <p:cNvPicPr>
            <a:picLocks noChangeAspect="1"/>
          </p:cNvPicPr>
          <p:nvPr/>
        </p:nvPicPr>
        <p:blipFill>
          <a:blip r:embed="rId3"/>
          <a:stretch>
            <a:fillRect/>
          </a:stretch>
        </p:blipFill>
        <p:spPr>
          <a:xfrm>
            <a:off x="937260" y="4000500"/>
            <a:ext cx="320040" cy="320040"/>
          </a:xfrm>
          <a:prstGeom prst="rect">
            <a:avLst/>
          </a:prstGeom>
        </p:spPr>
      </p:pic>
      <p:sp>
        <p:nvSpPr>
          <p:cNvPr id="16" name="Text 11"/>
          <p:cNvSpPr txBox="1"/>
          <p:nvPr/>
        </p:nvSpPr>
        <p:spPr>
          <a:xfrm>
            <a:off x="1554480" y="3840480"/>
            <a:ext cx="1737360" cy="640080"/>
          </a:xfrm>
          <a:prstGeom prst="rect">
            <a:avLst/>
          </a:prstGeom>
          <a:noFill/>
          <a:ln/>
        </p:spPr>
        <p:txBody>
          <a:bodyPr wrap="square" lIns="0" tIns="0" rIns="0" bIns="0" rtlCol="0" anchor="t"/>
          <a:lstStyle/>
          <a:p>
            <a:pPr indent="0" marL="0">
              <a:buNone/>
            </a:pPr>
            <a:r>
              <a:rPr lang="en-US" sz="1700" b="1" dirty="0">
                <a:solidFill>
                  <a:schemeClr val="tx1"/>
                </a:solidFill>
              </a:rPr>
              <a:t>the sampling rate</a:t>
            </a:r>
            <a:endParaRPr lang="en-US" sz="1700" dirty="0"/>
          </a:p>
        </p:txBody>
      </p:sp>
      <p:sp>
        <p:nvSpPr>
          <p:cNvPr id="17" name="Text 12"/>
          <p:cNvSpPr txBox="1"/>
          <p:nvPr/>
        </p:nvSpPr>
        <p:spPr>
          <a:xfrm>
            <a:off x="777240" y="4617720"/>
            <a:ext cx="2468880" cy="548640"/>
          </a:xfrm>
          <a:prstGeom prst="rect">
            <a:avLst/>
          </a:prstGeom>
          <a:noFill/>
          <a:ln/>
        </p:spPr>
        <p:txBody>
          <a:bodyPr wrap="square" lIns="0" tIns="0" rIns="0" bIns="0" rtlCol="0" anchor="t"/>
          <a:lstStyle/>
          <a:p>
            <a:pPr indent="0" marL="0">
              <a:buNone/>
            </a:pPr>
            <a:r>
              <a:rPr lang="en-US" sz="1400" dirty="0">
                <a:solidFill>
                  <a:schemeClr val="accent6"/>
                </a:solidFill>
              </a:rPr>
              <a:t>and the program version</a:t>
            </a:r>
            <a:endParaRPr lang="en-US" sz="1400" dirty="0"/>
          </a:p>
        </p:txBody>
      </p:sp>
      <p:sp>
        <p:nvSpPr>
          <p:cNvPr id="18" name="kept 4"/>
          <p:cNvSpPr/>
          <p:nvPr/>
        </p:nvSpPr>
        <p:spPr>
          <a:xfrm>
            <a:off x="3657600" y="3566160"/>
            <a:ext cx="2834640" cy="1737360"/>
          </a:xfrm>
          <a:prstGeom prst="roundRect">
            <a:avLst>
              <a:gd name="adj" fmla="val 6316"/>
            </a:avLst>
          </a:prstGeom>
          <a:solidFill>
            <a:schemeClr val="bg2"/>
          </a:solidFill>
          <a:ln w="12700">
            <a:solidFill>
              <a:schemeClr val="bg2"/>
            </a:solidFill>
            <a:prstDash val="solid"/>
          </a:ln>
        </p:spPr>
      </p:sp>
      <p:sp>
        <p:nvSpPr>
          <p:cNvPr id="19" name="kept 4 circle"/>
          <p:cNvSpPr/>
          <p:nvPr/>
        </p:nvSpPr>
        <p:spPr>
          <a:xfrm>
            <a:off x="3886200" y="3840480"/>
            <a:ext cx="640080" cy="640080"/>
          </a:xfrm>
          <a:prstGeom prst="ellipse">
            <a:avLst/>
          </a:prstGeom>
          <a:solidFill>
            <a:srgbClr val="0B7A75"/>
          </a:solidFill>
          <a:ln w="12700">
            <a:solidFill>
              <a:srgbClr val="0B7A75"/>
            </a:solidFill>
            <a:prstDash val="solid"/>
          </a:ln>
        </p:spPr>
      </p:sp>
      <p:pic>
        <p:nvPicPr>
          <p:cNvPr id="20" name="kept 4 icon" descr="kept 4">    </p:cNvPr>
          <p:cNvPicPr>
            <a:picLocks noChangeAspect="1"/>
          </p:cNvPicPr>
          <p:nvPr/>
        </p:nvPicPr>
        <p:blipFill>
          <a:blip r:embed="rId4"/>
          <a:stretch>
            <a:fillRect/>
          </a:stretch>
        </p:blipFill>
        <p:spPr>
          <a:xfrm>
            <a:off x="4046220" y="4000500"/>
            <a:ext cx="320040" cy="320040"/>
          </a:xfrm>
          <a:prstGeom prst="rect">
            <a:avLst/>
          </a:prstGeom>
        </p:spPr>
      </p:pic>
      <p:sp>
        <p:nvSpPr>
          <p:cNvPr id="21" name="Text 15"/>
          <p:cNvSpPr txBox="1"/>
          <p:nvPr/>
        </p:nvSpPr>
        <p:spPr>
          <a:xfrm>
            <a:off x="4663440" y="3840480"/>
            <a:ext cx="1737360" cy="640080"/>
          </a:xfrm>
          <a:prstGeom prst="rect">
            <a:avLst/>
          </a:prstGeom>
          <a:noFill/>
          <a:ln/>
        </p:spPr>
        <p:txBody>
          <a:bodyPr wrap="square" lIns="0" tIns="0" rIns="0" bIns="0" rtlCol="0" anchor="t"/>
          <a:lstStyle/>
          <a:p>
            <a:pPr indent="0" marL="0">
              <a:buNone/>
            </a:pPr>
            <a:r>
              <a:rPr lang="en-US" sz="1700" b="1" dirty="0">
                <a:solidFill>
                  <a:schemeClr val="tx1"/>
                </a:solidFill>
              </a:rPr>
              <a:t>a digest</a:t>
            </a:r>
            <a:endParaRPr lang="en-US" sz="1700" dirty="0"/>
          </a:p>
        </p:txBody>
      </p:sp>
      <p:sp>
        <p:nvSpPr>
          <p:cNvPr id="22" name="Text 16"/>
          <p:cNvSpPr txBox="1"/>
          <p:nvPr/>
        </p:nvSpPr>
        <p:spPr>
          <a:xfrm>
            <a:off x="3886200" y="4617720"/>
            <a:ext cx="2468880" cy="548640"/>
          </a:xfrm>
          <a:prstGeom prst="rect">
            <a:avLst/>
          </a:prstGeom>
          <a:noFill/>
          <a:ln/>
        </p:spPr>
        <p:txBody>
          <a:bodyPr wrap="square" lIns="0" tIns="0" rIns="0" bIns="0" rtlCol="0" anchor="t"/>
          <a:lstStyle/>
          <a:p>
            <a:pPr indent="0" marL="0">
              <a:buNone/>
            </a:pPr>
            <a:r>
              <a:rPr lang="en-US" sz="1400" dirty="0">
                <a:solidFill>
                  <a:schemeClr val="accent6"/>
                </a:solidFill>
              </a:rPr>
              <a:t>to prove the samples are intact</a:t>
            </a:r>
            <a:endParaRPr lang="en-US" sz="1400" dirty="0"/>
          </a:p>
        </p:txBody>
      </p:sp>
      <p:sp>
        <p:nvSpPr>
          <p:cNvPr id="23" name="regenerate card"/>
          <p:cNvSpPr/>
          <p:nvPr/>
        </p:nvSpPr>
        <p:spPr>
          <a:xfrm>
            <a:off x="6949440" y="1554480"/>
            <a:ext cx="4663440" cy="2194560"/>
          </a:xfrm>
          <a:prstGeom prst="roundRect">
            <a:avLst>
              <a:gd name="adj" fmla="val 5000"/>
            </a:avLst>
          </a:prstGeom>
          <a:solidFill>
            <a:schemeClr val="tx1"/>
          </a:solidFill>
          <a:ln w="12700">
            <a:solidFill>
              <a:schemeClr val="tx1"/>
            </a:solidFill>
            <a:prstDash val="solid"/>
          </a:ln>
        </p:spPr>
      </p:sp>
      <p:sp>
        <p:nvSpPr>
          <p:cNvPr id="24" name="regenerate label"/>
          <p:cNvSpPr txBox="1"/>
          <p:nvPr/>
        </p:nvSpPr>
        <p:spPr>
          <a:xfrm>
            <a:off x="7178040" y="1664208"/>
            <a:ext cx="4206240" cy="274320"/>
          </a:xfrm>
          <a:prstGeom prst="rect">
            <a:avLst/>
          </a:prstGeom>
          <a:noFill/>
          <a:ln/>
        </p:spPr>
        <p:txBody>
          <a:bodyPr wrap="square" lIns="0" tIns="0" rIns="0" bIns="0" rtlCol="0" anchor="ctr"/>
          <a:lstStyle/>
          <a:p>
            <a:pPr indent="0" marL="0">
              <a:buNone/>
            </a:pPr>
            <a:r>
              <a:rPr lang="en-US" sz="1100" dirty="0">
                <a:solidFill>
                  <a:schemeClr val="accent4"/>
                </a:solidFill>
                <a:latin typeface="Courier New" pitchFamily="34" charset="0"/>
                <a:ea typeface="Courier New" pitchFamily="34" charset="-122"/>
                <a:cs typeface="Courier New" pitchFamily="34" charset="-120"/>
              </a:rPr>
              <a:t>from the saved record</a:t>
            </a:r>
            <a:endParaRPr lang="en-US" sz="1100" dirty="0"/>
          </a:p>
        </p:txBody>
      </p:sp>
      <p:sp>
        <p:nvSpPr>
          <p:cNvPr id="25" name="regenerate text"/>
          <p:cNvSpPr txBox="1"/>
          <p:nvPr/>
        </p:nvSpPr>
        <p:spPr>
          <a:xfrm>
            <a:off x="7178040" y="1965960"/>
            <a:ext cx="4206240" cy="164592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regenerate any trial,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accent4"/>
                </a:solidFill>
                <a:latin typeface="Courier New" pitchFamily="34" charset="0"/>
                <a:ea typeface="Courier New" pitchFamily="34" charset="-122"/>
                <a:cs typeface="Courier New" pitchFamily="34" charset="-120"/>
              </a:rPr>
              <a:t># years later:</a:t>
            </a:r>
            <a:endParaRPr lang="en-US" sz="1500" dirty="0"/>
          </a:p>
          <a:p>
            <a:pPr indent="0" marL="0">
              <a:spcAft>
                <a:spcPts val="200"/>
              </a:spcAft>
              <a:buNone/>
            </a:pPr>
            <a:r>
              <a:rPr lang="en-US" sz="1500" b="1" dirty="0">
                <a:solidFill>
                  <a:schemeClr val="accent2"/>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sg render -r 20kHz -s SEED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trial.sg</a:t>
            </a:r>
            <a:endParaRPr lang="en-US" sz="1500" dirty="0"/>
          </a:p>
        </p:txBody>
      </p:sp>
      <p:sp>
        <p:nvSpPr>
          <p:cNvPr id="26" name="Text 20"/>
          <p:cNvSpPr txBox="1"/>
          <p:nvPr/>
        </p:nvSpPr>
        <p:spPr>
          <a:xfrm>
            <a:off x="6949440" y="4023360"/>
            <a:ext cx="4663440" cy="1097280"/>
          </a:xfrm>
          <a:prstGeom prst="rect">
            <a:avLst/>
          </a:prstGeom>
          <a:noFill/>
          <a:ln/>
        </p:spPr>
        <p:txBody>
          <a:bodyPr wrap="square" lIns="0" tIns="0" rIns="0" bIns="0" rtlCol="0" anchor="t"/>
          <a:lstStyle/>
          <a:p>
            <a:pPr indent="0" marL="0">
              <a:buNone/>
            </a:pPr>
            <a:r>
              <a:rPr lang="en-US" sz="1600" dirty="0">
                <a:solidFill>
                  <a:schemeClr val="tx1"/>
                </a:solidFill>
              </a:rPr>
              <a:t>Every .sgb file, and every recording made by sgplay, carries this record in its header.</a:t>
            </a:r>
            <a:endParaRPr lang="en-US" sz="16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Cheat sheet</a:t>
            </a:r>
            <a:endParaRPr lang="en-US" sz="3200" dirty="0"/>
          </a:p>
        </p:txBody>
      </p:sp>
      <p:graphicFrame>
        <p:nvGraphicFramePr>
          <p:cNvPr id="16" name="cheat sheet"/>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7772400"/>
              </a:tblGrid>
              <a:tr h="47548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I want to …</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solidFill>
                      <a:schemeClr val="accent1"/>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make a step</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500ms dc(0); 1s dc(300); 500ms dc(0)</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check a file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sg check file.sg</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get the samples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sg render -r 20kHz file.sg</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see them</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python3 tools/sgplot.py file.sgb</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repeat the same noise</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ou(..., seed=17)   or   sg render -s 42</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play it on the board</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sgplay file.sg</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know a generator</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sg help pulses</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see 40 examples</a:t>
                      </a:r>
                      <a:endParaRPr lang="en-US" sz="1500" dirty="0">
                        <a:latin typeface="Calibri" charset="0"/>
                        <a:ea typeface="Calibri" charset="0"/>
                        <a:cs typeface="Calibri"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c>
                  <a:txBody>
                    <a:bodyPr/>
                    <a:lstStyle/>
                    <a:p>
                      <a:pPr indent="0" marL="0">
                        <a:buNone/>
                      </a:pPr>
                      <a:r>
                        <a:rPr lang="en-US" sz="1500" dirty="0">
                          <a:solidFill>
                            <a:schemeClr val="accent1"/>
                          </a:solidFill>
                          <a:latin typeface="Courier New" pitchFamily="34" charset="0"/>
                          <a:ea typeface="Courier New" pitchFamily="34" charset="-122"/>
                          <a:cs typeface="Courier New" pitchFamily="34" charset="-120"/>
                        </a:rPr>
                        <a:t>sg examples</a:t>
                      </a:r>
                      <a:endParaRPr lang="en-US" sz="1500" dirty="0">
                        <a:latin typeface="Courier New" charset="0"/>
                        <a:ea typeface="Courier New" charset="0"/>
                        <a:cs typeface="Courier New" charset="0"/>
                      </a:endParaRPr>
                    </a:p>
                  </a:txBody>
                  <a:tcPr marL="91440" marR="91440" marT="45720" marB="45720" anchor="ctr">
                    <a:lnL w="9525" cap="flat" cmpd="sng" algn="ctr">
                      <a:solidFill>
                        <a:srgbClr val="EEF4F3"/>
                      </a:solidFill>
                      <a:prstDash val="solid"/>
                      <a:round/>
                      <a:headEnd type="none" w="med" len="med"/>
                      <a:tailEnd type="none" w="med" len="med"/>
                    </a:lnL>
                    <a:lnR w="9525" cap="flat" cmpd="sng" algn="ctr">
                      <a:solidFill>
                        <a:srgbClr val="EEF4F3"/>
                      </a:solidFill>
                      <a:prstDash val="solid"/>
                      <a:round/>
                      <a:headEnd type="none" w="med" len="med"/>
                      <a:tailEnd type="none" w="med" len="med"/>
                    </a:lnR>
                    <a:lnT w="9525" cap="flat" cmpd="sng" algn="ctr">
                      <a:solidFill>
                        <a:srgbClr val="EEF4F3"/>
                      </a:solidFill>
                      <a:prstDash val="solid"/>
                      <a:round/>
                      <a:headEnd type="none" w="med" len="med"/>
                      <a:tailEnd type="none" w="med" len="med"/>
                    </a:lnT>
                    <a:lnB w="9525" cap="flat" cmpd="sng" algn="ctr">
                      <a:solidFill>
                        <a:srgbClr val="EEF4F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lIns="0" tIns="0" rIns="0" bIns="0" rtlCol="0"/>
          <a:lstStyle/>
          <a:p>
            <a:pPr algn="l" indent="0" marL="0">
              <a:buNone/>
            </a:pPr>
            <a:r>
              <a:rPr lang="en-US" sz="4000" b="1" dirty="0">
                <a:solidFill>
                  <a:schemeClr val="bg1"/>
                </a:solidFill>
              </a:rPr>
              <a:t>Start with one line</a:t>
            </a:r>
            <a:endParaRPr lang="en-US" sz="4000" dirty="0"/>
          </a:p>
        </p:txBody>
      </p:sp>
      <p:sp>
        <p:nvSpPr>
          <p:cNvPr id="3" name="one line card"/>
          <p:cNvSpPr/>
          <p:nvPr/>
        </p:nvSpPr>
        <p:spPr>
          <a:xfrm>
            <a:off x="640080" y="1737360"/>
            <a:ext cx="5669280" cy="1097280"/>
          </a:xfrm>
          <a:prstGeom prst="roundRect">
            <a:avLst>
              <a:gd name="adj" fmla="val 10000"/>
            </a:avLst>
          </a:prstGeom>
          <a:solidFill>
            <a:schemeClr val="tx1"/>
          </a:solidFill>
          <a:ln w="12700">
            <a:solidFill>
              <a:schemeClr val="tx1"/>
            </a:solidFill>
            <a:prstDash val="solid"/>
          </a:ln>
        </p:spPr>
      </p:sp>
      <p:sp>
        <p:nvSpPr>
          <p:cNvPr id="4" name="one line text"/>
          <p:cNvSpPr txBox="1"/>
          <p:nvPr/>
        </p:nvSpPr>
        <p:spPr>
          <a:xfrm>
            <a:off x="868680" y="1920240"/>
            <a:ext cx="5212080" cy="777240"/>
          </a:xfrm>
          <a:prstGeom prst="rect">
            <a:avLst/>
          </a:prstGeom>
          <a:noFill/>
          <a:ln/>
        </p:spPr>
        <p:txBody>
          <a:bodyPr wrap="square" lIns="0" tIns="0" rIns="0" bIns="0" rtlCol="0" anchor="t"/>
          <a:lstStyle/>
          <a:p>
            <a:pPr indent="0" marL="0">
              <a:spcAft>
                <a:spcPts val="200"/>
              </a:spcAft>
              <a:buNone/>
            </a:pPr>
            <a:r>
              <a:rPr lang="en-US" sz="3600" dirty="0">
                <a:solidFill>
                  <a:schemeClr val="bg1"/>
                </a:solidFill>
                <a:latin typeface="Courier New" pitchFamily="34" charset="0"/>
                <a:ea typeface="Courier New" pitchFamily="34" charset="-122"/>
                <a:cs typeface="Courier New" pitchFamily="34" charset="-120"/>
              </a:rPr>
              <a:t>1s dc(300)</a:t>
            </a:r>
            <a:endParaRPr lang="en-US" sz="3600" dirty="0"/>
          </a:p>
        </p:txBody>
      </p:sp>
      <p:sp>
        <p:nvSpPr>
          <p:cNvPr id="5" name="Text 3"/>
          <p:cNvSpPr txBox="1"/>
          <p:nvPr/>
        </p:nvSpPr>
        <p:spPr>
          <a:xfrm>
            <a:off x="6766560" y="1737360"/>
            <a:ext cx="4846320" cy="365760"/>
          </a:xfrm>
          <a:prstGeom prst="rect">
            <a:avLst/>
          </a:prstGeom>
          <a:noFill/>
          <a:ln/>
        </p:spPr>
        <p:txBody>
          <a:bodyPr wrap="square" lIns="0" tIns="0" rIns="0" bIns="0" rtlCol="0" anchor="t"/>
          <a:lstStyle/>
          <a:p>
            <a:pPr indent="0" marL="0">
              <a:buNone/>
            </a:pPr>
            <a:r>
              <a:rPr lang="en-US" sz="1700" b="1" dirty="0">
                <a:solidFill>
                  <a:schemeClr val="accent4"/>
                </a:solidFill>
                <a:latin typeface="Courier New" pitchFamily="34" charset="0"/>
                <a:ea typeface="Courier New" pitchFamily="34" charset="-122"/>
                <a:cs typeface="Courier New" pitchFamily="34" charset="-120"/>
              </a:rPr>
              <a:t>sg help</a:t>
            </a:r>
            <a:endParaRPr lang="en-US" sz="1700" dirty="0"/>
          </a:p>
        </p:txBody>
      </p:sp>
      <p:sp>
        <p:nvSpPr>
          <p:cNvPr id="6" name="Text 4"/>
          <p:cNvSpPr txBox="1"/>
          <p:nvPr/>
        </p:nvSpPr>
        <p:spPr>
          <a:xfrm>
            <a:off x="6766560" y="2103120"/>
            <a:ext cx="4846320" cy="365760"/>
          </a:xfrm>
          <a:prstGeom prst="rect">
            <a:avLst/>
          </a:prstGeom>
          <a:noFill/>
          <a:ln/>
        </p:spPr>
        <p:txBody>
          <a:bodyPr wrap="square" lIns="0" tIns="0" rIns="0" bIns="0" rtlCol="0" anchor="t"/>
          <a:lstStyle/>
          <a:p>
            <a:pPr indent="0" marL="0">
              <a:buNone/>
            </a:pPr>
            <a:r>
              <a:rPr lang="en-US" sz="1400" dirty="0">
                <a:solidFill>
                  <a:schemeClr val="bg1"/>
                </a:solidFill>
              </a:rPr>
              <a:t>all topics; sg help NAME for a generator</a:t>
            </a:r>
            <a:endParaRPr lang="en-US" sz="1400" dirty="0"/>
          </a:p>
        </p:txBody>
      </p:sp>
      <p:sp>
        <p:nvSpPr>
          <p:cNvPr id="7" name="Text 5"/>
          <p:cNvSpPr txBox="1"/>
          <p:nvPr/>
        </p:nvSpPr>
        <p:spPr>
          <a:xfrm>
            <a:off x="6766560" y="2606040"/>
            <a:ext cx="4846320" cy="365760"/>
          </a:xfrm>
          <a:prstGeom prst="rect">
            <a:avLst/>
          </a:prstGeom>
          <a:noFill/>
          <a:ln/>
        </p:spPr>
        <p:txBody>
          <a:bodyPr wrap="square" lIns="0" tIns="0" rIns="0" bIns="0" rtlCol="0" anchor="t"/>
          <a:lstStyle/>
          <a:p>
            <a:pPr indent="0" marL="0">
              <a:buNone/>
            </a:pPr>
            <a:r>
              <a:rPr lang="en-US" sz="1700" b="1" dirty="0">
                <a:solidFill>
                  <a:schemeClr val="accent4"/>
                </a:solidFill>
                <a:latin typeface="Courier New" pitchFamily="34" charset="0"/>
                <a:ea typeface="Courier New" pitchFamily="34" charset="-122"/>
                <a:cs typeface="Courier New" pitchFamily="34" charset="-120"/>
              </a:rPr>
              <a:t>sg examples</a:t>
            </a:r>
            <a:endParaRPr lang="en-US" sz="1700" dirty="0"/>
          </a:p>
        </p:txBody>
      </p:sp>
      <p:sp>
        <p:nvSpPr>
          <p:cNvPr id="8" name="Text 6"/>
          <p:cNvSpPr txBox="1"/>
          <p:nvPr/>
        </p:nvSpPr>
        <p:spPr>
          <a:xfrm>
            <a:off x="6766560" y="2971800"/>
            <a:ext cx="4846320" cy="365760"/>
          </a:xfrm>
          <a:prstGeom prst="rect">
            <a:avLst/>
          </a:prstGeom>
          <a:noFill/>
          <a:ln/>
        </p:spPr>
        <p:txBody>
          <a:bodyPr wrap="square" lIns="0" tIns="0" rIns="0" bIns="0" rtlCol="0" anchor="t"/>
          <a:lstStyle/>
          <a:p>
            <a:pPr indent="0" marL="0">
              <a:buNone/>
            </a:pPr>
            <a:r>
              <a:rPr lang="en-US" sz="1400" dirty="0">
                <a:solidFill>
                  <a:schemeClr val="bg1"/>
                </a:solidFill>
              </a:rPr>
              <a:t>forty commands to paste and run</a:t>
            </a:r>
            <a:endParaRPr lang="en-US" sz="1400" dirty="0"/>
          </a:p>
        </p:txBody>
      </p:sp>
      <p:sp>
        <p:nvSpPr>
          <p:cNvPr id="9" name="Text 7"/>
          <p:cNvSpPr txBox="1"/>
          <p:nvPr/>
        </p:nvSpPr>
        <p:spPr>
          <a:xfrm>
            <a:off x="6766560" y="3474720"/>
            <a:ext cx="4846320" cy="365760"/>
          </a:xfrm>
          <a:prstGeom prst="rect">
            <a:avLst/>
          </a:prstGeom>
          <a:noFill/>
          <a:ln/>
        </p:spPr>
        <p:txBody>
          <a:bodyPr wrap="square" lIns="0" tIns="0" rIns="0" bIns="0" rtlCol="0" anchor="t"/>
          <a:lstStyle/>
          <a:p>
            <a:pPr indent="0" marL="0">
              <a:buNone/>
            </a:pPr>
            <a:r>
              <a:rPr lang="en-US" sz="1700" b="1" dirty="0">
                <a:solidFill>
                  <a:schemeClr val="accent4"/>
                </a:solidFill>
                <a:latin typeface="Courier New" pitchFamily="34" charset="0"/>
                <a:ea typeface="Courier New" pitchFamily="34" charset="-122"/>
                <a:cs typeface="Courier New" pitchFamily="34" charset="-120"/>
              </a:rPr>
              <a:t>docs/build/stimgen2-spec.pdf</a:t>
            </a:r>
            <a:endParaRPr lang="en-US" sz="1700" dirty="0"/>
          </a:p>
        </p:txBody>
      </p:sp>
      <p:sp>
        <p:nvSpPr>
          <p:cNvPr id="10" name="Text 8"/>
          <p:cNvSpPr txBox="1"/>
          <p:nvPr/>
        </p:nvSpPr>
        <p:spPr>
          <a:xfrm>
            <a:off x="6766560" y="3840480"/>
            <a:ext cx="4846320" cy="365760"/>
          </a:xfrm>
          <a:prstGeom prst="rect">
            <a:avLst/>
          </a:prstGeom>
          <a:noFill/>
          <a:ln/>
        </p:spPr>
        <p:txBody>
          <a:bodyPr wrap="square" lIns="0" tIns="0" rIns="0" bIns="0" rtlCol="0" anchor="t"/>
          <a:lstStyle/>
          <a:p>
            <a:pPr indent="0" marL="0">
              <a:buNone/>
            </a:pPr>
            <a:r>
              <a:rPr lang="en-US" sz="1400" dirty="0">
                <a:solidFill>
                  <a:schemeClr val="bg1"/>
                </a:solidFill>
              </a:rPr>
              <a:t>the tutorial and the full reference</a:t>
            </a:r>
            <a:endParaRPr lang="en-US" sz="1400" dirty="0"/>
          </a:p>
        </p:txBody>
      </p:sp>
      <p:sp>
        <p:nvSpPr>
          <p:cNvPr id="11" name="Text 9"/>
          <p:cNvSpPr txBox="1"/>
          <p:nvPr/>
        </p:nvSpPr>
        <p:spPr>
          <a:xfrm>
            <a:off x="6766560" y="4343400"/>
            <a:ext cx="4846320" cy="365760"/>
          </a:xfrm>
          <a:prstGeom prst="rect">
            <a:avLst/>
          </a:prstGeom>
          <a:noFill/>
          <a:ln/>
        </p:spPr>
        <p:txBody>
          <a:bodyPr wrap="square" lIns="0" tIns="0" rIns="0" bIns="0" rtlCol="0" anchor="t"/>
          <a:lstStyle/>
          <a:p>
            <a:pPr indent="0" marL="0">
              <a:buNone/>
            </a:pPr>
            <a:r>
              <a:rPr lang="en-US" sz="1700" b="1" dirty="0">
                <a:solidFill>
                  <a:schemeClr val="accent4"/>
                </a:solidFill>
                <a:latin typeface="Courier New" pitchFamily="34" charset="0"/>
                <a:ea typeface="Courier New" pitchFamily="34" charset="-122"/>
                <a:cs typeface="Courier New" pitchFamily="34" charset="-120"/>
              </a:rPr>
              <a:t>docs/build/sgb-access.pdf</a:t>
            </a:r>
            <a:endParaRPr lang="en-US" sz="1700" dirty="0"/>
          </a:p>
        </p:txBody>
      </p:sp>
      <p:sp>
        <p:nvSpPr>
          <p:cNvPr id="12" name="Text 10"/>
          <p:cNvSpPr txBox="1"/>
          <p:nvPr/>
        </p:nvSpPr>
        <p:spPr>
          <a:xfrm>
            <a:off x="6766560" y="4709160"/>
            <a:ext cx="4846320" cy="365760"/>
          </a:xfrm>
          <a:prstGeom prst="rect">
            <a:avLst/>
          </a:prstGeom>
          <a:noFill/>
          <a:ln/>
        </p:spPr>
        <p:txBody>
          <a:bodyPr wrap="square" lIns="0" tIns="0" rIns="0" bIns="0" rtlCol="0" anchor="t"/>
          <a:lstStyle/>
          <a:p>
            <a:pPr indent="0" marL="0">
              <a:buNone/>
            </a:pPr>
            <a:r>
              <a:rPr lang="en-US" sz="1400" dirty="0">
                <a:solidFill>
                  <a:schemeClr val="bg1"/>
                </a:solidFill>
              </a:rPr>
              <a:t>reading .sgb files from C, Python, Julia</a:t>
            </a:r>
            <a:endParaRPr lang="en-US" sz="1400" dirty="0"/>
          </a:p>
        </p:txBody>
      </p:sp>
      <p:sp>
        <p:nvSpPr>
          <p:cNvPr id="13" name="Text 11"/>
          <p:cNvSpPr txBox="1"/>
          <p:nvPr/>
        </p:nvSpPr>
        <p:spPr>
          <a:xfrm>
            <a:off x="640080" y="6035040"/>
            <a:ext cx="7315200" cy="365760"/>
          </a:xfrm>
          <a:prstGeom prst="rect">
            <a:avLst/>
          </a:prstGeom>
          <a:noFill/>
          <a:ln/>
        </p:spPr>
        <p:txBody>
          <a:bodyPr wrap="square" lIns="0" tIns="0" rIns="0" bIns="0" rtlCol="0" anchor="t"/>
          <a:lstStyle/>
          <a:p>
            <a:pPr indent="0" marL="0">
              <a:buNone/>
            </a:pPr>
            <a:r>
              <a:rPr lang="en-US" sz="1300" dirty="0">
                <a:solidFill>
                  <a:schemeClr val="accent6"/>
                </a:solidFill>
              </a:rPr>
              <a:t>StimGen 2 and sg · Michele Giugliano · MIT License</a:t>
            </a:r>
            <a:endParaRPr lang="en-US" sz="1300" dirty="0"/>
          </a:p>
        </p:txBody>
      </p:sp>
    </p:spTree>
  </p:cSld>
  <p:clrMapOvr>
    <a:masterClrMapping/>
  </p:clrMapOvr>
</p:sld>
</file>

<file path=ppt/theme/theme1.xml><?xml version="1.0" encoding="utf-8"?>
<a:theme xmlns:a="http://schemas.openxmlformats.org/drawingml/2006/main" name="StimGen 2">
  <a:themeElements>
    <a:clrScheme name="StimGen 2">
      <a:dk1>
        <a:srgbClr val="1B2A41"/>
      </a:dk1>
      <a:lt1>
        <a:srgbClr val="FFFFFF"/>
      </a:lt1>
      <a:dk2>
        <a:srgbClr val="0B7A75"/>
      </a:dk2>
      <a:lt2>
        <a:srgbClr val="EEF4F3"/>
      </a:lt2>
      <a:accent1>
        <a:srgbClr val="0B7A75"/>
      </a:accent1>
      <a:accent2>
        <a:srgbClr val="F26419"/>
      </a:accent2>
      <a:accent3>
        <a:srgbClr val="1B2A41"/>
      </a:accent3>
      <a:accent4>
        <a:srgbClr val="7FC8C2"/>
      </a:accent4>
      <a:accent5>
        <a:srgbClr val="F6AE2D"/>
      </a:accent5>
      <a:accent6>
        <a:srgbClr val="5C6B7A"/>
      </a:accent6>
      <a:hlink>
        <a:srgbClr val="0B7A75"/>
      </a:hlink>
      <a:folHlink>
        <a:srgbClr val="5C6B7A"/>
      </a:folHlink>
    </a:clrScheme>
    <a:fontScheme name="StimGen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Stimuli as text: a beginner's guide to StimGen 2</dc:title>
  <dc:subject>Tutorial on generating electrophysiology stimuli with sg</dc:subject>
  <dc:creator>Michele Giugliano</dc:creator>
  <cp:lastModifiedBy>Michele Giugliano</cp:lastModifiedBy>
  <cp:revision>1</cp:revision>
  <dcterms:created xsi:type="dcterms:W3CDTF">2026-10-04T13:17:04Z</dcterms:created>
  <dcterms:modified xsi:type="dcterms:W3CDTF">2026-10-04T13:17:04Z</dcterms:modified>
</cp:coreProperties>
</file>